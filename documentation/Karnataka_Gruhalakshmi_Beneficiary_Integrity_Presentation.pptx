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SULT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0A2A"/>
          </a:solidFill>
          <a:ln w="12700">
            <a:solidFill>
              <a:srgbClr val="0B0A2A">
                <a:alpha val="0"/>
              </a:srgbClr>
            </a:solidFill>
            <a:prstDash val="solid"/>
          </a:ln>
        </p:spPr>
      </p:sp>
      <p:sp>
        <p:nvSpPr>
          <p:cNvPr id="3" name="Text 1"/>
          <p:cNvSpPr/>
          <p:nvPr/>
        </p:nvSpPr>
        <p:spPr>
          <a:xfrm>
            <a:off x="411480" y="6473952"/>
            <a:ext cx="6400800" cy="182880"/>
          </a:xfrm>
          <a:prstGeom prst="rect">
            <a:avLst/>
          </a:prstGeom>
          <a:noFill/>
          <a:ln/>
        </p:spPr>
        <p:txBody>
          <a:bodyPr wrap="square" rtlCol="0" anchor="ctr"/>
          <a:lstStyle/>
          <a:p>
            <a:pPr indent="0" marL="0">
              <a:buNone/>
            </a:pPr>
            <a:r>
              <a:rPr lang="en-US" sz="680" dirty="0">
                <a:solidFill>
                  <a:srgbClr val="667085"/>
                </a:solidFill>
              </a:rPr>
              <a:t>Karnataka Gruhalakshmi Beneficiary Integrity &amp; Life-Proof Platform</a:t>
            </a:r>
            <a:endParaRPr lang="en-US" sz="680" dirty="0"/>
          </a:p>
        </p:txBody>
      </p:sp>
      <p:sp>
        <p:nvSpPr>
          <p:cNvPr id="4" name="Text 2"/>
          <p:cNvSpPr/>
          <p:nvPr/>
        </p:nvSpPr>
        <p:spPr>
          <a:xfrm>
            <a:off x="10378440" y="6473952"/>
            <a:ext cx="1325880" cy="182880"/>
          </a:xfrm>
          <a:prstGeom prst="rect">
            <a:avLst/>
          </a:prstGeom>
          <a:noFill/>
          <a:ln/>
        </p:spPr>
        <p:txBody>
          <a:bodyPr wrap="square" rtlCol="0" anchor="ctr"/>
          <a:lstStyle/>
          <a:p>
            <a:pPr algn="r" indent="0" marL="0">
              <a:buNone/>
            </a:pPr>
            <a:r>
              <a:rPr lang="en-US" sz="680" dirty="0">
                <a:solidFill>
                  <a:srgbClr val="667085"/>
                </a:solidFill>
              </a:rPr>
              <a:t>Draft | June 2026</a:t>
            </a:r>
            <a:endParaRPr lang="en-US" sz="68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Text 1"/>
          <p:cNvSpPr/>
          <p:nvPr/>
        </p:nvSpPr>
        <p:spPr>
          <a:xfrm>
            <a:off x="594360" y="1051560"/>
            <a:ext cx="7772400" cy="457200"/>
          </a:xfrm>
          <a:prstGeom prst="rect">
            <a:avLst/>
          </a:prstGeom>
          <a:noFill/>
          <a:ln/>
        </p:spPr>
        <p:txBody>
          <a:bodyPr wrap="square" lIns="0" tIns="0" rIns="0" bIns="0" rtlCol="0" anchor="ctr"/>
          <a:lstStyle/>
          <a:p>
            <a:pPr indent="0" marL="0">
              <a:buNone/>
            </a:pPr>
            <a:r>
              <a:rPr lang="en-US" sz="1800" b="1" dirty="0">
                <a:solidFill>
                  <a:srgbClr val="155EEF"/>
                </a:solidFill>
              </a:rPr>
              <a:t>Karnataka Gruhalakshmi Scheme</a:t>
            </a:r>
            <a:endParaRPr lang="en-US" sz="1800" dirty="0"/>
          </a:p>
        </p:txBody>
      </p:sp>
      <p:sp>
        <p:nvSpPr>
          <p:cNvPr id="4" name="Text 2"/>
          <p:cNvSpPr/>
          <p:nvPr/>
        </p:nvSpPr>
        <p:spPr>
          <a:xfrm>
            <a:off x="594360" y="1572768"/>
            <a:ext cx="7818120" cy="786384"/>
          </a:xfrm>
          <a:prstGeom prst="rect">
            <a:avLst/>
          </a:prstGeom>
          <a:noFill/>
          <a:ln/>
        </p:spPr>
        <p:txBody>
          <a:bodyPr wrap="square" lIns="0" tIns="0" rIns="0" bIns="0" rtlCol="0" anchor="ctr">
            <a:normAutofit/>
          </a:bodyPr>
          <a:lstStyle/>
          <a:p>
            <a:pPr indent="0" marL="0">
              <a:buNone/>
            </a:pPr>
            <a:r>
              <a:rPr lang="en-US" sz="3400" b="1" dirty="0">
                <a:solidFill>
                  <a:srgbClr val="0B0A2A"/>
                </a:solidFill>
              </a:rPr>
              <a:t>Beneficiary Integrity &amp; Life-Proof Platform</a:t>
            </a:r>
            <a:endParaRPr lang="en-US" sz="3400" dirty="0"/>
          </a:p>
        </p:txBody>
      </p:sp>
      <p:sp>
        <p:nvSpPr>
          <p:cNvPr id="5" name="Text 3"/>
          <p:cNvSpPr/>
          <p:nvPr/>
        </p:nvSpPr>
        <p:spPr>
          <a:xfrm>
            <a:off x="621792" y="2514600"/>
            <a:ext cx="7498080" cy="411480"/>
          </a:xfrm>
          <a:prstGeom prst="rect">
            <a:avLst/>
          </a:prstGeom>
          <a:noFill/>
          <a:ln/>
        </p:spPr>
        <p:txBody>
          <a:bodyPr wrap="square" lIns="0" tIns="0" rIns="0" bIns="0" rtlCol="0" anchor="ctr"/>
          <a:lstStyle/>
          <a:p>
            <a:pPr indent="0" marL="0">
              <a:buNone/>
            </a:pPr>
            <a:r>
              <a:rPr lang="en-US" sz="1200" dirty="0">
                <a:solidFill>
                  <a:srgbClr val="667085"/>
                </a:solidFill>
              </a:rPr>
              <a:t>Detailed project report presentation | Household de-duplication | Configurable retention | Periodic life-proof | DBT continuity controls</a:t>
            </a:r>
            <a:endParaRPr lang="en-US" sz="1200" dirty="0"/>
          </a:p>
        </p:txBody>
      </p:sp>
      <p:sp>
        <p:nvSpPr>
          <p:cNvPr id="6" name="Shape 4"/>
          <p:cNvSpPr/>
          <p:nvPr/>
        </p:nvSpPr>
        <p:spPr>
          <a:xfrm>
            <a:off x="9464040" y="502920"/>
            <a:ext cx="2331720" cy="2606040"/>
          </a:xfrm>
          <a:prstGeom prst="arc">
            <a:avLst/>
          </a:prstGeom>
          <a:noFill/>
          <a:ln w="139700">
            <a:solidFill>
              <a:srgbClr val="F5B301">
                <a:alpha val="90000"/>
              </a:srgbClr>
            </a:solidFill>
            <a:prstDash val="solid"/>
          </a:ln>
        </p:spPr>
      </p:sp>
      <p:sp>
        <p:nvSpPr>
          <p:cNvPr id="7" name="Shape 5"/>
          <p:cNvSpPr/>
          <p:nvPr/>
        </p:nvSpPr>
        <p:spPr>
          <a:xfrm>
            <a:off x="9802368" y="960120"/>
            <a:ext cx="1719072" cy="1920240"/>
          </a:xfrm>
          <a:prstGeom prst="arc">
            <a:avLst/>
          </a:prstGeom>
          <a:noFill/>
          <a:ln w="114300">
            <a:solidFill>
              <a:srgbClr val="155EEF">
                <a:alpha val="80000"/>
              </a:srgbClr>
            </a:solidFill>
            <a:prstDash val="solid"/>
          </a:ln>
        </p:spPr>
      </p:sp>
      <p:sp>
        <p:nvSpPr>
          <p:cNvPr id="8" name="Shape 6"/>
          <p:cNvSpPr/>
          <p:nvPr/>
        </p:nvSpPr>
        <p:spPr>
          <a:xfrm>
            <a:off x="10104120" y="1298448"/>
            <a:ext cx="1097280" cy="1261872"/>
          </a:xfrm>
          <a:prstGeom prst="arc">
            <a:avLst/>
          </a:prstGeom>
          <a:noFill/>
          <a:ln w="88900">
            <a:solidFill>
              <a:srgbClr val="0E7C55">
                <a:alpha val="85000"/>
              </a:srgbClr>
            </a:solidFill>
            <a:prstDash val="solid"/>
          </a:ln>
        </p:spPr>
      </p:sp>
      <p:sp>
        <p:nvSpPr>
          <p:cNvPr id="9" name="Shape 7"/>
          <p:cNvSpPr/>
          <p:nvPr/>
        </p:nvSpPr>
        <p:spPr>
          <a:xfrm>
            <a:off x="640080" y="3886200"/>
            <a:ext cx="2468880" cy="914400"/>
          </a:xfrm>
          <a:prstGeom prst="roundRect">
            <a:avLst>
              <a:gd name="adj" fmla="val 4000"/>
            </a:avLst>
          </a:prstGeom>
          <a:solidFill>
            <a:srgbClr val="FFFFFF"/>
          </a:solidFill>
          <a:ln w="12700">
            <a:solidFill>
              <a:srgbClr val="D0D5DD"/>
            </a:solidFill>
            <a:prstDash val="solid"/>
          </a:ln>
          <a:effectLst>
            <a:outerShdw sx="100000" sy="100000" kx="0" ky="0" algn="bl" rotWithShape="0" blurRad="25400" dist="12700" dir="2700000">
              <a:srgbClr val="000000">
                <a:alpha val="12000"/>
              </a:srgbClr>
            </a:outerShdw>
          </a:effectLst>
        </p:spPr>
      </p:sp>
      <p:sp>
        <p:nvSpPr>
          <p:cNvPr id="10" name="Text 8"/>
          <p:cNvSpPr/>
          <p:nvPr/>
        </p:nvSpPr>
        <p:spPr>
          <a:xfrm>
            <a:off x="713232" y="3959352"/>
            <a:ext cx="2322576" cy="768096"/>
          </a:xfrm>
          <a:prstGeom prst="rect">
            <a:avLst/>
          </a:prstGeom>
          <a:noFill/>
          <a:ln/>
        </p:spPr>
        <p:txBody>
          <a:bodyPr wrap="square" lIns="254" tIns="254" rIns="254" bIns="254" rtlCol="0" anchor="ctr">
            <a:normAutofit/>
          </a:bodyPr>
          <a:lstStyle/>
          <a:p>
            <a:pPr algn="ctr" indent="0" marL="0">
              <a:buNone/>
            </a:pPr>
            <a:r>
              <a:rPr lang="en-US" sz="1000" b="1" dirty="0">
                <a:solidFill>
                  <a:srgbClr val="101828"/>
                </a:solidFill>
              </a:rPr>
              <a:t>For review and scope validation</a:t>
            </a:r>
            <a:endParaRPr lang="en-US" sz="1000" dirty="0"/>
          </a:p>
          <a:p>
            <a:pPr algn="ctr" indent="0" marL="0">
              <a:buNone/>
            </a:pPr>
            <a:r>
              <a:rPr lang="en-US" sz="1000" b="1" dirty="0">
                <a:solidFill>
                  <a:srgbClr val="101828"/>
                </a:solidFill>
              </a:rPr>
              <a:t>Commercials excluded</a:t>
            </a:r>
            <a:endParaRPr lang="en-US" sz="1000" dirty="0"/>
          </a:p>
        </p:txBody>
      </p:sp>
      <p:sp>
        <p:nvSpPr>
          <p:cNvPr id="11" name="Shape 9"/>
          <p:cNvSpPr/>
          <p:nvPr/>
        </p:nvSpPr>
        <p:spPr>
          <a:xfrm>
            <a:off x="3429000" y="3886200"/>
            <a:ext cx="2468880" cy="914400"/>
          </a:xfrm>
          <a:prstGeom prst="roundRect">
            <a:avLst>
              <a:gd name="adj" fmla="val 4000"/>
            </a:avLst>
          </a:prstGeom>
          <a:solidFill>
            <a:srgbClr val="FFFFFF"/>
          </a:solidFill>
          <a:ln w="12700">
            <a:solidFill>
              <a:srgbClr val="D0D5DD"/>
            </a:solidFill>
            <a:prstDash val="solid"/>
          </a:ln>
          <a:effectLst>
            <a:outerShdw sx="100000" sy="100000" kx="0" ky="0" algn="bl" rotWithShape="0" blurRad="25400" dist="12700" dir="2700000">
              <a:srgbClr val="000000">
                <a:alpha val="12000"/>
              </a:srgbClr>
            </a:outerShdw>
          </a:effectLst>
        </p:spPr>
      </p:sp>
      <p:sp>
        <p:nvSpPr>
          <p:cNvPr id="12" name="Text 10"/>
          <p:cNvSpPr/>
          <p:nvPr/>
        </p:nvSpPr>
        <p:spPr>
          <a:xfrm>
            <a:off x="3502152" y="3959352"/>
            <a:ext cx="2322576" cy="768096"/>
          </a:xfrm>
          <a:prstGeom prst="rect">
            <a:avLst/>
          </a:prstGeom>
          <a:noFill/>
          <a:ln/>
        </p:spPr>
        <p:txBody>
          <a:bodyPr wrap="square" lIns="254" tIns="254" rIns="254" bIns="254" rtlCol="0" anchor="ctr">
            <a:normAutofit/>
          </a:bodyPr>
          <a:lstStyle/>
          <a:p>
            <a:pPr algn="ctr" indent="0" marL="0">
              <a:buNone/>
            </a:pPr>
            <a:r>
              <a:rPr lang="en-US" sz="1000" b="1" dirty="0">
                <a:solidFill>
                  <a:srgbClr val="101828"/>
                </a:solidFill>
              </a:rPr>
              <a:t>Service-centre + mobile/web</a:t>
            </a:r>
            <a:endParaRPr lang="en-US" sz="1000" dirty="0"/>
          </a:p>
          <a:p>
            <a:pPr algn="ctr" indent="0" marL="0">
              <a:buNone/>
            </a:pPr>
            <a:r>
              <a:rPr lang="en-US" sz="1000" b="1" dirty="0">
                <a:solidFill>
                  <a:srgbClr val="101828"/>
                </a:solidFill>
              </a:rPr>
              <a:t>registration model</a:t>
            </a:r>
            <a:endParaRPr lang="en-US" sz="1000" dirty="0"/>
          </a:p>
        </p:txBody>
      </p:sp>
      <p:sp>
        <p:nvSpPr>
          <p:cNvPr id="13" name="Shape 11"/>
          <p:cNvSpPr/>
          <p:nvPr/>
        </p:nvSpPr>
        <p:spPr>
          <a:xfrm>
            <a:off x="6217920" y="3886200"/>
            <a:ext cx="2468880" cy="914400"/>
          </a:xfrm>
          <a:prstGeom prst="roundRect">
            <a:avLst>
              <a:gd name="adj" fmla="val 4000"/>
            </a:avLst>
          </a:prstGeom>
          <a:solidFill>
            <a:srgbClr val="FFFFFF"/>
          </a:solidFill>
          <a:ln w="12700">
            <a:solidFill>
              <a:srgbClr val="D0D5DD"/>
            </a:solidFill>
            <a:prstDash val="solid"/>
          </a:ln>
          <a:effectLst>
            <a:outerShdw sx="100000" sy="100000" kx="0" ky="0" algn="bl" rotWithShape="0" blurRad="25400" dist="12700" dir="2700000">
              <a:srgbClr val="000000">
                <a:alpha val="12000"/>
              </a:srgbClr>
            </a:outerShdw>
          </a:effectLst>
        </p:spPr>
      </p:sp>
      <p:sp>
        <p:nvSpPr>
          <p:cNvPr id="14" name="Text 12"/>
          <p:cNvSpPr/>
          <p:nvPr/>
        </p:nvSpPr>
        <p:spPr>
          <a:xfrm>
            <a:off x="6291072" y="3959352"/>
            <a:ext cx="2322576" cy="768096"/>
          </a:xfrm>
          <a:prstGeom prst="rect">
            <a:avLst/>
          </a:prstGeom>
          <a:noFill/>
          <a:ln/>
        </p:spPr>
        <p:txBody>
          <a:bodyPr wrap="square" lIns="254" tIns="254" rIns="254" bIns="254" rtlCol="0" anchor="ctr">
            <a:normAutofit/>
          </a:bodyPr>
          <a:lstStyle/>
          <a:p>
            <a:pPr algn="ctr" indent="0" marL="0">
              <a:buNone/>
            </a:pPr>
            <a:r>
              <a:rPr lang="en-US" sz="1000" b="1" dirty="0">
                <a:solidFill>
                  <a:srgbClr val="101828"/>
                </a:solidFill>
              </a:rPr>
              <a:t>Audit-ready decisioning</a:t>
            </a:r>
            <a:endParaRPr lang="en-US" sz="1000" dirty="0"/>
          </a:p>
          <a:p>
            <a:pPr algn="ctr" indent="0" marL="0">
              <a:buNone/>
            </a:pPr>
            <a:r>
              <a:rPr lang="en-US" sz="1000" b="1" dirty="0">
                <a:solidFill>
                  <a:srgbClr val="101828"/>
                </a:solidFill>
              </a:rPr>
              <a:t>and grievance path</a:t>
            </a:r>
            <a:endParaRPr lang="en-US" sz="1000" dirty="0"/>
          </a:p>
        </p:txBody>
      </p:sp>
      <p:sp>
        <p:nvSpPr>
          <p:cNvPr id="15" name="Text 13"/>
          <p:cNvSpPr/>
          <p:nvPr/>
        </p:nvSpPr>
        <p:spPr>
          <a:xfrm>
            <a:off x="621792" y="5715000"/>
            <a:ext cx="2286000" cy="228600"/>
          </a:xfrm>
          <a:prstGeom prst="rect">
            <a:avLst/>
          </a:prstGeom>
          <a:noFill/>
          <a:ln/>
        </p:spPr>
        <p:txBody>
          <a:bodyPr wrap="square" lIns="0" tIns="0" rIns="0" bIns="0" rtlCol="0" anchor="ctr"/>
          <a:lstStyle/>
          <a:p>
            <a:pPr indent="0" marL="0">
              <a:buNone/>
            </a:pPr>
            <a:r>
              <a:rPr lang="en-US" sz="1000" dirty="0">
                <a:solidFill>
                  <a:srgbClr val="667085"/>
                </a:solidFill>
              </a:rPr>
              <a:t>15 June 2026</a:t>
            </a:r>
            <a:endParaRPr lang="en-US" sz="10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Why the renewal platform is needed</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The scheme is large enough that small data-quality gaps create material fiscal and trust risk.</a:t>
            </a:r>
            <a:endParaRPr lang="en-US" sz="950" dirty="0"/>
          </a:p>
        </p:txBody>
      </p:sp>
      <p:sp>
        <p:nvSpPr>
          <p:cNvPr id="4" name="Shape 2"/>
          <p:cNvSpPr/>
          <p:nvPr/>
        </p:nvSpPr>
        <p:spPr>
          <a:xfrm>
            <a:off x="548640" y="1325880"/>
            <a:ext cx="2331720" cy="1325880"/>
          </a:xfrm>
          <a:prstGeom prst="roundRect">
            <a:avLst>
              <a:gd name="adj" fmla="val 4138"/>
            </a:avLst>
          </a:prstGeom>
          <a:solidFill>
            <a:srgbClr val="FFFFFF"/>
          </a:solidFill>
          <a:ln w="12700">
            <a:solidFill>
              <a:srgbClr val="E4E7EC"/>
            </a:solidFill>
            <a:prstDash val="solid"/>
          </a:ln>
          <a:effectLst>
            <a:outerShdw sx="100000" sy="100000" kx="0" ky="0" algn="bl" rotWithShape="0" blurRad="12700" dist="12700" dir="2700000">
              <a:srgbClr val="000000">
                <a:alpha val="10000"/>
              </a:srgbClr>
            </a:outerShdw>
          </a:effectLst>
        </p:spPr>
      </p:sp>
      <p:sp>
        <p:nvSpPr>
          <p:cNvPr id="5" name="Text 3"/>
          <p:cNvSpPr/>
          <p:nvPr/>
        </p:nvSpPr>
        <p:spPr>
          <a:xfrm>
            <a:off x="685800" y="1463040"/>
            <a:ext cx="2057400" cy="384048"/>
          </a:xfrm>
          <a:prstGeom prst="rect">
            <a:avLst/>
          </a:prstGeom>
          <a:noFill/>
          <a:ln/>
        </p:spPr>
        <p:txBody>
          <a:bodyPr wrap="square" lIns="0" tIns="0" rIns="0" bIns="0" rtlCol="0" anchor="ctr"/>
          <a:lstStyle/>
          <a:p>
            <a:pPr algn="ctr" indent="0" marL="0">
              <a:buNone/>
            </a:pPr>
            <a:r>
              <a:rPr lang="en-US" sz="2100" b="1" dirty="0">
                <a:solidFill>
                  <a:srgbClr val="155EEF"/>
                </a:solidFill>
              </a:rPr>
              <a:t>₹2,000</a:t>
            </a:r>
            <a:endParaRPr lang="en-US" sz="2100" dirty="0"/>
          </a:p>
        </p:txBody>
      </p:sp>
      <p:sp>
        <p:nvSpPr>
          <p:cNvPr id="6" name="Text 4"/>
          <p:cNvSpPr/>
          <p:nvPr/>
        </p:nvSpPr>
        <p:spPr>
          <a:xfrm>
            <a:off x="685800" y="1892808"/>
            <a:ext cx="2057400" cy="274320"/>
          </a:xfrm>
          <a:prstGeom prst="rect">
            <a:avLst/>
          </a:prstGeom>
          <a:noFill/>
          <a:ln/>
        </p:spPr>
        <p:txBody>
          <a:bodyPr wrap="square" lIns="0" tIns="0" rIns="0" bIns="0" rtlCol="0" anchor="ctr">
            <a:normAutofit/>
          </a:bodyPr>
          <a:lstStyle/>
          <a:p>
            <a:pPr algn="ctr" indent="0" marL="0">
              <a:buNone/>
            </a:pPr>
            <a:r>
              <a:rPr lang="en-US" sz="840" b="1" dirty="0">
                <a:solidFill>
                  <a:srgbClr val="101828"/>
                </a:solidFill>
              </a:rPr>
              <a:t>Monthly assistance</a:t>
            </a:r>
            <a:endParaRPr lang="en-US" sz="840" dirty="0"/>
          </a:p>
        </p:txBody>
      </p:sp>
      <p:sp>
        <p:nvSpPr>
          <p:cNvPr id="7" name="Text 5"/>
          <p:cNvSpPr/>
          <p:nvPr/>
        </p:nvSpPr>
        <p:spPr>
          <a:xfrm>
            <a:off x="685800" y="2203704"/>
            <a:ext cx="2057400" cy="347472"/>
          </a:xfrm>
          <a:prstGeom prst="rect">
            <a:avLst/>
          </a:prstGeom>
          <a:noFill/>
          <a:ln/>
        </p:spPr>
        <p:txBody>
          <a:bodyPr wrap="square" lIns="0" tIns="0" rIns="0" bIns="0" rtlCol="0" anchor="ctr">
            <a:normAutofit/>
          </a:bodyPr>
          <a:lstStyle/>
          <a:p>
            <a:pPr algn="ctr" indent="0" marL="0">
              <a:buNone/>
            </a:pPr>
            <a:r>
              <a:rPr lang="en-US" sz="660" dirty="0">
                <a:solidFill>
                  <a:srgbClr val="667085"/>
                </a:solidFill>
              </a:rPr>
              <a:t>DBT to registered eligible beneficiary</a:t>
            </a:r>
            <a:endParaRPr lang="en-US" sz="660" dirty="0"/>
          </a:p>
        </p:txBody>
      </p:sp>
      <p:sp>
        <p:nvSpPr>
          <p:cNvPr id="8" name="Shape 6"/>
          <p:cNvSpPr/>
          <p:nvPr/>
        </p:nvSpPr>
        <p:spPr>
          <a:xfrm>
            <a:off x="3127248" y="1325880"/>
            <a:ext cx="2331720" cy="1325880"/>
          </a:xfrm>
          <a:prstGeom prst="roundRect">
            <a:avLst>
              <a:gd name="adj" fmla="val 4138"/>
            </a:avLst>
          </a:prstGeom>
          <a:solidFill>
            <a:srgbClr val="FFFFFF"/>
          </a:solidFill>
          <a:ln w="12700">
            <a:solidFill>
              <a:srgbClr val="E4E7EC"/>
            </a:solidFill>
            <a:prstDash val="solid"/>
          </a:ln>
          <a:effectLst>
            <a:outerShdw sx="100000" sy="100000" kx="0" ky="0" algn="bl" rotWithShape="0" blurRad="12700" dist="12700" dir="2700000">
              <a:srgbClr val="000000">
                <a:alpha val="10000"/>
              </a:srgbClr>
            </a:outerShdw>
          </a:effectLst>
        </p:spPr>
      </p:sp>
      <p:sp>
        <p:nvSpPr>
          <p:cNvPr id="9" name="Text 7"/>
          <p:cNvSpPr/>
          <p:nvPr/>
        </p:nvSpPr>
        <p:spPr>
          <a:xfrm>
            <a:off x="3264408" y="1463040"/>
            <a:ext cx="2057400" cy="384048"/>
          </a:xfrm>
          <a:prstGeom prst="rect">
            <a:avLst/>
          </a:prstGeom>
          <a:noFill/>
          <a:ln/>
        </p:spPr>
        <p:txBody>
          <a:bodyPr wrap="square" lIns="0" tIns="0" rIns="0" bIns="0" rtlCol="0" anchor="ctr"/>
          <a:lstStyle/>
          <a:p>
            <a:pPr algn="ctr" indent="0" marL="0">
              <a:buNone/>
            </a:pPr>
            <a:r>
              <a:rPr lang="en-US" sz="2100" b="1" dirty="0">
                <a:solidFill>
                  <a:srgbClr val="0B0A2A"/>
                </a:solidFill>
              </a:rPr>
              <a:t>₹28,608 cr</a:t>
            </a:r>
            <a:endParaRPr lang="en-US" sz="2100" dirty="0"/>
          </a:p>
        </p:txBody>
      </p:sp>
      <p:sp>
        <p:nvSpPr>
          <p:cNvPr id="10" name="Text 8"/>
          <p:cNvSpPr/>
          <p:nvPr/>
        </p:nvSpPr>
        <p:spPr>
          <a:xfrm>
            <a:off x="3264408" y="1892808"/>
            <a:ext cx="2057400" cy="274320"/>
          </a:xfrm>
          <a:prstGeom prst="rect">
            <a:avLst/>
          </a:prstGeom>
          <a:noFill/>
          <a:ln/>
        </p:spPr>
        <p:txBody>
          <a:bodyPr wrap="square" lIns="0" tIns="0" rIns="0" bIns="0" rtlCol="0" anchor="ctr">
            <a:normAutofit/>
          </a:bodyPr>
          <a:lstStyle/>
          <a:p>
            <a:pPr algn="ctr" indent="0" marL="0">
              <a:buNone/>
            </a:pPr>
            <a:r>
              <a:rPr lang="en-US" sz="840" b="1" dirty="0">
                <a:solidFill>
                  <a:srgbClr val="101828"/>
                </a:solidFill>
              </a:rPr>
              <a:t>2026-27 budget</a:t>
            </a:r>
            <a:endParaRPr lang="en-US" sz="840" dirty="0"/>
          </a:p>
        </p:txBody>
      </p:sp>
      <p:sp>
        <p:nvSpPr>
          <p:cNvPr id="11" name="Text 9"/>
          <p:cNvSpPr/>
          <p:nvPr/>
        </p:nvSpPr>
        <p:spPr>
          <a:xfrm>
            <a:off x="3264408" y="2203704"/>
            <a:ext cx="2057400" cy="347472"/>
          </a:xfrm>
          <a:prstGeom prst="rect">
            <a:avLst/>
          </a:prstGeom>
          <a:noFill/>
          <a:ln/>
        </p:spPr>
        <p:txBody>
          <a:bodyPr wrap="square" lIns="0" tIns="0" rIns="0" bIns="0" rtlCol="0" anchor="ctr">
            <a:normAutofit/>
          </a:bodyPr>
          <a:lstStyle/>
          <a:p>
            <a:pPr algn="ctr" indent="0" marL="0">
              <a:buNone/>
            </a:pPr>
            <a:r>
              <a:rPr lang="en-US" sz="660" dirty="0">
                <a:solidFill>
                  <a:srgbClr val="667085"/>
                </a:solidFill>
              </a:rPr>
              <a:t>Allocated towards Gruha Lakshmi</a:t>
            </a:r>
            <a:endParaRPr lang="en-US" sz="660" dirty="0"/>
          </a:p>
        </p:txBody>
      </p:sp>
      <p:sp>
        <p:nvSpPr>
          <p:cNvPr id="12" name="Shape 10"/>
          <p:cNvSpPr/>
          <p:nvPr/>
        </p:nvSpPr>
        <p:spPr>
          <a:xfrm>
            <a:off x="5705856" y="1325880"/>
            <a:ext cx="2331720" cy="1325880"/>
          </a:xfrm>
          <a:prstGeom prst="roundRect">
            <a:avLst>
              <a:gd name="adj" fmla="val 4138"/>
            </a:avLst>
          </a:prstGeom>
          <a:solidFill>
            <a:srgbClr val="FFFFFF"/>
          </a:solidFill>
          <a:ln w="12700">
            <a:solidFill>
              <a:srgbClr val="E4E7EC"/>
            </a:solidFill>
            <a:prstDash val="solid"/>
          </a:ln>
          <a:effectLst>
            <a:outerShdw sx="100000" sy="100000" kx="0" ky="0" algn="bl" rotWithShape="0" blurRad="12700" dist="12700" dir="2700000">
              <a:srgbClr val="000000">
                <a:alpha val="10000"/>
              </a:srgbClr>
            </a:outerShdw>
          </a:effectLst>
        </p:spPr>
      </p:sp>
      <p:sp>
        <p:nvSpPr>
          <p:cNvPr id="13" name="Text 11"/>
          <p:cNvSpPr/>
          <p:nvPr/>
        </p:nvSpPr>
        <p:spPr>
          <a:xfrm>
            <a:off x="5843016" y="1463040"/>
            <a:ext cx="2057400" cy="384048"/>
          </a:xfrm>
          <a:prstGeom prst="rect">
            <a:avLst/>
          </a:prstGeom>
          <a:noFill/>
          <a:ln/>
        </p:spPr>
        <p:txBody>
          <a:bodyPr wrap="square" lIns="0" tIns="0" rIns="0" bIns="0" rtlCol="0" anchor="ctr"/>
          <a:lstStyle/>
          <a:p>
            <a:pPr algn="ctr" indent="0" marL="0">
              <a:buNone/>
            </a:pPr>
            <a:r>
              <a:rPr lang="en-US" sz="2100" b="1" dirty="0">
                <a:solidFill>
                  <a:srgbClr val="0E7C55"/>
                </a:solidFill>
              </a:rPr>
              <a:t>~1.2 cr</a:t>
            </a:r>
            <a:endParaRPr lang="en-US" sz="2100" dirty="0"/>
          </a:p>
        </p:txBody>
      </p:sp>
      <p:sp>
        <p:nvSpPr>
          <p:cNvPr id="14" name="Text 12"/>
          <p:cNvSpPr/>
          <p:nvPr/>
        </p:nvSpPr>
        <p:spPr>
          <a:xfrm>
            <a:off x="5843016" y="1892808"/>
            <a:ext cx="2057400" cy="274320"/>
          </a:xfrm>
          <a:prstGeom prst="rect">
            <a:avLst/>
          </a:prstGeom>
          <a:noFill/>
          <a:ln/>
        </p:spPr>
        <p:txBody>
          <a:bodyPr wrap="square" lIns="0" tIns="0" rIns="0" bIns="0" rtlCol="0" anchor="ctr">
            <a:normAutofit/>
          </a:bodyPr>
          <a:lstStyle/>
          <a:p>
            <a:pPr algn="ctr" indent="0" marL="0">
              <a:buNone/>
            </a:pPr>
            <a:r>
              <a:rPr lang="en-US" sz="840" b="1" dirty="0">
                <a:solidFill>
                  <a:srgbClr val="101828"/>
                </a:solidFill>
              </a:rPr>
              <a:t>Current scale</a:t>
            </a:r>
            <a:endParaRPr lang="en-US" sz="840" dirty="0"/>
          </a:p>
        </p:txBody>
      </p:sp>
      <p:sp>
        <p:nvSpPr>
          <p:cNvPr id="15" name="Text 13"/>
          <p:cNvSpPr/>
          <p:nvPr/>
        </p:nvSpPr>
        <p:spPr>
          <a:xfrm>
            <a:off x="5843016" y="2203704"/>
            <a:ext cx="2057400" cy="347472"/>
          </a:xfrm>
          <a:prstGeom prst="rect">
            <a:avLst/>
          </a:prstGeom>
          <a:noFill/>
          <a:ln/>
        </p:spPr>
        <p:txBody>
          <a:bodyPr wrap="square" lIns="0" tIns="0" rIns="0" bIns="0" rtlCol="0" anchor="ctr">
            <a:normAutofit/>
          </a:bodyPr>
          <a:lstStyle/>
          <a:p>
            <a:pPr algn="ctr" indent="0" marL="0">
              <a:buNone/>
            </a:pPr>
            <a:r>
              <a:rPr lang="en-US" sz="660" dirty="0">
                <a:solidFill>
                  <a:srgbClr val="667085"/>
                </a:solidFill>
              </a:rPr>
              <a:t>Registered beneficiaries reported</a:t>
            </a:r>
            <a:endParaRPr lang="en-US" sz="660" dirty="0"/>
          </a:p>
        </p:txBody>
      </p:sp>
      <p:sp>
        <p:nvSpPr>
          <p:cNvPr id="16" name="Shape 14"/>
          <p:cNvSpPr/>
          <p:nvPr/>
        </p:nvSpPr>
        <p:spPr>
          <a:xfrm>
            <a:off x="8284464" y="1325880"/>
            <a:ext cx="2331720" cy="1325880"/>
          </a:xfrm>
          <a:prstGeom prst="roundRect">
            <a:avLst>
              <a:gd name="adj" fmla="val 4138"/>
            </a:avLst>
          </a:prstGeom>
          <a:solidFill>
            <a:srgbClr val="FFFFFF"/>
          </a:solidFill>
          <a:ln w="12700">
            <a:solidFill>
              <a:srgbClr val="E4E7EC"/>
            </a:solidFill>
            <a:prstDash val="solid"/>
          </a:ln>
          <a:effectLst>
            <a:outerShdw sx="100000" sy="100000" kx="0" ky="0" algn="bl" rotWithShape="0" blurRad="12700" dist="12700" dir="2700000">
              <a:srgbClr val="000000">
                <a:alpha val="10000"/>
              </a:srgbClr>
            </a:outerShdw>
          </a:effectLst>
        </p:spPr>
      </p:sp>
      <p:sp>
        <p:nvSpPr>
          <p:cNvPr id="17" name="Text 15"/>
          <p:cNvSpPr/>
          <p:nvPr/>
        </p:nvSpPr>
        <p:spPr>
          <a:xfrm>
            <a:off x="8421624" y="1463040"/>
            <a:ext cx="2057400" cy="384048"/>
          </a:xfrm>
          <a:prstGeom prst="rect">
            <a:avLst/>
          </a:prstGeom>
          <a:noFill/>
          <a:ln/>
        </p:spPr>
        <p:txBody>
          <a:bodyPr wrap="square" lIns="0" tIns="0" rIns="0" bIns="0" rtlCol="0" anchor="ctr"/>
          <a:lstStyle/>
          <a:p>
            <a:pPr algn="ctr" indent="0" marL="0">
              <a:buNone/>
            </a:pPr>
            <a:r>
              <a:rPr lang="en-US" sz="2100" b="1" dirty="0">
                <a:solidFill>
                  <a:srgbClr val="B42318"/>
                </a:solidFill>
              </a:rPr>
              <a:t>₹6.5 cr</a:t>
            </a:r>
            <a:endParaRPr lang="en-US" sz="2100" dirty="0"/>
          </a:p>
        </p:txBody>
      </p:sp>
      <p:sp>
        <p:nvSpPr>
          <p:cNvPr id="18" name="Text 16"/>
          <p:cNvSpPr/>
          <p:nvPr/>
        </p:nvSpPr>
        <p:spPr>
          <a:xfrm>
            <a:off x="8421624" y="1892808"/>
            <a:ext cx="2057400" cy="274320"/>
          </a:xfrm>
          <a:prstGeom prst="rect">
            <a:avLst/>
          </a:prstGeom>
          <a:noFill/>
          <a:ln/>
        </p:spPr>
        <p:txBody>
          <a:bodyPr wrap="square" lIns="0" tIns="0" rIns="0" bIns="0" rtlCol="0" anchor="ctr">
            <a:normAutofit/>
          </a:bodyPr>
          <a:lstStyle/>
          <a:p>
            <a:pPr algn="ctr" indent="0" marL="0">
              <a:buNone/>
            </a:pPr>
            <a:r>
              <a:rPr lang="en-US" sz="840" b="1" dirty="0">
                <a:solidFill>
                  <a:srgbClr val="101828"/>
                </a:solidFill>
              </a:rPr>
              <a:t>Integrity signal</a:t>
            </a:r>
            <a:endParaRPr lang="en-US" sz="840" dirty="0"/>
          </a:p>
        </p:txBody>
      </p:sp>
      <p:sp>
        <p:nvSpPr>
          <p:cNvPr id="19" name="Text 17"/>
          <p:cNvSpPr/>
          <p:nvPr/>
        </p:nvSpPr>
        <p:spPr>
          <a:xfrm>
            <a:off x="8421624" y="2203704"/>
            <a:ext cx="2057400" cy="347472"/>
          </a:xfrm>
          <a:prstGeom prst="rect">
            <a:avLst/>
          </a:prstGeom>
          <a:noFill/>
          <a:ln/>
        </p:spPr>
        <p:txBody>
          <a:bodyPr wrap="square" lIns="0" tIns="0" rIns="0" bIns="0" rtlCol="0" anchor="ctr">
            <a:normAutofit/>
          </a:bodyPr>
          <a:lstStyle/>
          <a:p>
            <a:pPr algn="ctr" indent="0" marL="0">
              <a:buNone/>
            </a:pPr>
            <a:r>
              <a:rPr lang="en-US" sz="660" dirty="0">
                <a:solidFill>
                  <a:srgbClr val="667085"/>
                </a:solidFill>
              </a:rPr>
              <a:t>Recovered from deceased cases in one district</a:t>
            </a:r>
            <a:endParaRPr lang="en-US" sz="660" dirty="0"/>
          </a:p>
        </p:txBody>
      </p:sp>
      <p:sp>
        <p:nvSpPr>
          <p:cNvPr id="20" name="Shape 18"/>
          <p:cNvSpPr/>
          <p:nvPr/>
        </p:nvSpPr>
        <p:spPr>
          <a:xfrm>
            <a:off x="914400" y="3246120"/>
            <a:ext cx="10241280" cy="0"/>
          </a:xfrm>
          <a:prstGeom prst="line">
            <a:avLst/>
          </a:prstGeom>
          <a:noFill/>
          <a:ln w="12700">
            <a:solidFill>
              <a:srgbClr val="E4E7EC"/>
            </a:solidFill>
            <a:prstDash val="solid"/>
          </a:ln>
        </p:spPr>
      </p:sp>
      <p:sp>
        <p:nvSpPr>
          <p:cNvPr id="21" name="Shape 19"/>
          <p:cNvSpPr/>
          <p:nvPr/>
        </p:nvSpPr>
        <p:spPr>
          <a:xfrm>
            <a:off x="713232" y="3703320"/>
            <a:ext cx="2240280" cy="804672"/>
          </a:xfrm>
          <a:prstGeom prst="roundRect">
            <a:avLst>
              <a:gd name="adj" fmla="val 4545"/>
            </a:avLst>
          </a:prstGeom>
          <a:solidFill>
            <a:srgbClr val="FFF1F3"/>
          </a:solidFill>
          <a:ln w="12700">
            <a:solidFill>
              <a:srgbClr val="D0D5DD"/>
            </a:solidFill>
            <a:prstDash val="solid"/>
          </a:ln>
        </p:spPr>
      </p:sp>
      <p:sp>
        <p:nvSpPr>
          <p:cNvPr id="22" name="Text 20"/>
          <p:cNvSpPr/>
          <p:nvPr/>
        </p:nvSpPr>
        <p:spPr>
          <a:xfrm>
            <a:off x="786384" y="3776472"/>
            <a:ext cx="2093976" cy="658368"/>
          </a:xfrm>
          <a:prstGeom prst="rect">
            <a:avLst/>
          </a:prstGeom>
          <a:noFill/>
          <a:ln/>
        </p:spPr>
        <p:txBody>
          <a:bodyPr wrap="square" lIns="254" tIns="254" rIns="254" bIns="254" rtlCol="0" anchor="ctr">
            <a:normAutofit/>
          </a:bodyPr>
          <a:lstStyle/>
          <a:p>
            <a:pPr algn="ctr" indent="0" marL="0">
              <a:buNone/>
            </a:pPr>
            <a:r>
              <a:rPr lang="en-US" sz="1000" b="1" dirty="0">
                <a:solidFill>
                  <a:srgbClr val="101828"/>
                </a:solidFill>
              </a:rPr>
              <a:t>Duplicate household claims</a:t>
            </a:r>
            <a:endParaRPr lang="en-US" sz="1000" dirty="0"/>
          </a:p>
        </p:txBody>
      </p:sp>
      <p:sp>
        <p:nvSpPr>
          <p:cNvPr id="23" name="Shape 21"/>
          <p:cNvSpPr/>
          <p:nvPr/>
        </p:nvSpPr>
        <p:spPr>
          <a:xfrm>
            <a:off x="3502152" y="3703320"/>
            <a:ext cx="2240280" cy="804672"/>
          </a:xfrm>
          <a:prstGeom prst="roundRect">
            <a:avLst>
              <a:gd name="adj" fmla="val 4545"/>
            </a:avLst>
          </a:prstGeom>
          <a:solidFill>
            <a:srgbClr val="FEE4E2"/>
          </a:solidFill>
          <a:ln w="12700">
            <a:solidFill>
              <a:srgbClr val="D0D5DD"/>
            </a:solidFill>
            <a:prstDash val="solid"/>
          </a:ln>
        </p:spPr>
      </p:sp>
      <p:sp>
        <p:nvSpPr>
          <p:cNvPr id="24" name="Text 22"/>
          <p:cNvSpPr/>
          <p:nvPr/>
        </p:nvSpPr>
        <p:spPr>
          <a:xfrm>
            <a:off x="3575304" y="3776472"/>
            <a:ext cx="2093976" cy="658368"/>
          </a:xfrm>
          <a:prstGeom prst="rect">
            <a:avLst/>
          </a:prstGeom>
          <a:noFill/>
          <a:ln/>
        </p:spPr>
        <p:txBody>
          <a:bodyPr wrap="square" lIns="254" tIns="254" rIns="254" bIns="254" rtlCol="0" anchor="ctr">
            <a:normAutofit/>
          </a:bodyPr>
          <a:lstStyle/>
          <a:p>
            <a:pPr algn="ctr" indent="0" marL="0">
              <a:buNone/>
            </a:pPr>
            <a:r>
              <a:rPr lang="en-US" sz="1000" b="1" dirty="0">
                <a:solidFill>
                  <a:srgbClr val="101828"/>
                </a:solidFill>
              </a:rPr>
              <a:t>Deceased / inactive beneficiaries</a:t>
            </a:r>
            <a:endParaRPr lang="en-US" sz="1000" dirty="0"/>
          </a:p>
        </p:txBody>
      </p:sp>
      <p:sp>
        <p:nvSpPr>
          <p:cNvPr id="25" name="Shape 23"/>
          <p:cNvSpPr/>
          <p:nvPr/>
        </p:nvSpPr>
        <p:spPr>
          <a:xfrm>
            <a:off x="6291072" y="3703320"/>
            <a:ext cx="2240280" cy="804672"/>
          </a:xfrm>
          <a:prstGeom prst="roundRect">
            <a:avLst>
              <a:gd name="adj" fmla="val 4545"/>
            </a:avLst>
          </a:prstGeom>
          <a:solidFill>
            <a:srgbClr val="FFFAEB"/>
          </a:solidFill>
          <a:ln w="12700">
            <a:solidFill>
              <a:srgbClr val="D0D5DD"/>
            </a:solidFill>
            <a:prstDash val="solid"/>
          </a:ln>
        </p:spPr>
      </p:sp>
      <p:sp>
        <p:nvSpPr>
          <p:cNvPr id="26" name="Text 24"/>
          <p:cNvSpPr/>
          <p:nvPr/>
        </p:nvSpPr>
        <p:spPr>
          <a:xfrm>
            <a:off x="6364224" y="3776472"/>
            <a:ext cx="2093976" cy="658368"/>
          </a:xfrm>
          <a:prstGeom prst="rect">
            <a:avLst/>
          </a:prstGeom>
          <a:noFill/>
          <a:ln/>
        </p:spPr>
        <p:txBody>
          <a:bodyPr wrap="square" lIns="254" tIns="254" rIns="254" bIns="254" rtlCol="0" anchor="ctr">
            <a:normAutofit/>
          </a:bodyPr>
          <a:lstStyle/>
          <a:p>
            <a:pPr algn="ctr" indent="0" marL="0">
              <a:buNone/>
            </a:pPr>
            <a:r>
              <a:rPr lang="en-US" sz="1000" b="1" dirty="0">
                <a:solidFill>
                  <a:srgbClr val="101828"/>
                </a:solidFill>
              </a:rPr>
              <a:t>Address and identity mismatch</a:t>
            </a:r>
            <a:endParaRPr lang="en-US" sz="1000" dirty="0"/>
          </a:p>
        </p:txBody>
      </p:sp>
      <p:sp>
        <p:nvSpPr>
          <p:cNvPr id="27" name="Shape 25"/>
          <p:cNvSpPr/>
          <p:nvPr/>
        </p:nvSpPr>
        <p:spPr>
          <a:xfrm>
            <a:off x="9079992" y="3703320"/>
            <a:ext cx="2240280" cy="804672"/>
          </a:xfrm>
          <a:prstGeom prst="roundRect">
            <a:avLst>
              <a:gd name="adj" fmla="val 4545"/>
            </a:avLst>
          </a:prstGeom>
          <a:solidFill>
            <a:srgbClr val="F2F4F7"/>
          </a:solidFill>
          <a:ln w="12700">
            <a:solidFill>
              <a:srgbClr val="D0D5DD"/>
            </a:solidFill>
            <a:prstDash val="solid"/>
          </a:ln>
        </p:spPr>
      </p:sp>
      <p:sp>
        <p:nvSpPr>
          <p:cNvPr id="28" name="Text 26"/>
          <p:cNvSpPr/>
          <p:nvPr/>
        </p:nvSpPr>
        <p:spPr>
          <a:xfrm>
            <a:off x="9153144" y="3776472"/>
            <a:ext cx="2093976" cy="658368"/>
          </a:xfrm>
          <a:prstGeom prst="rect">
            <a:avLst/>
          </a:prstGeom>
          <a:noFill/>
          <a:ln/>
        </p:spPr>
        <p:txBody>
          <a:bodyPr wrap="square" lIns="254" tIns="254" rIns="254" bIns="254" rtlCol="0" anchor="ctr">
            <a:normAutofit/>
          </a:bodyPr>
          <a:lstStyle/>
          <a:p>
            <a:pPr algn="ctr" indent="0" marL="0">
              <a:buNone/>
            </a:pPr>
            <a:r>
              <a:rPr lang="en-US" sz="1000" b="1" dirty="0">
                <a:solidFill>
                  <a:srgbClr val="101828"/>
                </a:solidFill>
              </a:rPr>
              <a:t>Low visibility on appeals</a:t>
            </a:r>
            <a:endParaRPr lang="en-US" sz="1000" dirty="0"/>
          </a:p>
        </p:txBody>
      </p:sp>
      <p:sp>
        <p:nvSpPr>
          <p:cNvPr id="29" name="Text 27"/>
          <p:cNvSpPr/>
          <p:nvPr/>
        </p:nvSpPr>
        <p:spPr>
          <a:xfrm>
            <a:off x="411480" y="6144768"/>
            <a:ext cx="11018520" cy="228600"/>
          </a:xfrm>
          <a:prstGeom prst="rect">
            <a:avLst/>
          </a:prstGeom>
          <a:noFill/>
          <a:ln/>
        </p:spPr>
        <p:txBody>
          <a:bodyPr wrap="square" lIns="0" tIns="0" rIns="0" bIns="0" rtlCol="0" anchor="ctr"/>
          <a:lstStyle/>
          <a:p>
            <a:pPr indent="0" marL="0">
              <a:buNone/>
            </a:pPr>
            <a:r>
              <a:rPr lang="en-US" sz="730" dirty="0">
                <a:solidFill>
                  <a:srgbClr val="667085"/>
                </a:solidFill>
              </a:rPr>
              <a:t>Sources: GoK WCD scheme page; PRS Budget Analysis 2026-27; Indian Express and Times of India reporting, June 2026.</a:t>
            </a:r>
            <a:endParaRPr lang="en-US" sz="73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Proposed solution at a glance</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A transparent beneficiary integrity platform, not merely a deactivation engine.</a:t>
            </a:r>
            <a:endParaRPr lang="en-US" sz="950" dirty="0"/>
          </a:p>
        </p:txBody>
      </p:sp>
      <p:sp>
        <p:nvSpPr>
          <p:cNvPr id="4" name="Shape 2"/>
          <p:cNvSpPr/>
          <p:nvPr/>
        </p:nvSpPr>
        <p:spPr>
          <a:xfrm>
            <a:off x="594360" y="1325880"/>
            <a:ext cx="475488" cy="475488"/>
          </a:xfrm>
          <a:prstGeom prst="ellipse">
            <a:avLst/>
          </a:prstGeom>
          <a:solidFill>
            <a:srgbClr val="155EEF"/>
          </a:solidFill>
          <a:ln w="12700">
            <a:solidFill>
              <a:srgbClr val="155EEF"/>
            </a:solidFill>
            <a:prstDash val="solid"/>
          </a:ln>
        </p:spPr>
      </p:sp>
      <p:sp>
        <p:nvSpPr>
          <p:cNvPr id="5" name="Text 3"/>
          <p:cNvSpPr/>
          <p:nvPr/>
        </p:nvSpPr>
        <p:spPr>
          <a:xfrm>
            <a:off x="594360" y="1453896"/>
            <a:ext cx="475488" cy="109728"/>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6" name="Shape 4"/>
          <p:cNvSpPr/>
          <p:nvPr/>
        </p:nvSpPr>
        <p:spPr>
          <a:xfrm>
            <a:off x="1143000" y="1563624"/>
            <a:ext cx="1463040" cy="0"/>
          </a:xfrm>
          <a:prstGeom prst="line">
            <a:avLst/>
          </a:prstGeom>
          <a:noFill/>
          <a:ln w="15240">
            <a:solidFill>
              <a:srgbClr val="D0D5DD"/>
            </a:solidFill>
            <a:prstDash val="solid"/>
            <a:headEnd type="none"/>
            <a:tailEnd type="triangle"/>
          </a:ln>
        </p:spPr>
      </p:sp>
      <p:sp>
        <p:nvSpPr>
          <p:cNvPr id="7" name="Shape 5"/>
          <p:cNvSpPr/>
          <p:nvPr/>
        </p:nvSpPr>
        <p:spPr>
          <a:xfrm>
            <a:off x="429768" y="2011680"/>
            <a:ext cx="1691640" cy="1170432"/>
          </a:xfrm>
          <a:prstGeom prst="roundRect">
            <a:avLst>
              <a:gd name="adj" fmla="val 3125"/>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502920" y="2084832"/>
            <a:ext cx="1545336" cy="1024128"/>
          </a:xfrm>
          <a:prstGeom prst="rect">
            <a:avLst/>
          </a:prstGeom>
          <a:noFill/>
          <a:ln/>
        </p:spPr>
        <p:txBody>
          <a:bodyPr wrap="square" lIns="254" tIns="254" rIns="254" bIns="254" rtlCol="0" anchor="ctr">
            <a:normAutofit/>
          </a:bodyPr>
          <a:lstStyle/>
          <a:p>
            <a:pPr algn="ctr" indent="0" marL="0">
              <a:buNone/>
            </a:pPr>
            <a:r>
              <a:rPr lang="en-US" sz="820" dirty="0">
                <a:solidFill>
                  <a:srgbClr val="101828"/>
                </a:solidFill>
              </a:rPr>
              <a:t>Fresh registration</a:t>
            </a:r>
            <a:endParaRPr lang="en-US" sz="820" dirty="0"/>
          </a:p>
          <a:p>
            <a:pPr algn="ctr" indent="0" marL="0">
              <a:buNone/>
            </a:pPr>
            <a:r>
              <a:rPr lang="en-US" sz="820" dirty="0">
                <a:solidFill>
                  <a:srgbClr val="101828"/>
                </a:solidFill>
              </a:rPr>
              <a:t>Aadhaar as ID/address anchor, optional proofs, mobile OTP login.</a:t>
            </a:r>
            <a:endParaRPr lang="en-US" sz="820" dirty="0"/>
          </a:p>
        </p:txBody>
      </p:sp>
      <p:sp>
        <p:nvSpPr>
          <p:cNvPr id="9" name="Shape 7"/>
          <p:cNvSpPr/>
          <p:nvPr/>
        </p:nvSpPr>
        <p:spPr>
          <a:xfrm>
            <a:off x="2852928" y="1325880"/>
            <a:ext cx="475488" cy="475488"/>
          </a:xfrm>
          <a:prstGeom prst="ellipse">
            <a:avLst/>
          </a:prstGeom>
          <a:solidFill>
            <a:srgbClr val="155EEF"/>
          </a:solidFill>
          <a:ln w="12700">
            <a:solidFill>
              <a:srgbClr val="155EEF"/>
            </a:solidFill>
            <a:prstDash val="solid"/>
          </a:ln>
        </p:spPr>
      </p:sp>
      <p:sp>
        <p:nvSpPr>
          <p:cNvPr id="10" name="Text 8"/>
          <p:cNvSpPr/>
          <p:nvPr/>
        </p:nvSpPr>
        <p:spPr>
          <a:xfrm>
            <a:off x="2852928" y="1453896"/>
            <a:ext cx="475488" cy="109728"/>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1" name="Shape 9"/>
          <p:cNvSpPr/>
          <p:nvPr/>
        </p:nvSpPr>
        <p:spPr>
          <a:xfrm>
            <a:off x="3401568" y="1563624"/>
            <a:ext cx="1463040" cy="0"/>
          </a:xfrm>
          <a:prstGeom prst="line">
            <a:avLst/>
          </a:prstGeom>
          <a:noFill/>
          <a:ln w="15240">
            <a:solidFill>
              <a:srgbClr val="D0D5DD"/>
            </a:solidFill>
            <a:prstDash val="solid"/>
            <a:headEnd type="none"/>
            <a:tailEnd type="triangle"/>
          </a:ln>
        </p:spPr>
      </p:sp>
      <p:sp>
        <p:nvSpPr>
          <p:cNvPr id="12" name="Shape 10"/>
          <p:cNvSpPr/>
          <p:nvPr/>
        </p:nvSpPr>
        <p:spPr>
          <a:xfrm>
            <a:off x="2688336" y="2011680"/>
            <a:ext cx="1691640" cy="1170432"/>
          </a:xfrm>
          <a:prstGeom prst="roundRect">
            <a:avLst>
              <a:gd name="adj" fmla="val 3125"/>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13" name="Text 11"/>
          <p:cNvSpPr/>
          <p:nvPr/>
        </p:nvSpPr>
        <p:spPr>
          <a:xfrm>
            <a:off x="2761488" y="2084832"/>
            <a:ext cx="1545336" cy="1024128"/>
          </a:xfrm>
          <a:prstGeom prst="rect">
            <a:avLst/>
          </a:prstGeom>
          <a:noFill/>
          <a:ln/>
        </p:spPr>
        <p:txBody>
          <a:bodyPr wrap="square" lIns="254" tIns="254" rIns="254" bIns="254" rtlCol="0" anchor="ctr">
            <a:normAutofit/>
          </a:bodyPr>
          <a:lstStyle/>
          <a:p>
            <a:pPr algn="ctr" indent="0" marL="0">
              <a:buNone/>
            </a:pPr>
            <a:r>
              <a:rPr lang="en-US" sz="820" dirty="0">
                <a:solidFill>
                  <a:srgbClr val="101828"/>
                </a:solidFill>
              </a:rPr>
              <a:t>Household clustering</a:t>
            </a:r>
            <a:endParaRPr lang="en-US" sz="820" dirty="0"/>
          </a:p>
          <a:p>
            <a:pPr algn="ctr" indent="0" marL="0">
              <a:buNone/>
            </a:pPr>
            <a:r>
              <a:rPr lang="en-US" sz="820" dirty="0">
                <a:solidFill>
                  <a:srgbClr val="101828"/>
                </a:solidFill>
              </a:rPr>
              <a:t>Address normalisation, ration card linkage and confidence scoring.</a:t>
            </a:r>
            <a:endParaRPr lang="en-US" sz="820" dirty="0"/>
          </a:p>
        </p:txBody>
      </p:sp>
      <p:sp>
        <p:nvSpPr>
          <p:cNvPr id="14" name="Shape 12"/>
          <p:cNvSpPr/>
          <p:nvPr/>
        </p:nvSpPr>
        <p:spPr>
          <a:xfrm>
            <a:off x="5111496" y="1325880"/>
            <a:ext cx="475488" cy="475488"/>
          </a:xfrm>
          <a:prstGeom prst="ellipse">
            <a:avLst/>
          </a:prstGeom>
          <a:solidFill>
            <a:srgbClr val="155EEF"/>
          </a:solidFill>
          <a:ln w="12700">
            <a:solidFill>
              <a:srgbClr val="155EEF"/>
            </a:solidFill>
            <a:prstDash val="solid"/>
          </a:ln>
        </p:spPr>
      </p:sp>
      <p:sp>
        <p:nvSpPr>
          <p:cNvPr id="15" name="Text 13"/>
          <p:cNvSpPr/>
          <p:nvPr/>
        </p:nvSpPr>
        <p:spPr>
          <a:xfrm>
            <a:off x="5111496" y="1453896"/>
            <a:ext cx="475488" cy="109728"/>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6" name="Shape 14"/>
          <p:cNvSpPr/>
          <p:nvPr/>
        </p:nvSpPr>
        <p:spPr>
          <a:xfrm>
            <a:off x="5660136" y="1563624"/>
            <a:ext cx="1463040" cy="0"/>
          </a:xfrm>
          <a:prstGeom prst="line">
            <a:avLst/>
          </a:prstGeom>
          <a:noFill/>
          <a:ln w="15240">
            <a:solidFill>
              <a:srgbClr val="D0D5DD"/>
            </a:solidFill>
            <a:prstDash val="solid"/>
            <a:headEnd type="none"/>
            <a:tailEnd type="triangle"/>
          </a:ln>
        </p:spPr>
      </p:sp>
      <p:sp>
        <p:nvSpPr>
          <p:cNvPr id="17" name="Shape 15"/>
          <p:cNvSpPr/>
          <p:nvPr/>
        </p:nvSpPr>
        <p:spPr>
          <a:xfrm>
            <a:off x="4946904" y="2011680"/>
            <a:ext cx="1691640" cy="1170432"/>
          </a:xfrm>
          <a:prstGeom prst="roundRect">
            <a:avLst>
              <a:gd name="adj" fmla="val 3125"/>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18" name="Text 16"/>
          <p:cNvSpPr/>
          <p:nvPr/>
        </p:nvSpPr>
        <p:spPr>
          <a:xfrm>
            <a:off x="5020056" y="2084832"/>
            <a:ext cx="1545336" cy="1024128"/>
          </a:xfrm>
          <a:prstGeom prst="rect">
            <a:avLst/>
          </a:prstGeom>
          <a:noFill/>
          <a:ln/>
        </p:spPr>
        <p:txBody>
          <a:bodyPr wrap="square" lIns="254" tIns="254" rIns="254" bIns="254" rtlCol="0" anchor="ctr">
            <a:normAutofit/>
          </a:bodyPr>
          <a:lstStyle/>
          <a:p>
            <a:pPr algn="ctr" indent="0" marL="0">
              <a:buNone/>
            </a:pPr>
            <a:r>
              <a:rPr lang="en-US" sz="820" dirty="0">
                <a:solidFill>
                  <a:srgbClr val="101828"/>
                </a:solidFill>
              </a:rPr>
              <a:t>Retention decision</a:t>
            </a:r>
            <a:endParaRPr lang="en-US" sz="820" dirty="0"/>
          </a:p>
          <a:p>
            <a:pPr algn="ctr" indent="0" marL="0">
              <a:buNone/>
            </a:pPr>
            <a:r>
              <a:rPr lang="en-US" sz="820" dirty="0">
                <a:solidFill>
                  <a:srgbClr val="101828"/>
                </a:solidFill>
              </a:rPr>
              <a:t>Configurable criteria: oldest, youngest, ration-card head or exception.</a:t>
            </a:r>
            <a:endParaRPr lang="en-US" sz="820" dirty="0"/>
          </a:p>
        </p:txBody>
      </p:sp>
      <p:sp>
        <p:nvSpPr>
          <p:cNvPr id="19" name="Shape 17"/>
          <p:cNvSpPr/>
          <p:nvPr/>
        </p:nvSpPr>
        <p:spPr>
          <a:xfrm>
            <a:off x="7370064" y="1325880"/>
            <a:ext cx="475488" cy="475488"/>
          </a:xfrm>
          <a:prstGeom prst="ellipse">
            <a:avLst/>
          </a:prstGeom>
          <a:solidFill>
            <a:srgbClr val="155EEF"/>
          </a:solidFill>
          <a:ln w="12700">
            <a:solidFill>
              <a:srgbClr val="155EEF"/>
            </a:solidFill>
            <a:prstDash val="solid"/>
          </a:ln>
        </p:spPr>
      </p:sp>
      <p:sp>
        <p:nvSpPr>
          <p:cNvPr id="20" name="Text 18"/>
          <p:cNvSpPr/>
          <p:nvPr/>
        </p:nvSpPr>
        <p:spPr>
          <a:xfrm>
            <a:off x="7370064" y="1453896"/>
            <a:ext cx="475488" cy="109728"/>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1" name="Shape 19"/>
          <p:cNvSpPr/>
          <p:nvPr/>
        </p:nvSpPr>
        <p:spPr>
          <a:xfrm>
            <a:off x="7918704" y="1563624"/>
            <a:ext cx="1463040" cy="0"/>
          </a:xfrm>
          <a:prstGeom prst="line">
            <a:avLst/>
          </a:prstGeom>
          <a:noFill/>
          <a:ln w="15240">
            <a:solidFill>
              <a:srgbClr val="D0D5DD"/>
            </a:solidFill>
            <a:prstDash val="solid"/>
            <a:headEnd type="none"/>
            <a:tailEnd type="triangle"/>
          </a:ln>
        </p:spPr>
      </p:sp>
      <p:sp>
        <p:nvSpPr>
          <p:cNvPr id="22" name="Shape 20"/>
          <p:cNvSpPr/>
          <p:nvPr/>
        </p:nvSpPr>
        <p:spPr>
          <a:xfrm>
            <a:off x="7205472" y="2011680"/>
            <a:ext cx="1691640" cy="1170432"/>
          </a:xfrm>
          <a:prstGeom prst="roundRect">
            <a:avLst>
              <a:gd name="adj" fmla="val 3125"/>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23" name="Text 21"/>
          <p:cNvSpPr/>
          <p:nvPr/>
        </p:nvSpPr>
        <p:spPr>
          <a:xfrm>
            <a:off x="7278624" y="2084832"/>
            <a:ext cx="1545336" cy="1024128"/>
          </a:xfrm>
          <a:prstGeom prst="rect">
            <a:avLst/>
          </a:prstGeom>
          <a:noFill/>
          <a:ln/>
        </p:spPr>
        <p:txBody>
          <a:bodyPr wrap="square" lIns="254" tIns="254" rIns="254" bIns="254" rtlCol="0" anchor="ctr">
            <a:normAutofit/>
          </a:bodyPr>
          <a:lstStyle/>
          <a:p>
            <a:pPr algn="ctr" indent="0" marL="0">
              <a:buNone/>
            </a:pPr>
            <a:r>
              <a:rPr lang="en-US" sz="820" dirty="0">
                <a:solidFill>
                  <a:srgbClr val="101828"/>
                </a:solidFill>
              </a:rPr>
              <a:t>Life-proof cycle</a:t>
            </a:r>
            <a:endParaRPr lang="en-US" sz="820" dirty="0"/>
          </a:p>
          <a:p>
            <a:pPr algn="ctr" indent="0" marL="0">
              <a:buNone/>
            </a:pPr>
            <a:r>
              <a:rPr lang="en-US" sz="820" dirty="0">
                <a:solidFill>
                  <a:srgbClr val="101828"/>
                </a:solidFill>
              </a:rPr>
              <a:t>Periodic verification every 2 months or configurable interval.</a:t>
            </a:r>
            <a:endParaRPr lang="en-US" sz="820" dirty="0"/>
          </a:p>
        </p:txBody>
      </p:sp>
      <p:sp>
        <p:nvSpPr>
          <p:cNvPr id="24" name="Shape 22"/>
          <p:cNvSpPr/>
          <p:nvPr/>
        </p:nvSpPr>
        <p:spPr>
          <a:xfrm>
            <a:off x="9628632" y="1325880"/>
            <a:ext cx="475488" cy="475488"/>
          </a:xfrm>
          <a:prstGeom prst="ellipse">
            <a:avLst/>
          </a:prstGeom>
          <a:solidFill>
            <a:srgbClr val="155EEF"/>
          </a:solidFill>
          <a:ln w="12700">
            <a:solidFill>
              <a:srgbClr val="155EEF"/>
            </a:solidFill>
            <a:prstDash val="solid"/>
          </a:ln>
        </p:spPr>
      </p:sp>
      <p:sp>
        <p:nvSpPr>
          <p:cNvPr id="25" name="Text 23"/>
          <p:cNvSpPr/>
          <p:nvPr/>
        </p:nvSpPr>
        <p:spPr>
          <a:xfrm>
            <a:off x="9628632" y="1453896"/>
            <a:ext cx="475488" cy="109728"/>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6" name="Shape 24"/>
          <p:cNvSpPr/>
          <p:nvPr/>
        </p:nvSpPr>
        <p:spPr>
          <a:xfrm>
            <a:off x="9464040" y="2011680"/>
            <a:ext cx="1691640" cy="1170432"/>
          </a:xfrm>
          <a:prstGeom prst="roundRect">
            <a:avLst>
              <a:gd name="adj" fmla="val 3125"/>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27" name="Text 25"/>
          <p:cNvSpPr/>
          <p:nvPr/>
        </p:nvSpPr>
        <p:spPr>
          <a:xfrm>
            <a:off x="9537192" y="2084832"/>
            <a:ext cx="1545336" cy="1024128"/>
          </a:xfrm>
          <a:prstGeom prst="rect">
            <a:avLst/>
          </a:prstGeom>
          <a:noFill/>
          <a:ln/>
        </p:spPr>
        <p:txBody>
          <a:bodyPr wrap="square" lIns="254" tIns="254" rIns="254" bIns="254" rtlCol="0" anchor="ctr">
            <a:normAutofit/>
          </a:bodyPr>
          <a:lstStyle/>
          <a:p>
            <a:pPr algn="ctr" indent="0" marL="0">
              <a:buNone/>
            </a:pPr>
            <a:r>
              <a:rPr lang="en-US" sz="820" dirty="0">
                <a:solidFill>
                  <a:srgbClr val="101828"/>
                </a:solidFill>
              </a:rPr>
              <a:t>DBT control</a:t>
            </a:r>
            <a:endParaRPr lang="en-US" sz="820" dirty="0"/>
          </a:p>
          <a:p>
            <a:pPr algn="ctr" indent="0" marL="0">
              <a:buNone/>
            </a:pPr>
            <a:r>
              <a:rPr lang="en-US" sz="820" dirty="0">
                <a:solidFill>
                  <a:srgbClr val="101828"/>
                </a:solidFill>
              </a:rPr>
              <a:t>Active / inactive status shared with DBT and audit dashboard.</a:t>
            </a:r>
            <a:endParaRPr lang="en-US" sz="820" dirty="0"/>
          </a:p>
        </p:txBody>
      </p:sp>
      <p:sp>
        <p:nvSpPr>
          <p:cNvPr id="28" name="Text 26"/>
          <p:cNvSpPr/>
          <p:nvPr/>
        </p:nvSpPr>
        <p:spPr>
          <a:xfrm>
            <a:off x="777240" y="4343400"/>
            <a:ext cx="1600200" cy="246888"/>
          </a:xfrm>
          <a:prstGeom prst="rect">
            <a:avLst/>
          </a:prstGeom>
          <a:solidFill>
            <a:srgbClr val="0B0A2A"/>
          </a:solidFill>
          <a:ln>
            <a:solidFill>
              <a:srgbClr val="0B0A2A">
                <a:alpha val="0"/>
              </a:srgbClr>
            </a:solidFill>
          </a:ln>
        </p:spPr>
        <p:txBody>
          <a:bodyPr wrap="square" lIns="0" tIns="0" rIns="0" bIns="0" rtlCol="0" anchor="ctr"/>
          <a:lstStyle/>
          <a:p>
            <a:pPr algn="ctr" indent="0" marL="0">
              <a:buNone/>
            </a:pPr>
            <a:r>
              <a:rPr lang="en-US" sz="800" b="1" dirty="0">
                <a:solidFill>
                  <a:srgbClr val="FFFFFF"/>
                </a:solidFill>
              </a:rPr>
              <a:t>No silent cancellation</a:t>
            </a:r>
            <a:endParaRPr lang="en-US" sz="800" dirty="0"/>
          </a:p>
        </p:txBody>
      </p:sp>
      <p:sp>
        <p:nvSpPr>
          <p:cNvPr id="29" name="Text 27"/>
          <p:cNvSpPr/>
          <p:nvPr/>
        </p:nvSpPr>
        <p:spPr>
          <a:xfrm>
            <a:off x="2926080" y="4343400"/>
            <a:ext cx="1600200" cy="246888"/>
          </a:xfrm>
          <a:prstGeom prst="rect">
            <a:avLst/>
          </a:prstGeom>
          <a:solidFill>
            <a:srgbClr val="0E7C55"/>
          </a:solidFill>
          <a:ln>
            <a:solidFill>
              <a:srgbClr val="0E7C55">
                <a:alpha val="0"/>
              </a:srgbClr>
            </a:solidFill>
          </a:ln>
        </p:spPr>
        <p:txBody>
          <a:bodyPr wrap="square" lIns="0" tIns="0" rIns="0" bIns="0" rtlCol="0" anchor="ctr"/>
          <a:lstStyle/>
          <a:p>
            <a:pPr algn="ctr" indent="0" marL="0">
              <a:buNone/>
            </a:pPr>
            <a:r>
              <a:rPr lang="en-US" sz="800" b="1" dirty="0">
                <a:solidFill>
                  <a:srgbClr val="FFFFFF"/>
                </a:solidFill>
              </a:rPr>
              <a:t>Notice + appeal path</a:t>
            </a:r>
            <a:endParaRPr lang="en-US" sz="800" dirty="0"/>
          </a:p>
        </p:txBody>
      </p:sp>
      <p:sp>
        <p:nvSpPr>
          <p:cNvPr id="30" name="Text 28"/>
          <p:cNvSpPr/>
          <p:nvPr/>
        </p:nvSpPr>
        <p:spPr>
          <a:xfrm>
            <a:off x="5074920" y="4343400"/>
            <a:ext cx="1600200" cy="246888"/>
          </a:xfrm>
          <a:prstGeom prst="rect">
            <a:avLst/>
          </a:prstGeom>
          <a:solidFill>
            <a:srgbClr val="7A5AF8"/>
          </a:solidFill>
          <a:ln>
            <a:solidFill>
              <a:srgbClr val="7A5AF8">
                <a:alpha val="0"/>
              </a:srgbClr>
            </a:solidFill>
          </a:ln>
        </p:spPr>
        <p:txBody>
          <a:bodyPr wrap="square" lIns="0" tIns="0" rIns="0" bIns="0" rtlCol="0" anchor="ctr"/>
          <a:lstStyle/>
          <a:p>
            <a:pPr algn="ctr" indent="0" marL="0">
              <a:buNone/>
            </a:pPr>
            <a:r>
              <a:rPr lang="en-US" sz="800" b="1" dirty="0">
                <a:solidFill>
                  <a:srgbClr val="FFFFFF"/>
                </a:solidFill>
              </a:rPr>
              <a:t>Assisted channels</a:t>
            </a:r>
            <a:endParaRPr lang="en-US" sz="800" dirty="0"/>
          </a:p>
        </p:txBody>
      </p:sp>
      <p:sp>
        <p:nvSpPr>
          <p:cNvPr id="31" name="Text 29"/>
          <p:cNvSpPr/>
          <p:nvPr/>
        </p:nvSpPr>
        <p:spPr>
          <a:xfrm>
            <a:off x="7223760" y="4343400"/>
            <a:ext cx="1600200" cy="246888"/>
          </a:xfrm>
          <a:prstGeom prst="rect">
            <a:avLst/>
          </a:prstGeom>
          <a:solidFill>
            <a:srgbClr val="F5B301"/>
          </a:solidFill>
          <a:ln>
            <a:solidFill>
              <a:srgbClr val="F5B301">
                <a:alpha val="0"/>
              </a:srgbClr>
            </a:solidFill>
          </a:ln>
        </p:spPr>
        <p:txBody>
          <a:bodyPr wrap="square" lIns="0" tIns="0" rIns="0" bIns="0" rtlCol="0" anchor="ctr"/>
          <a:lstStyle/>
          <a:p>
            <a:pPr algn="ctr" indent="0" marL="0">
              <a:buNone/>
            </a:pPr>
            <a:r>
              <a:rPr lang="en-US" sz="800" b="1" dirty="0">
                <a:solidFill>
                  <a:srgbClr val="FFFFFF"/>
                </a:solidFill>
              </a:rPr>
              <a:t>Audit-ready reasons</a:t>
            </a:r>
            <a:endParaRPr lang="en-US" sz="800" dirty="0"/>
          </a:p>
        </p:txBody>
      </p:sp>
      <p:sp>
        <p:nvSpPr>
          <p:cNvPr id="32" name="Text 30"/>
          <p:cNvSpPr/>
          <p:nvPr/>
        </p:nvSpPr>
        <p:spPr>
          <a:xfrm>
            <a:off x="9372600" y="4343400"/>
            <a:ext cx="1600200" cy="246888"/>
          </a:xfrm>
          <a:prstGeom prst="rect">
            <a:avLst/>
          </a:prstGeom>
          <a:solidFill>
            <a:srgbClr val="155EEF"/>
          </a:solidFill>
          <a:ln>
            <a:solidFill>
              <a:srgbClr val="155EEF">
                <a:alpha val="0"/>
              </a:srgbClr>
            </a:solidFill>
          </a:ln>
        </p:spPr>
        <p:txBody>
          <a:bodyPr wrap="square" lIns="0" tIns="0" rIns="0" bIns="0" rtlCol="0" anchor="ctr"/>
          <a:lstStyle/>
          <a:p>
            <a:pPr algn="ctr" indent="0" marL="0">
              <a:buNone/>
            </a:pPr>
            <a:r>
              <a:rPr lang="en-US" sz="800" b="1" dirty="0">
                <a:solidFill>
                  <a:srgbClr val="FFFFFF"/>
                </a:solidFill>
              </a:rPr>
              <a:t>Bilingual + accessible</a:t>
            </a:r>
            <a:endParaRPr lang="en-US" sz="8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Target operating model</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Five operating layers convert policy into controlled, citizen-friendly execution.</a:t>
            </a:r>
            <a:endParaRPr lang="en-US" sz="950" dirty="0"/>
          </a:p>
        </p:txBody>
      </p:sp>
      <p:sp>
        <p:nvSpPr>
          <p:cNvPr id="4" name="Shape 2"/>
          <p:cNvSpPr/>
          <p:nvPr/>
        </p:nvSpPr>
        <p:spPr>
          <a:xfrm>
            <a:off x="731520" y="1234440"/>
            <a:ext cx="2331720" cy="512064"/>
          </a:xfrm>
          <a:prstGeom prst="roundRect">
            <a:avLst>
              <a:gd name="adj" fmla="val 8929"/>
            </a:avLst>
          </a:prstGeom>
          <a:solidFill>
            <a:srgbClr val="155EEF"/>
          </a:solidFill>
          <a:ln w="12700">
            <a:solidFill>
              <a:srgbClr val="155EEF">
                <a:alpha val="0"/>
              </a:srgbClr>
            </a:solidFill>
            <a:prstDash val="solid"/>
          </a:ln>
        </p:spPr>
      </p:sp>
      <p:sp>
        <p:nvSpPr>
          <p:cNvPr id="5" name="Text 3"/>
          <p:cNvSpPr/>
          <p:nvPr/>
        </p:nvSpPr>
        <p:spPr>
          <a:xfrm>
            <a:off x="868680" y="1389888"/>
            <a:ext cx="2057400" cy="109728"/>
          </a:xfrm>
          <a:prstGeom prst="rect">
            <a:avLst/>
          </a:prstGeom>
          <a:noFill/>
          <a:ln/>
        </p:spPr>
        <p:txBody>
          <a:bodyPr wrap="square" lIns="0" tIns="0" rIns="0" bIns="0" rtlCol="0" anchor="ctr"/>
          <a:lstStyle/>
          <a:p>
            <a:pPr indent="0" marL="0">
              <a:buNone/>
            </a:pPr>
            <a:r>
              <a:rPr lang="en-US" sz="860" b="1" dirty="0">
                <a:solidFill>
                  <a:srgbClr val="FFFFFF"/>
                </a:solidFill>
              </a:rPr>
              <a:t>Beneficiary access</a:t>
            </a:r>
            <a:endParaRPr lang="en-US" sz="860" dirty="0"/>
          </a:p>
        </p:txBody>
      </p:sp>
      <p:sp>
        <p:nvSpPr>
          <p:cNvPr id="6" name="Shape 4"/>
          <p:cNvSpPr/>
          <p:nvPr/>
        </p:nvSpPr>
        <p:spPr>
          <a:xfrm>
            <a:off x="3429000" y="1216152"/>
            <a:ext cx="6949440" cy="566928"/>
          </a:xfrm>
          <a:prstGeom prst="roundRect">
            <a:avLst>
              <a:gd name="adj" fmla="val 6452"/>
            </a:avLst>
          </a:prstGeom>
          <a:solidFill>
            <a:srgbClr val="FFFFFF"/>
          </a:solidFill>
          <a:ln w="12700">
            <a:solidFill>
              <a:srgbClr val="E4E7EC"/>
            </a:solidFill>
            <a:prstDash val="solid"/>
          </a:ln>
        </p:spPr>
      </p:sp>
      <p:sp>
        <p:nvSpPr>
          <p:cNvPr id="7" name="Text 5"/>
          <p:cNvSpPr/>
          <p:nvPr/>
        </p:nvSpPr>
        <p:spPr>
          <a:xfrm>
            <a:off x="3502152" y="1289304"/>
            <a:ext cx="6803136" cy="420624"/>
          </a:xfrm>
          <a:prstGeom prst="rect">
            <a:avLst/>
          </a:prstGeom>
          <a:noFill/>
          <a:ln/>
        </p:spPr>
        <p:txBody>
          <a:bodyPr wrap="square" lIns="254" tIns="254" rIns="254" bIns="254" rtlCol="0" anchor="ctr">
            <a:normAutofit/>
          </a:bodyPr>
          <a:lstStyle/>
          <a:p>
            <a:pPr algn="l" indent="0" marL="0">
              <a:buNone/>
            </a:pPr>
            <a:r>
              <a:rPr lang="en-US" sz="900" dirty="0">
                <a:solidFill>
                  <a:srgbClr val="101828"/>
                </a:solidFill>
              </a:rPr>
              <a:t>OTP login, registration, life-proof, status, appeal</a:t>
            </a:r>
            <a:endParaRPr lang="en-US" sz="900" dirty="0"/>
          </a:p>
        </p:txBody>
      </p:sp>
      <p:sp>
        <p:nvSpPr>
          <p:cNvPr id="8" name="Shape 6"/>
          <p:cNvSpPr/>
          <p:nvPr/>
        </p:nvSpPr>
        <p:spPr>
          <a:xfrm>
            <a:off x="3063240" y="1490472"/>
            <a:ext cx="365760" cy="0"/>
          </a:xfrm>
          <a:prstGeom prst="line">
            <a:avLst/>
          </a:prstGeom>
          <a:noFill/>
          <a:ln w="15240">
            <a:solidFill>
              <a:srgbClr val="D0D5DD"/>
            </a:solidFill>
            <a:prstDash val="solid"/>
            <a:headEnd type="none"/>
            <a:tailEnd type="triangle"/>
          </a:ln>
        </p:spPr>
      </p:sp>
      <p:sp>
        <p:nvSpPr>
          <p:cNvPr id="9" name="Shape 7"/>
          <p:cNvSpPr/>
          <p:nvPr/>
        </p:nvSpPr>
        <p:spPr>
          <a:xfrm>
            <a:off x="731520" y="2057400"/>
            <a:ext cx="2331720" cy="512064"/>
          </a:xfrm>
          <a:prstGeom prst="roundRect">
            <a:avLst>
              <a:gd name="adj" fmla="val 8929"/>
            </a:avLst>
          </a:prstGeom>
          <a:solidFill>
            <a:srgbClr val="0E7C55"/>
          </a:solidFill>
          <a:ln w="12700">
            <a:solidFill>
              <a:srgbClr val="0E7C55">
                <a:alpha val="0"/>
              </a:srgbClr>
            </a:solidFill>
            <a:prstDash val="solid"/>
          </a:ln>
        </p:spPr>
      </p:sp>
      <p:sp>
        <p:nvSpPr>
          <p:cNvPr id="10" name="Text 8"/>
          <p:cNvSpPr/>
          <p:nvPr/>
        </p:nvSpPr>
        <p:spPr>
          <a:xfrm>
            <a:off x="868680" y="2212848"/>
            <a:ext cx="2057400" cy="109728"/>
          </a:xfrm>
          <a:prstGeom prst="rect">
            <a:avLst/>
          </a:prstGeom>
          <a:noFill/>
          <a:ln/>
        </p:spPr>
        <p:txBody>
          <a:bodyPr wrap="square" lIns="0" tIns="0" rIns="0" bIns="0" rtlCol="0" anchor="ctr"/>
          <a:lstStyle/>
          <a:p>
            <a:pPr indent="0" marL="0">
              <a:buNone/>
            </a:pPr>
            <a:r>
              <a:rPr lang="en-US" sz="860" b="1" dirty="0">
                <a:solidFill>
                  <a:srgbClr val="FFFFFF"/>
                </a:solidFill>
              </a:rPr>
              <a:t>Assisted front office</a:t>
            </a:r>
            <a:endParaRPr lang="en-US" sz="860" dirty="0"/>
          </a:p>
        </p:txBody>
      </p:sp>
      <p:sp>
        <p:nvSpPr>
          <p:cNvPr id="11" name="Shape 9"/>
          <p:cNvSpPr/>
          <p:nvPr/>
        </p:nvSpPr>
        <p:spPr>
          <a:xfrm>
            <a:off x="3429000" y="2039112"/>
            <a:ext cx="6949440" cy="566928"/>
          </a:xfrm>
          <a:prstGeom prst="roundRect">
            <a:avLst>
              <a:gd name="adj" fmla="val 6452"/>
            </a:avLst>
          </a:prstGeom>
          <a:solidFill>
            <a:srgbClr val="FFFFFF"/>
          </a:solidFill>
          <a:ln w="12700">
            <a:solidFill>
              <a:srgbClr val="E4E7EC"/>
            </a:solidFill>
            <a:prstDash val="solid"/>
          </a:ln>
        </p:spPr>
      </p:sp>
      <p:sp>
        <p:nvSpPr>
          <p:cNvPr id="12" name="Text 10"/>
          <p:cNvSpPr/>
          <p:nvPr/>
        </p:nvSpPr>
        <p:spPr>
          <a:xfrm>
            <a:off x="3502152" y="2112264"/>
            <a:ext cx="6803136" cy="420624"/>
          </a:xfrm>
          <a:prstGeom prst="rect">
            <a:avLst/>
          </a:prstGeom>
          <a:noFill/>
          <a:ln/>
        </p:spPr>
        <p:txBody>
          <a:bodyPr wrap="square" lIns="254" tIns="254" rIns="254" bIns="254" rtlCol="0" anchor="ctr">
            <a:normAutofit/>
          </a:bodyPr>
          <a:lstStyle/>
          <a:p>
            <a:pPr algn="l" indent="0" marL="0">
              <a:buNone/>
            </a:pPr>
            <a:r>
              <a:rPr lang="en-US" sz="900" dirty="0">
                <a:solidFill>
                  <a:srgbClr val="101828"/>
                </a:solidFill>
              </a:rPr>
              <a:t>Service centre enrolment, scanning, biometric capture</a:t>
            </a:r>
            <a:endParaRPr lang="en-US" sz="900" dirty="0"/>
          </a:p>
        </p:txBody>
      </p:sp>
      <p:sp>
        <p:nvSpPr>
          <p:cNvPr id="13" name="Shape 11"/>
          <p:cNvSpPr/>
          <p:nvPr/>
        </p:nvSpPr>
        <p:spPr>
          <a:xfrm>
            <a:off x="3063240" y="2313432"/>
            <a:ext cx="365760" cy="0"/>
          </a:xfrm>
          <a:prstGeom prst="line">
            <a:avLst/>
          </a:prstGeom>
          <a:noFill/>
          <a:ln w="15240">
            <a:solidFill>
              <a:srgbClr val="D0D5DD"/>
            </a:solidFill>
            <a:prstDash val="solid"/>
            <a:headEnd type="none"/>
            <a:tailEnd type="triangle"/>
          </a:ln>
        </p:spPr>
      </p:sp>
      <p:sp>
        <p:nvSpPr>
          <p:cNvPr id="14" name="Shape 12"/>
          <p:cNvSpPr/>
          <p:nvPr/>
        </p:nvSpPr>
        <p:spPr>
          <a:xfrm>
            <a:off x="731520" y="2880360"/>
            <a:ext cx="2331720" cy="512064"/>
          </a:xfrm>
          <a:prstGeom prst="roundRect">
            <a:avLst>
              <a:gd name="adj" fmla="val 8929"/>
            </a:avLst>
          </a:prstGeom>
          <a:solidFill>
            <a:srgbClr val="7A5AF8"/>
          </a:solidFill>
          <a:ln w="12700">
            <a:solidFill>
              <a:srgbClr val="7A5AF8">
                <a:alpha val="0"/>
              </a:srgbClr>
            </a:solidFill>
            <a:prstDash val="solid"/>
          </a:ln>
        </p:spPr>
      </p:sp>
      <p:sp>
        <p:nvSpPr>
          <p:cNvPr id="15" name="Text 13"/>
          <p:cNvSpPr/>
          <p:nvPr/>
        </p:nvSpPr>
        <p:spPr>
          <a:xfrm>
            <a:off x="868680" y="3035808"/>
            <a:ext cx="2057400" cy="109728"/>
          </a:xfrm>
          <a:prstGeom prst="rect">
            <a:avLst/>
          </a:prstGeom>
          <a:noFill/>
          <a:ln/>
        </p:spPr>
        <p:txBody>
          <a:bodyPr wrap="square" lIns="0" tIns="0" rIns="0" bIns="0" rtlCol="0" anchor="ctr"/>
          <a:lstStyle/>
          <a:p>
            <a:pPr indent="0" marL="0">
              <a:buNone/>
            </a:pPr>
            <a:r>
              <a:rPr lang="en-US" sz="860" b="1" dirty="0">
                <a:solidFill>
                  <a:srgbClr val="FFFFFF"/>
                </a:solidFill>
              </a:rPr>
              <a:t>Decision workflow</a:t>
            </a:r>
            <a:endParaRPr lang="en-US" sz="860" dirty="0"/>
          </a:p>
        </p:txBody>
      </p:sp>
      <p:sp>
        <p:nvSpPr>
          <p:cNvPr id="16" name="Shape 14"/>
          <p:cNvSpPr/>
          <p:nvPr/>
        </p:nvSpPr>
        <p:spPr>
          <a:xfrm>
            <a:off x="3429000" y="2862072"/>
            <a:ext cx="6949440" cy="566928"/>
          </a:xfrm>
          <a:prstGeom prst="roundRect">
            <a:avLst>
              <a:gd name="adj" fmla="val 6452"/>
            </a:avLst>
          </a:prstGeom>
          <a:solidFill>
            <a:srgbClr val="FFFFFF"/>
          </a:solidFill>
          <a:ln w="12700">
            <a:solidFill>
              <a:srgbClr val="E4E7EC"/>
            </a:solidFill>
            <a:prstDash val="solid"/>
          </a:ln>
        </p:spPr>
      </p:sp>
      <p:sp>
        <p:nvSpPr>
          <p:cNvPr id="17" name="Text 15"/>
          <p:cNvSpPr/>
          <p:nvPr/>
        </p:nvSpPr>
        <p:spPr>
          <a:xfrm>
            <a:off x="3502152" y="2935224"/>
            <a:ext cx="6803136" cy="420624"/>
          </a:xfrm>
          <a:prstGeom prst="rect">
            <a:avLst/>
          </a:prstGeom>
          <a:noFill/>
          <a:ln/>
        </p:spPr>
        <p:txBody>
          <a:bodyPr wrap="square" lIns="254" tIns="254" rIns="254" bIns="254" rtlCol="0" anchor="ctr">
            <a:normAutofit/>
          </a:bodyPr>
          <a:lstStyle/>
          <a:p>
            <a:pPr algn="l" indent="0" marL="0">
              <a:buNone/>
            </a:pPr>
            <a:r>
              <a:rPr lang="en-US" sz="900" dirty="0">
                <a:solidFill>
                  <a:srgbClr val="101828"/>
                </a:solidFill>
              </a:rPr>
              <a:t>Address match, rule engine, notices, approvals</a:t>
            </a:r>
            <a:endParaRPr lang="en-US" sz="900" dirty="0"/>
          </a:p>
        </p:txBody>
      </p:sp>
      <p:sp>
        <p:nvSpPr>
          <p:cNvPr id="18" name="Shape 16"/>
          <p:cNvSpPr/>
          <p:nvPr/>
        </p:nvSpPr>
        <p:spPr>
          <a:xfrm>
            <a:off x="3063240" y="3136392"/>
            <a:ext cx="365760" cy="0"/>
          </a:xfrm>
          <a:prstGeom prst="line">
            <a:avLst/>
          </a:prstGeom>
          <a:noFill/>
          <a:ln w="15240">
            <a:solidFill>
              <a:srgbClr val="D0D5DD"/>
            </a:solidFill>
            <a:prstDash val="solid"/>
            <a:headEnd type="none"/>
            <a:tailEnd type="triangle"/>
          </a:ln>
        </p:spPr>
      </p:sp>
      <p:sp>
        <p:nvSpPr>
          <p:cNvPr id="19" name="Shape 17"/>
          <p:cNvSpPr/>
          <p:nvPr/>
        </p:nvSpPr>
        <p:spPr>
          <a:xfrm>
            <a:off x="731520" y="3703320"/>
            <a:ext cx="2331720" cy="512064"/>
          </a:xfrm>
          <a:prstGeom prst="roundRect">
            <a:avLst>
              <a:gd name="adj" fmla="val 8929"/>
            </a:avLst>
          </a:prstGeom>
          <a:solidFill>
            <a:srgbClr val="F5B301"/>
          </a:solidFill>
          <a:ln w="12700">
            <a:solidFill>
              <a:srgbClr val="F5B301">
                <a:alpha val="0"/>
              </a:srgbClr>
            </a:solidFill>
            <a:prstDash val="solid"/>
          </a:ln>
        </p:spPr>
      </p:sp>
      <p:sp>
        <p:nvSpPr>
          <p:cNvPr id="20" name="Text 18"/>
          <p:cNvSpPr/>
          <p:nvPr/>
        </p:nvSpPr>
        <p:spPr>
          <a:xfrm>
            <a:off x="868680" y="3858768"/>
            <a:ext cx="2057400" cy="109728"/>
          </a:xfrm>
          <a:prstGeom prst="rect">
            <a:avLst/>
          </a:prstGeom>
          <a:noFill/>
          <a:ln/>
        </p:spPr>
        <p:txBody>
          <a:bodyPr wrap="square" lIns="0" tIns="0" rIns="0" bIns="0" rtlCol="0" anchor="ctr"/>
          <a:lstStyle/>
          <a:p>
            <a:pPr indent="0" marL="0">
              <a:buNone/>
            </a:pPr>
            <a:r>
              <a:rPr lang="en-US" sz="860" b="1" dirty="0">
                <a:solidFill>
                  <a:srgbClr val="FFFFFF"/>
                </a:solidFill>
              </a:rPr>
              <a:t>Support operations</a:t>
            </a:r>
            <a:endParaRPr lang="en-US" sz="860" dirty="0"/>
          </a:p>
        </p:txBody>
      </p:sp>
      <p:sp>
        <p:nvSpPr>
          <p:cNvPr id="21" name="Shape 19"/>
          <p:cNvSpPr/>
          <p:nvPr/>
        </p:nvSpPr>
        <p:spPr>
          <a:xfrm>
            <a:off x="3429000" y="3685032"/>
            <a:ext cx="6949440" cy="566928"/>
          </a:xfrm>
          <a:prstGeom prst="roundRect">
            <a:avLst>
              <a:gd name="adj" fmla="val 6452"/>
            </a:avLst>
          </a:prstGeom>
          <a:solidFill>
            <a:srgbClr val="FFFFFF"/>
          </a:solidFill>
          <a:ln w="12700">
            <a:solidFill>
              <a:srgbClr val="E4E7EC"/>
            </a:solidFill>
            <a:prstDash val="solid"/>
          </a:ln>
        </p:spPr>
      </p:sp>
      <p:sp>
        <p:nvSpPr>
          <p:cNvPr id="22" name="Text 20"/>
          <p:cNvSpPr/>
          <p:nvPr/>
        </p:nvSpPr>
        <p:spPr>
          <a:xfrm>
            <a:off x="3502152" y="3758184"/>
            <a:ext cx="6803136" cy="420624"/>
          </a:xfrm>
          <a:prstGeom prst="rect">
            <a:avLst/>
          </a:prstGeom>
          <a:noFill/>
          <a:ln/>
        </p:spPr>
        <p:txBody>
          <a:bodyPr wrap="square" lIns="254" tIns="254" rIns="254" bIns="254" rtlCol="0" anchor="ctr">
            <a:normAutofit/>
          </a:bodyPr>
          <a:lstStyle/>
          <a:p>
            <a:pPr algn="l" indent="0" marL="0">
              <a:buNone/>
            </a:pPr>
            <a:r>
              <a:rPr lang="en-US" sz="900" dirty="0">
                <a:solidFill>
                  <a:srgbClr val="101828"/>
                </a:solidFill>
              </a:rPr>
              <a:t>Call centre, grievance, escalation and SLA</a:t>
            </a:r>
            <a:endParaRPr lang="en-US" sz="900" dirty="0"/>
          </a:p>
        </p:txBody>
      </p:sp>
      <p:sp>
        <p:nvSpPr>
          <p:cNvPr id="23" name="Shape 21"/>
          <p:cNvSpPr/>
          <p:nvPr/>
        </p:nvSpPr>
        <p:spPr>
          <a:xfrm>
            <a:off x="3063240" y="3959352"/>
            <a:ext cx="365760" cy="0"/>
          </a:xfrm>
          <a:prstGeom prst="line">
            <a:avLst/>
          </a:prstGeom>
          <a:noFill/>
          <a:ln w="15240">
            <a:solidFill>
              <a:srgbClr val="D0D5DD"/>
            </a:solidFill>
            <a:prstDash val="solid"/>
            <a:headEnd type="none"/>
            <a:tailEnd type="triangle"/>
          </a:ln>
        </p:spPr>
      </p:sp>
      <p:sp>
        <p:nvSpPr>
          <p:cNvPr id="24" name="Shape 22"/>
          <p:cNvSpPr/>
          <p:nvPr/>
        </p:nvSpPr>
        <p:spPr>
          <a:xfrm>
            <a:off x="731520" y="4526280"/>
            <a:ext cx="2331720" cy="512064"/>
          </a:xfrm>
          <a:prstGeom prst="roundRect">
            <a:avLst>
              <a:gd name="adj" fmla="val 8929"/>
            </a:avLst>
          </a:prstGeom>
          <a:solidFill>
            <a:srgbClr val="0B0A2A"/>
          </a:solidFill>
          <a:ln w="12700">
            <a:solidFill>
              <a:srgbClr val="0B0A2A">
                <a:alpha val="0"/>
              </a:srgbClr>
            </a:solidFill>
            <a:prstDash val="solid"/>
          </a:ln>
        </p:spPr>
      </p:sp>
      <p:sp>
        <p:nvSpPr>
          <p:cNvPr id="25" name="Text 23"/>
          <p:cNvSpPr/>
          <p:nvPr/>
        </p:nvSpPr>
        <p:spPr>
          <a:xfrm>
            <a:off x="868680" y="4681728"/>
            <a:ext cx="2057400" cy="109728"/>
          </a:xfrm>
          <a:prstGeom prst="rect">
            <a:avLst/>
          </a:prstGeom>
          <a:noFill/>
          <a:ln/>
        </p:spPr>
        <p:txBody>
          <a:bodyPr wrap="square" lIns="0" tIns="0" rIns="0" bIns="0" rtlCol="0" anchor="ctr"/>
          <a:lstStyle/>
          <a:p>
            <a:pPr indent="0" marL="0">
              <a:buNone/>
            </a:pPr>
            <a:r>
              <a:rPr lang="en-US" sz="860" b="1" dirty="0">
                <a:solidFill>
                  <a:srgbClr val="FFFFFF"/>
                </a:solidFill>
              </a:rPr>
              <a:t>Governance</a:t>
            </a:r>
            <a:endParaRPr lang="en-US" sz="860" dirty="0"/>
          </a:p>
        </p:txBody>
      </p:sp>
      <p:sp>
        <p:nvSpPr>
          <p:cNvPr id="26" name="Shape 24"/>
          <p:cNvSpPr/>
          <p:nvPr/>
        </p:nvSpPr>
        <p:spPr>
          <a:xfrm>
            <a:off x="3429000" y="4507992"/>
            <a:ext cx="6949440" cy="566928"/>
          </a:xfrm>
          <a:prstGeom prst="roundRect">
            <a:avLst>
              <a:gd name="adj" fmla="val 6452"/>
            </a:avLst>
          </a:prstGeom>
          <a:solidFill>
            <a:srgbClr val="FFFFFF"/>
          </a:solidFill>
          <a:ln w="12700">
            <a:solidFill>
              <a:srgbClr val="E4E7EC"/>
            </a:solidFill>
            <a:prstDash val="solid"/>
          </a:ln>
        </p:spPr>
      </p:sp>
      <p:sp>
        <p:nvSpPr>
          <p:cNvPr id="27" name="Text 25"/>
          <p:cNvSpPr/>
          <p:nvPr/>
        </p:nvSpPr>
        <p:spPr>
          <a:xfrm>
            <a:off x="3502152" y="4581144"/>
            <a:ext cx="6803136" cy="420624"/>
          </a:xfrm>
          <a:prstGeom prst="rect">
            <a:avLst/>
          </a:prstGeom>
          <a:noFill/>
          <a:ln/>
        </p:spPr>
        <p:txBody>
          <a:bodyPr wrap="square" lIns="254" tIns="254" rIns="254" bIns="254" rtlCol="0" anchor="ctr">
            <a:normAutofit/>
          </a:bodyPr>
          <a:lstStyle/>
          <a:p>
            <a:pPr algn="l" indent="0" marL="0">
              <a:buNone/>
            </a:pPr>
            <a:r>
              <a:rPr lang="en-US" sz="900" dirty="0">
                <a:solidFill>
                  <a:srgbClr val="101828"/>
                </a:solidFill>
              </a:rPr>
              <a:t>Dashboards, audit, DBT reconciliation, policy tuning</a:t>
            </a:r>
            <a:endParaRPr lang="en-US" sz="900" dirty="0"/>
          </a:p>
        </p:txBody>
      </p:sp>
      <p:sp>
        <p:nvSpPr>
          <p:cNvPr id="28" name="Shape 26"/>
          <p:cNvSpPr/>
          <p:nvPr/>
        </p:nvSpPr>
        <p:spPr>
          <a:xfrm>
            <a:off x="3063240" y="4782312"/>
            <a:ext cx="365760" cy="0"/>
          </a:xfrm>
          <a:prstGeom prst="line">
            <a:avLst/>
          </a:prstGeom>
          <a:noFill/>
          <a:ln w="15240">
            <a:solidFill>
              <a:srgbClr val="D0D5DD"/>
            </a:solidFill>
            <a:prstDash val="solid"/>
            <a:headEnd type="none"/>
            <a:tailEnd type="triangle"/>
          </a:ln>
        </p:spPr>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Process flow: registration and household consolidation</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The process is designed to make a decision explainable, configurable and appealable.</a:t>
            </a:r>
            <a:endParaRPr lang="en-US" sz="950" dirty="0"/>
          </a:p>
        </p:txBody>
      </p:sp>
      <p:sp>
        <p:nvSpPr>
          <p:cNvPr id="4" name="Shape 2"/>
          <p:cNvSpPr/>
          <p:nvPr/>
        </p:nvSpPr>
        <p:spPr>
          <a:xfrm>
            <a:off x="438912" y="1508760"/>
            <a:ext cx="1243584" cy="713232"/>
          </a:xfrm>
          <a:prstGeom prst="roundRect">
            <a:avLst>
              <a:gd name="adj" fmla="val 5128"/>
            </a:avLst>
          </a:prstGeom>
          <a:solidFill>
            <a:srgbClr val="E0F2FE"/>
          </a:solidFill>
          <a:ln w="12700">
            <a:solidFill>
              <a:srgbClr val="155EEF"/>
            </a:solidFill>
            <a:prstDash val="solid"/>
          </a:ln>
        </p:spPr>
      </p:sp>
      <p:sp>
        <p:nvSpPr>
          <p:cNvPr id="5" name="Text 3"/>
          <p:cNvSpPr/>
          <p:nvPr/>
        </p:nvSpPr>
        <p:spPr>
          <a:xfrm>
            <a:off x="512064" y="1581912"/>
            <a:ext cx="1097280" cy="56692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Login /</a:t>
            </a:r>
            <a:endParaRPr lang="en-US" sz="830" dirty="0"/>
          </a:p>
          <a:p>
            <a:pPr algn="ctr" indent="0" marL="0">
              <a:buNone/>
            </a:pPr>
            <a:r>
              <a:rPr lang="en-US" sz="830" b="1" dirty="0">
                <a:solidFill>
                  <a:srgbClr val="101828"/>
                </a:solidFill>
              </a:rPr>
              <a:t>assisted start</a:t>
            </a:r>
            <a:endParaRPr lang="en-US" sz="830" dirty="0"/>
          </a:p>
        </p:txBody>
      </p:sp>
      <p:sp>
        <p:nvSpPr>
          <p:cNvPr id="6" name="Shape 4"/>
          <p:cNvSpPr/>
          <p:nvPr/>
        </p:nvSpPr>
        <p:spPr>
          <a:xfrm>
            <a:off x="1682496" y="1865376"/>
            <a:ext cx="384048" cy="0"/>
          </a:xfrm>
          <a:prstGeom prst="line">
            <a:avLst/>
          </a:prstGeom>
          <a:noFill/>
          <a:ln w="15240">
            <a:solidFill>
              <a:srgbClr val="667085"/>
            </a:solidFill>
            <a:prstDash val="solid"/>
            <a:headEnd type="none"/>
            <a:tailEnd type="triangle"/>
          </a:ln>
        </p:spPr>
      </p:sp>
      <p:sp>
        <p:nvSpPr>
          <p:cNvPr id="7" name="Shape 5"/>
          <p:cNvSpPr/>
          <p:nvPr/>
        </p:nvSpPr>
        <p:spPr>
          <a:xfrm>
            <a:off x="2103120" y="1508760"/>
            <a:ext cx="1243584" cy="713232"/>
          </a:xfrm>
          <a:prstGeom prst="roundRect">
            <a:avLst>
              <a:gd name="adj" fmla="val 5128"/>
            </a:avLst>
          </a:prstGeom>
          <a:solidFill>
            <a:srgbClr val="EEF4FF"/>
          </a:solidFill>
          <a:ln w="12700">
            <a:solidFill>
              <a:srgbClr val="155EEF"/>
            </a:solidFill>
            <a:prstDash val="solid"/>
          </a:ln>
        </p:spPr>
      </p:sp>
      <p:sp>
        <p:nvSpPr>
          <p:cNvPr id="8" name="Text 6"/>
          <p:cNvSpPr/>
          <p:nvPr/>
        </p:nvSpPr>
        <p:spPr>
          <a:xfrm>
            <a:off x="2176272" y="1581912"/>
            <a:ext cx="1097280" cy="56692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Consent +</a:t>
            </a:r>
            <a:endParaRPr lang="en-US" sz="830" dirty="0"/>
          </a:p>
          <a:p>
            <a:pPr algn="ctr" indent="0" marL="0">
              <a:buNone/>
            </a:pPr>
            <a:r>
              <a:rPr lang="en-US" sz="830" b="1" dirty="0">
                <a:solidFill>
                  <a:srgbClr val="101828"/>
                </a:solidFill>
              </a:rPr>
              <a:t>Aadhaar auth</a:t>
            </a:r>
            <a:endParaRPr lang="en-US" sz="830" dirty="0"/>
          </a:p>
        </p:txBody>
      </p:sp>
      <p:sp>
        <p:nvSpPr>
          <p:cNvPr id="9" name="Shape 7"/>
          <p:cNvSpPr/>
          <p:nvPr/>
        </p:nvSpPr>
        <p:spPr>
          <a:xfrm>
            <a:off x="3346704" y="1865376"/>
            <a:ext cx="384048" cy="0"/>
          </a:xfrm>
          <a:prstGeom prst="line">
            <a:avLst/>
          </a:prstGeom>
          <a:noFill/>
          <a:ln w="15240">
            <a:solidFill>
              <a:srgbClr val="667085"/>
            </a:solidFill>
            <a:prstDash val="solid"/>
            <a:headEnd type="none"/>
            <a:tailEnd type="triangle"/>
          </a:ln>
        </p:spPr>
      </p:sp>
      <p:sp>
        <p:nvSpPr>
          <p:cNvPr id="10" name="Shape 8"/>
          <p:cNvSpPr/>
          <p:nvPr/>
        </p:nvSpPr>
        <p:spPr>
          <a:xfrm>
            <a:off x="3767328" y="1508760"/>
            <a:ext cx="1243584" cy="713232"/>
          </a:xfrm>
          <a:prstGeom prst="roundRect">
            <a:avLst>
              <a:gd name="adj" fmla="val 5128"/>
            </a:avLst>
          </a:prstGeom>
          <a:solidFill>
            <a:srgbClr val="ECFDF3"/>
          </a:solidFill>
          <a:ln w="12700">
            <a:solidFill>
              <a:srgbClr val="155EEF"/>
            </a:solidFill>
            <a:prstDash val="solid"/>
          </a:ln>
        </p:spPr>
      </p:sp>
      <p:sp>
        <p:nvSpPr>
          <p:cNvPr id="11" name="Text 9"/>
          <p:cNvSpPr/>
          <p:nvPr/>
        </p:nvSpPr>
        <p:spPr>
          <a:xfrm>
            <a:off x="3840480" y="1581912"/>
            <a:ext cx="1097280" cy="56692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Proof</a:t>
            </a:r>
            <a:endParaRPr lang="en-US" sz="830" dirty="0"/>
          </a:p>
          <a:p>
            <a:pPr algn="ctr" indent="0" marL="0">
              <a:buNone/>
            </a:pPr>
            <a:r>
              <a:rPr lang="en-US" sz="830" b="1" dirty="0">
                <a:solidFill>
                  <a:srgbClr val="101828"/>
                </a:solidFill>
              </a:rPr>
              <a:t>capture</a:t>
            </a:r>
            <a:endParaRPr lang="en-US" sz="830" dirty="0"/>
          </a:p>
        </p:txBody>
      </p:sp>
      <p:sp>
        <p:nvSpPr>
          <p:cNvPr id="12" name="Shape 10"/>
          <p:cNvSpPr/>
          <p:nvPr/>
        </p:nvSpPr>
        <p:spPr>
          <a:xfrm>
            <a:off x="5010912" y="1865376"/>
            <a:ext cx="384048" cy="0"/>
          </a:xfrm>
          <a:prstGeom prst="line">
            <a:avLst/>
          </a:prstGeom>
          <a:noFill/>
          <a:ln w="15240">
            <a:solidFill>
              <a:srgbClr val="667085"/>
            </a:solidFill>
            <a:prstDash val="solid"/>
            <a:headEnd type="none"/>
            <a:tailEnd type="triangle"/>
          </a:ln>
        </p:spPr>
      </p:sp>
      <p:sp>
        <p:nvSpPr>
          <p:cNvPr id="13" name="Shape 11"/>
          <p:cNvSpPr/>
          <p:nvPr/>
        </p:nvSpPr>
        <p:spPr>
          <a:xfrm>
            <a:off x="5431536" y="1508760"/>
            <a:ext cx="1243584" cy="713232"/>
          </a:xfrm>
          <a:prstGeom prst="roundRect">
            <a:avLst>
              <a:gd name="adj" fmla="val 5128"/>
            </a:avLst>
          </a:prstGeom>
          <a:solidFill>
            <a:srgbClr val="FFFAEB"/>
          </a:solidFill>
          <a:ln w="12700">
            <a:solidFill>
              <a:srgbClr val="155EEF"/>
            </a:solidFill>
            <a:prstDash val="solid"/>
          </a:ln>
        </p:spPr>
      </p:sp>
      <p:sp>
        <p:nvSpPr>
          <p:cNvPr id="14" name="Text 12"/>
          <p:cNvSpPr/>
          <p:nvPr/>
        </p:nvSpPr>
        <p:spPr>
          <a:xfrm>
            <a:off x="5504688" y="1581912"/>
            <a:ext cx="1097280" cy="56692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Address</a:t>
            </a:r>
            <a:endParaRPr lang="en-US" sz="830" dirty="0"/>
          </a:p>
          <a:p>
            <a:pPr algn="ctr" indent="0" marL="0">
              <a:buNone/>
            </a:pPr>
            <a:r>
              <a:rPr lang="en-US" sz="830" b="1" dirty="0">
                <a:solidFill>
                  <a:srgbClr val="101828"/>
                </a:solidFill>
              </a:rPr>
              <a:t>normalise</a:t>
            </a:r>
            <a:endParaRPr lang="en-US" sz="830" dirty="0"/>
          </a:p>
        </p:txBody>
      </p:sp>
      <p:sp>
        <p:nvSpPr>
          <p:cNvPr id="15" name="Shape 13"/>
          <p:cNvSpPr/>
          <p:nvPr/>
        </p:nvSpPr>
        <p:spPr>
          <a:xfrm>
            <a:off x="6675120" y="1865376"/>
            <a:ext cx="384048" cy="0"/>
          </a:xfrm>
          <a:prstGeom prst="line">
            <a:avLst/>
          </a:prstGeom>
          <a:noFill/>
          <a:ln w="15240">
            <a:solidFill>
              <a:srgbClr val="667085"/>
            </a:solidFill>
            <a:prstDash val="solid"/>
            <a:headEnd type="none"/>
            <a:tailEnd type="triangle"/>
          </a:ln>
        </p:spPr>
      </p:sp>
      <p:sp>
        <p:nvSpPr>
          <p:cNvPr id="16" name="Shape 14"/>
          <p:cNvSpPr/>
          <p:nvPr/>
        </p:nvSpPr>
        <p:spPr>
          <a:xfrm>
            <a:off x="7095744" y="1508760"/>
            <a:ext cx="1243584" cy="713232"/>
          </a:xfrm>
          <a:prstGeom prst="roundRect">
            <a:avLst>
              <a:gd name="adj" fmla="val 5128"/>
            </a:avLst>
          </a:prstGeom>
          <a:solidFill>
            <a:srgbClr val="F9F5FF"/>
          </a:solidFill>
          <a:ln w="12700">
            <a:solidFill>
              <a:srgbClr val="155EEF"/>
            </a:solidFill>
            <a:prstDash val="solid"/>
          </a:ln>
        </p:spPr>
      </p:sp>
      <p:sp>
        <p:nvSpPr>
          <p:cNvPr id="17" name="Text 15"/>
          <p:cNvSpPr/>
          <p:nvPr/>
        </p:nvSpPr>
        <p:spPr>
          <a:xfrm>
            <a:off x="7168896" y="1581912"/>
            <a:ext cx="1097280" cy="56692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Household</a:t>
            </a:r>
            <a:endParaRPr lang="en-US" sz="830" dirty="0"/>
          </a:p>
          <a:p>
            <a:pPr algn="ctr" indent="0" marL="0">
              <a:buNone/>
            </a:pPr>
            <a:r>
              <a:rPr lang="en-US" sz="830" b="1" dirty="0">
                <a:solidFill>
                  <a:srgbClr val="101828"/>
                </a:solidFill>
              </a:rPr>
              <a:t>cluster</a:t>
            </a:r>
            <a:endParaRPr lang="en-US" sz="830" dirty="0"/>
          </a:p>
        </p:txBody>
      </p:sp>
      <p:sp>
        <p:nvSpPr>
          <p:cNvPr id="18" name="Shape 16"/>
          <p:cNvSpPr/>
          <p:nvPr/>
        </p:nvSpPr>
        <p:spPr>
          <a:xfrm>
            <a:off x="8339328" y="1865376"/>
            <a:ext cx="384048" cy="0"/>
          </a:xfrm>
          <a:prstGeom prst="line">
            <a:avLst/>
          </a:prstGeom>
          <a:noFill/>
          <a:ln w="15240">
            <a:solidFill>
              <a:srgbClr val="667085"/>
            </a:solidFill>
            <a:prstDash val="solid"/>
            <a:headEnd type="none"/>
            <a:tailEnd type="triangle"/>
          </a:ln>
        </p:spPr>
      </p:sp>
      <p:sp>
        <p:nvSpPr>
          <p:cNvPr id="19" name="Shape 17"/>
          <p:cNvSpPr/>
          <p:nvPr/>
        </p:nvSpPr>
        <p:spPr>
          <a:xfrm>
            <a:off x="8759952" y="1508760"/>
            <a:ext cx="1243584" cy="713232"/>
          </a:xfrm>
          <a:prstGeom prst="roundRect">
            <a:avLst>
              <a:gd name="adj" fmla="val 5128"/>
            </a:avLst>
          </a:prstGeom>
          <a:solidFill>
            <a:srgbClr val="FFF1F3"/>
          </a:solidFill>
          <a:ln w="12700">
            <a:solidFill>
              <a:srgbClr val="155EEF"/>
            </a:solidFill>
            <a:prstDash val="solid"/>
          </a:ln>
        </p:spPr>
      </p:sp>
      <p:sp>
        <p:nvSpPr>
          <p:cNvPr id="20" name="Text 18"/>
          <p:cNvSpPr/>
          <p:nvPr/>
        </p:nvSpPr>
        <p:spPr>
          <a:xfrm>
            <a:off x="8833104" y="1581912"/>
            <a:ext cx="1097280" cy="56692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Retention</a:t>
            </a:r>
            <a:endParaRPr lang="en-US" sz="830" dirty="0"/>
          </a:p>
          <a:p>
            <a:pPr algn="ctr" indent="0" marL="0">
              <a:buNone/>
            </a:pPr>
            <a:r>
              <a:rPr lang="en-US" sz="830" b="1" dirty="0">
                <a:solidFill>
                  <a:srgbClr val="101828"/>
                </a:solidFill>
              </a:rPr>
              <a:t>rule</a:t>
            </a:r>
            <a:endParaRPr lang="en-US" sz="830" dirty="0"/>
          </a:p>
        </p:txBody>
      </p:sp>
      <p:sp>
        <p:nvSpPr>
          <p:cNvPr id="21" name="Shape 19"/>
          <p:cNvSpPr/>
          <p:nvPr/>
        </p:nvSpPr>
        <p:spPr>
          <a:xfrm>
            <a:off x="10003536" y="1865376"/>
            <a:ext cx="384048" cy="0"/>
          </a:xfrm>
          <a:prstGeom prst="line">
            <a:avLst/>
          </a:prstGeom>
          <a:noFill/>
          <a:ln w="15240">
            <a:solidFill>
              <a:srgbClr val="667085"/>
            </a:solidFill>
            <a:prstDash val="solid"/>
            <a:headEnd type="none"/>
            <a:tailEnd type="triangle"/>
          </a:ln>
        </p:spPr>
      </p:sp>
      <p:sp>
        <p:nvSpPr>
          <p:cNvPr id="22" name="Shape 20"/>
          <p:cNvSpPr/>
          <p:nvPr/>
        </p:nvSpPr>
        <p:spPr>
          <a:xfrm>
            <a:off x="10424160" y="1508760"/>
            <a:ext cx="1243584" cy="713232"/>
          </a:xfrm>
          <a:prstGeom prst="roundRect">
            <a:avLst>
              <a:gd name="adj" fmla="val 5128"/>
            </a:avLst>
          </a:prstGeom>
          <a:solidFill>
            <a:srgbClr val="EAF7F0"/>
          </a:solidFill>
          <a:ln w="12700">
            <a:solidFill>
              <a:srgbClr val="155EEF"/>
            </a:solidFill>
            <a:prstDash val="solid"/>
          </a:ln>
        </p:spPr>
      </p:sp>
      <p:sp>
        <p:nvSpPr>
          <p:cNvPr id="23" name="Text 21"/>
          <p:cNvSpPr/>
          <p:nvPr/>
        </p:nvSpPr>
        <p:spPr>
          <a:xfrm>
            <a:off x="10497312" y="1581912"/>
            <a:ext cx="1097280" cy="56692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Notice +</a:t>
            </a:r>
            <a:endParaRPr lang="en-US" sz="830" dirty="0"/>
          </a:p>
          <a:p>
            <a:pPr algn="ctr" indent="0" marL="0">
              <a:buNone/>
            </a:pPr>
            <a:r>
              <a:rPr lang="en-US" sz="830" b="1" dirty="0">
                <a:solidFill>
                  <a:srgbClr val="101828"/>
                </a:solidFill>
              </a:rPr>
              <a:t>status update</a:t>
            </a:r>
            <a:endParaRPr lang="en-US" sz="830" dirty="0"/>
          </a:p>
        </p:txBody>
      </p:sp>
      <p:sp>
        <p:nvSpPr>
          <p:cNvPr id="24" name="Shape 22"/>
          <p:cNvSpPr/>
          <p:nvPr/>
        </p:nvSpPr>
        <p:spPr>
          <a:xfrm>
            <a:off x="1005840" y="2999232"/>
            <a:ext cx="2194560" cy="1005840"/>
          </a:xfrm>
          <a:prstGeom prst="roundRect">
            <a:avLst>
              <a:gd name="adj" fmla="val 3636"/>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25" name="Text 23"/>
          <p:cNvSpPr/>
          <p:nvPr/>
        </p:nvSpPr>
        <p:spPr>
          <a:xfrm>
            <a:off x="1078992" y="3072384"/>
            <a:ext cx="2048256" cy="859536"/>
          </a:xfrm>
          <a:prstGeom prst="rect">
            <a:avLst/>
          </a:prstGeom>
          <a:noFill/>
          <a:ln/>
        </p:spPr>
        <p:txBody>
          <a:bodyPr wrap="square" lIns="254" tIns="254" rIns="254" bIns="254" rtlCol="0" anchor="ctr">
            <a:normAutofit/>
          </a:bodyPr>
          <a:lstStyle/>
          <a:p>
            <a:pPr algn="ctr" indent="0" marL="0">
              <a:buNone/>
            </a:pPr>
            <a:r>
              <a:rPr lang="en-US" sz="920" dirty="0">
                <a:solidFill>
                  <a:srgbClr val="101828"/>
                </a:solidFill>
              </a:rPr>
              <a:t>Self-service channels</a:t>
            </a:r>
            <a:endParaRPr lang="en-US" sz="920" dirty="0"/>
          </a:p>
          <a:p>
            <a:pPr algn="ctr" indent="0" marL="0">
              <a:buNone/>
            </a:pPr>
            <a:r>
              <a:rPr lang="en-US" sz="920" dirty="0">
                <a:solidFill>
                  <a:srgbClr val="101828"/>
                </a:solidFill>
              </a:rPr>
              <a:t>Mobile app + web portal</a:t>
            </a:r>
            <a:endParaRPr lang="en-US" sz="920" dirty="0"/>
          </a:p>
          <a:p>
            <a:pPr algn="ctr" indent="0" marL="0">
              <a:buNone/>
            </a:pPr>
            <a:r>
              <a:rPr lang="en-US" sz="920" dirty="0">
                <a:solidFill>
                  <a:srgbClr val="101828"/>
                </a:solidFill>
              </a:rPr>
              <a:t>Mobile OTP as password</a:t>
            </a:r>
            <a:endParaRPr lang="en-US" sz="920" dirty="0"/>
          </a:p>
        </p:txBody>
      </p:sp>
      <p:sp>
        <p:nvSpPr>
          <p:cNvPr id="26" name="Shape 24"/>
          <p:cNvSpPr/>
          <p:nvPr/>
        </p:nvSpPr>
        <p:spPr>
          <a:xfrm>
            <a:off x="3657600" y="2999232"/>
            <a:ext cx="2194560" cy="1005840"/>
          </a:xfrm>
          <a:prstGeom prst="roundRect">
            <a:avLst>
              <a:gd name="adj" fmla="val 3636"/>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27" name="Text 25"/>
          <p:cNvSpPr/>
          <p:nvPr/>
        </p:nvSpPr>
        <p:spPr>
          <a:xfrm>
            <a:off x="3730752" y="3072384"/>
            <a:ext cx="2048256" cy="859536"/>
          </a:xfrm>
          <a:prstGeom prst="rect">
            <a:avLst/>
          </a:prstGeom>
          <a:noFill/>
          <a:ln/>
        </p:spPr>
        <p:txBody>
          <a:bodyPr wrap="square" lIns="254" tIns="254" rIns="254" bIns="254" rtlCol="0" anchor="ctr">
            <a:normAutofit/>
          </a:bodyPr>
          <a:lstStyle/>
          <a:p>
            <a:pPr algn="ctr" indent="0" marL="0">
              <a:buNone/>
            </a:pPr>
            <a:r>
              <a:rPr lang="en-US" sz="920" dirty="0">
                <a:solidFill>
                  <a:srgbClr val="101828"/>
                </a:solidFill>
              </a:rPr>
              <a:t>Assisted channels</a:t>
            </a:r>
            <a:endParaRPr lang="en-US" sz="920" dirty="0"/>
          </a:p>
          <a:p>
            <a:pPr algn="ctr" indent="0" marL="0">
              <a:buNone/>
            </a:pPr>
            <a:r>
              <a:rPr lang="en-US" sz="920" dirty="0">
                <a:solidFill>
                  <a:srgbClr val="101828"/>
                </a:solidFill>
              </a:rPr>
              <a:t>Bangalore One, Karnataka One,</a:t>
            </a:r>
            <a:endParaRPr lang="en-US" sz="920" dirty="0"/>
          </a:p>
          <a:p>
            <a:pPr algn="ctr" indent="0" marL="0">
              <a:buNone/>
            </a:pPr>
            <a:r>
              <a:rPr lang="en-US" sz="920" dirty="0">
                <a:solidFill>
                  <a:srgbClr val="101828"/>
                </a:solidFill>
              </a:rPr>
              <a:t>Grama One, Panchayat</a:t>
            </a:r>
            <a:endParaRPr lang="en-US" sz="920" dirty="0"/>
          </a:p>
        </p:txBody>
      </p:sp>
      <p:sp>
        <p:nvSpPr>
          <p:cNvPr id="28" name="Shape 26"/>
          <p:cNvSpPr/>
          <p:nvPr/>
        </p:nvSpPr>
        <p:spPr>
          <a:xfrm>
            <a:off x="6309360" y="2999232"/>
            <a:ext cx="2194560" cy="1005840"/>
          </a:xfrm>
          <a:prstGeom prst="roundRect">
            <a:avLst>
              <a:gd name="adj" fmla="val 3636"/>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29" name="Text 27"/>
          <p:cNvSpPr/>
          <p:nvPr/>
        </p:nvSpPr>
        <p:spPr>
          <a:xfrm>
            <a:off x="6382512" y="3072384"/>
            <a:ext cx="2048256" cy="859536"/>
          </a:xfrm>
          <a:prstGeom prst="rect">
            <a:avLst/>
          </a:prstGeom>
          <a:noFill/>
          <a:ln/>
        </p:spPr>
        <p:txBody>
          <a:bodyPr wrap="square" lIns="254" tIns="254" rIns="254" bIns="254" rtlCol="0" anchor="ctr">
            <a:normAutofit/>
          </a:bodyPr>
          <a:lstStyle/>
          <a:p>
            <a:pPr algn="ctr" indent="0" marL="0">
              <a:buNone/>
            </a:pPr>
            <a:r>
              <a:rPr lang="en-US" sz="920" dirty="0">
                <a:solidFill>
                  <a:srgbClr val="101828"/>
                </a:solidFill>
              </a:rPr>
              <a:t>Decision controls</a:t>
            </a:r>
            <a:endParaRPr lang="en-US" sz="920" dirty="0"/>
          </a:p>
          <a:p>
            <a:pPr algn="ctr" indent="0" marL="0">
              <a:buNone/>
            </a:pPr>
            <a:r>
              <a:rPr lang="en-US" sz="920" dirty="0">
                <a:solidFill>
                  <a:srgbClr val="101828"/>
                </a:solidFill>
              </a:rPr>
              <a:t>Confidence thresholds, reason codes,</a:t>
            </a:r>
            <a:endParaRPr lang="en-US" sz="920" dirty="0"/>
          </a:p>
          <a:p>
            <a:pPr algn="ctr" indent="0" marL="0">
              <a:buNone/>
            </a:pPr>
            <a:r>
              <a:rPr lang="en-US" sz="920" dirty="0">
                <a:solidFill>
                  <a:srgbClr val="101828"/>
                </a:solidFill>
              </a:rPr>
              <a:t>manual review queue</a:t>
            </a:r>
            <a:endParaRPr lang="en-US" sz="920" dirty="0"/>
          </a:p>
        </p:txBody>
      </p:sp>
      <p:sp>
        <p:nvSpPr>
          <p:cNvPr id="30" name="Shape 28"/>
          <p:cNvSpPr/>
          <p:nvPr/>
        </p:nvSpPr>
        <p:spPr>
          <a:xfrm>
            <a:off x="8961120" y="2999232"/>
            <a:ext cx="2194560" cy="1005840"/>
          </a:xfrm>
          <a:prstGeom prst="roundRect">
            <a:avLst>
              <a:gd name="adj" fmla="val 3636"/>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31" name="Text 29"/>
          <p:cNvSpPr/>
          <p:nvPr/>
        </p:nvSpPr>
        <p:spPr>
          <a:xfrm>
            <a:off x="9034272" y="3072384"/>
            <a:ext cx="2048256" cy="859536"/>
          </a:xfrm>
          <a:prstGeom prst="rect">
            <a:avLst/>
          </a:prstGeom>
          <a:noFill/>
          <a:ln/>
        </p:spPr>
        <p:txBody>
          <a:bodyPr wrap="square" lIns="254" tIns="254" rIns="254" bIns="254" rtlCol="0" anchor="ctr">
            <a:normAutofit/>
          </a:bodyPr>
          <a:lstStyle/>
          <a:p>
            <a:pPr algn="ctr" indent="0" marL="0">
              <a:buNone/>
            </a:pPr>
            <a:r>
              <a:rPr lang="en-US" sz="920" dirty="0">
                <a:solidFill>
                  <a:srgbClr val="101828"/>
                </a:solidFill>
              </a:rPr>
              <a:t>Citizen safeguards</a:t>
            </a:r>
            <a:endParaRPr lang="en-US" sz="920" dirty="0"/>
          </a:p>
          <a:p>
            <a:pPr algn="ctr" indent="0" marL="0">
              <a:buNone/>
            </a:pPr>
            <a:r>
              <a:rPr lang="en-US" sz="920" dirty="0">
                <a:solidFill>
                  <a:srgbClr val="101828"/>
                </a:solidFill>
              </a:rPr>
              <a:t>Notice, grace, appeal,</a:t>
            </a:r>
            <a:endParaRPr lang="en-US" sz="920" dirty="0"/>
          </a:p>
          <a:p>
            <a:pPr algn="ctr" indent="0" marL="0">
              <a:buNone/>
            </a:pPr>
            <a:r>
              <a:rPr lang="en-US" sz="920" dirty="0">
                <a:solidFill>
                  <a:srgbClr val="101828"/>
                </a:solidFill>
              </a:rPr>
              <a:t>call centre support</a:t>
            </a:r>
            <a:endParaRPr lang="en-US" sz="92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Address matching and configurable retention</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Matching should use confidence scoring, not exact string matching alone.</a:t>
            </a:r>
            <a:endParaRPr lang="en-US" sz="950" dirty="0"/>
          </a:p>
        </p:txBody>
      </p:sp>
      <p:sp>
        <p:nvSpPr>
          <p:cNvPr id="4" name="Shape 2"/>
          <p:cNvSpPr/>
          <p:nvPr/>
        </p:nvSpPr>
        <p:spPr>
          <a:xfrm>
            <a:off x="658368" y="1234440"/>
            <a:ext cx="1920240" cy="393192"/>
          </a:xfrm>
          <a:prstGeom prst="roundRect">
            <a:avLst>
              <a:gd name="adj" fmla="val 9302"/>
            </a:avLst>
          </a:prstGeom>
          <a:solidFill>
            <a:srgbClr val="FFFFFF"/>
          </a:solidFill>
          <a:ln w="12700">
            <a:solidFill>
              <a:srgbClr val="D0D5DD"/>
            </a:solidFill>
            <a:prstDash val="solid"/>
          </a:ln>
        </p:spPr>
      </p:sp>
      <p:sp>
        <p:nvSpPr>
          <p:cNvPr id="5" name="Text 3"/>
          <p:cNvSpPr/>
          <p:nvPr/>
        </p:nvSpPr>
        <p:spPr>
          <a:xfrm>
            <a:off x="731520" y="1307592"/>
            <a:ext cx="1773936" cy="24688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Aadhaar address</a:t>
            </a:r>
            <a:endParaRPr lang="en-US" sz="830" dirty="0"/>
          </a:p>
        </p:txBody>
      </p:sp>
      <p:sp>
        <p:nvSpPr>
          <p:cNvPr id="6" name="Shape 4"/>
          <p:cNvSpPr/>
          <p:nvPr/>
        </p:nvSpPr>
        <p:spPr>
          <a:xfrm>
            <a:off x="658368" y="1828800"/>
            <a:ext cx="1920240" cy="393192"/>
          </a:xfrm>
          <a:prstGeom prst="roundRect">
            <a:avLst>
              <a:gd name="adj" fmla="val 9302"/>
            </a:avLst>
          </a:prstGeom>
          <a:solidFill>
            <a:srgbClr val="FFFFFF"/>
          </a:solidFill>
          <a:ln w="12700">
            <a:solidFill>
              <a:srgbClr val="D0D5DD"/>
            </a:solidFill>
            <a:prstDash val="solid"/>
          </a:ln>
        </p:spPr>
      </p:sp>
      <p:sp>
        <p:nvSpPr>
          <p:cNvPr id="7" name="Text 5"/>
          <p:cNvSpPr/>
          <p:nvPr/>
        </p:nvSpPr>
        <p:spPr>
          <a:xfrm>
            <a:off x="731520" y="1901952"/>
            <a:ext cx="1773936" cy="24688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Ration card</a:t>
            </a:r>
            <a:endParaRPr lang="en-US" sz="830" dirty="0"/>
          </a:p>
        </p:txBody>
      </p:sp>
      <p:sp>
        <p:nvSpPr>
          <p:cNvPr id="8" name="Shape 6"/>
          <p:cNvSpPr/>
          <p:nvPr/>
        </p:nvSpPr>
        <p:spPr>
          <a:xfrm>
            <a:off x="658368" y="2423160"/>
            <a:ext cx="1920240" cy="393192"/>
          </a:xfrm>
          <a:prstGeom prst="roundRect">
            <a:avLst>
              <a:gd name="adj" fmla="val 9302"/>
            </a:avLst>
          </a:prstGeom>
          <a:solidFill>
            <a:srgbClr val="FFFFFF"/>
          </a:solidFill>
          <a:ln w="12700">
            <a:solidFill>
              <a:srgbClr val="D0D5DD"/>
            </a:solidFill>
            <a:prstDash val="solid"/>
          </a:ln>
        </p:spPr>
      </p:sp>
      <p:sp>
        <p:nvSpPr>
          <p:cNvPr id="9" name="Text 7"/>
          <p:cNvSpPr/>
          <p:nvPr/>
        </p:nvSpPr>
        <p:spPr>
          <a:xfrm>
            <a:off x="731520" y="2496312"/>
            <a:ext cx="1773936" cy="24688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Optional address proofs</a:t>
            </a:r>
            <a:endParaRPr lang="en-US" sz="830" dirty="0"/>
          </a:p>
        </p:txBody>
      </p:sp>
      <p:sp>
        <p:nvSpPr>
          <p:cNvPr id="10" name="Shape 8"/>
          <p:cNvSpPr/>
          <p:nvPr/>
        </p:nvSpPr>
        <p:spPr>
          <a:xfrm>
            <a:off x="658368" y="3017520"/>
            <a:ext cx="1920240" cy="393192"/>
          </a:xfrm>
          <a:prstGeom prst="roundRect">
            <a:avLst>
              <a:gd name="adj" fmla="val 9302"/>
            </a:avLst>
          </a:prstGeom>
          <a:solidFill>
            <a:srgbClr val="FFFFFF"/>
          </a:solidFill>
          <a:ln w="12700">
            <a:solidFill>
              <a:srgbClr val="D0D5DD"/>
            </a:solidFill>
            <a:prstDash val="solid"/>
          </a:ln>
        </p:spPr>
      </p:sp>
      <p:sp>
        <p:nvSpPr>
          <p:cNvPr id="11" name="Text 9"/>
          <p:cNvSpPr/>
          <p:nvPr/>
        </p:nvSpPr>
        <p:spPr>
          <a:xfrm>
            <a:off x="731520" y="3090672"/>
            <a:ext cx="1773936" cy="24688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Mobile number</a:t>
            </a:r>
            <a:endParaRPr lang="en-US" sz="830" dirty="0"/>
          </a:p>
        </p:txBody>
      </p:sp>
      <p:sp>
        <p:nvSpPr>
          <p:cNvPr id="12" name="Shape 10"/>
          <p:cNvSpPr/>
          <p:nvPr/>
        </p:nvSpPr>
        <p:spPr>
          <a:xfrm>
            <a:off x="658368" y="3611880"/>
            <a:ext cx="1920240" cy="393192"/>
          </a:xfrm>
          <a:prstGeom prst="roundRect">
            <a:avLst>
              <a:gd name="adj" fmla="val 9302"/>
            </a:avLst>
          </a:prstGeom>
          <a:solidFill>
            <a:srgbClr val="FFFFFF"/>
          </a:solidFill>
          <a:ln w="12700">
            <a:solidFill>
              <a:srgbClr val="D0D5DD"/>
            </a:solidFill>
            <a:prstDash val="solid"/>
          </a:ln>
        </p:spPr>
      </p:sp>
      <p:sp>
        <p:nvSpPr>
          <p:cNvPr id="13" name="Text 11"/>
          <p:cNvSpPr/>
          <p:nvPr/>
        </p:nvSpPr>
        <p:spPr>
          <a:xfrm>
            <a:off x="731520" y="3685032"/>
            <a:ext cx="1773936" cy="246888"/>
          </a:xfrm>
          <a:prstGeom prst="rect">
            <a:avLst/>
          </a:prstGeom>
          <a:noFill/>
          <a:ln/>
        </p:spPr>
        <p:txBody>
          <a:bodyPr wrap="square" lIns="254" tIns="254" rIns="254" bIns="254" rtlCol="0" anchor="ctr">
            <a:normAutofit/>
          </a:bodyPr>
          <a:lstStyle/>
          <a:p>
            <a:pPr algn="ctr" indent="0" marL="0">
              <a:buNone/>
            </a:pPr>
            <a:r>
              <a:rPr lang="en-US" sz="830" b="1" dirty="0">
                <a:solidFill>
                  <a:srgbClr val="101828"/>
                </a:solidFill>
              </a:rPr>
              <a:t>Service-centre metadata</a:t>
            </a:r>
            <a:endParaRPr lang="en-US" sz="830" dirty="0"/>
          </a:p>
        </p:txBody>
      </p:sp>
      <p:sp>
        <p:nvSpPr>
          <p:cNvPr id="14" name="Shape 12"/>
          <p:cNvSpPr/>
          <p:nvPr/>
        </p:nvSpPr>
        <p:spPr>
          <a:xfrm>
            <a:off x="3703320" y="1325880"/>
            <a:ext cx="2011680" cy="1005840"/>
          </a:xfrm>
          <a:prstGeom prst="roundRect">
            <a:avLst>
              <a:gd name="adj" fmla="val 3636"/>
            </a:avLst>
          </a:prstGeom>
          <a:solidFill>
            <a:srgbClr val="E0F2FE"/>
          </a:solidFill>
          <a:ln w="12700">
            <a:solidFill>
              <a:srgbClr val="155EEF"/>
            </a:solidFill>
            <a:prstDash val="solid"/>
          </a:ln>
          <a:effectLst>
            <a:outerShdw sx="100000" sy="100000" kx="0" ky="0" algn="bl" rotWithShape="0" blurRad="25400" dist="12700" dir="2700000">
              <a:srgbClr val="000000">
                <a:alpha val="12000"/>
              </a:srgbClr>
            </a:outerShdw>
          </a:effectLst>
        </p:spPr>
      </p:sp>
      <p:sp>
        <p:nvSpPr>
          <p:cNvPr id="15" name="Text 13"/>
          <p:cNvSpPr/>
          <p:nvPr/>
        </p:nvSpPr>
        <p:spPr>
          <a:xfrm>
            <a:off x="3776472" y="1399032"/>
            <a:ext cx="1865376" cy="859536"/>
          </a:xfrm>
          <a:prstGeom prst="rect">
            <a:avLst/>
          </a:prstGeom>
          <a:noFill/>
          <a:ln/>
        </p:spPr>
        <p:txBody>
          <a:bodyPr wrap="square" lIns="254" tIns="254" rIns="254" bIns="254" rtlCol="0" anchor="ctr">
            <a:normAutofit/>
          </a:bodyPr>
          <a:lstStyle/>
          <a:p>
            <a:pPr algn="ctr" indent="0" marL="0">
              <a:buNone/>
            </a:pPr>
            <a:r>
              <a:rPr lang="en-US" sz="1100" b="1" dirty="0">
                <a:solidFill>
                  <a:srgbClr val="101828"/>
                </a:solidFill>
              </a:rPr>
              <a:t>Address</a:t>
            </a:r>
            <a:endParaRPr lang="en-US" sz="1100" dirty="0"/>
          </a:p>
          <a:p>
            <a:pPr algn="ctr" indent="0" marL="0">
              <a:buNone/>
            </a:pPr>
            <a:r>
              <a:rPr lang="en-US" sz="1100" b="1" dirty="0">
                <a:solidFill>
                  <a:srgbClr val="101828"/>
                </a:solidFill>
              </a:rPr>
              <a:t>standardisation</a:t>
            </a:r>
            <a:endParaRPr lang="en-US" sz="1100" dirty="0"/>
          </a:p>
          <a:p>
            <a:pPr algn="ctr" indent="0" marL="0">
              <a:buNone/>
            </a:pPr>
            <a:r>
              <a:rPr lang="en-US" sz="1100" b="1" dirty="0">
                <a:solidFill>
                  <a:srgbClr val="101828"/>
                </a:solidFill>
              </a:rPr>
              <a:t>engine</a:t>
            </a:r>
            <a:endParaRPr lang="en-US" sz="1100" dirty="0"/>
          </a:p>
        </p:txBody>
      </p:sp>
      <p:sp>
        <p:nvSpPr>
          <p:cNvPr id="16" name="Shape 14"/>
          <p:cNvSpPr/>
          <p:nvPr/>
        </p:nvSpPr>
        <p:spPr>
          <a:xfrm>
            <a:off x="6355080" y="1325880"/>
            <a:ext cx="2011680" cy="1005840"/>
          </a:xfrm>
          <a:prstGeom prst="roundRect">
            <a:avLst>
              <a:gd name="adj" fmla="val 3636"/>
            </a:avLst>
          </a:prstGeom>
          <a:solidFill>
            <a:srgbClr val="FFFAEB"/>
          </a:solidFill>
          <a:ln w="12700">
            <a:solidFill>
              <a:srgbClr val="F5B301"/>
            </a:solidFill>
            <a:prstDash val="solid"/>
          </a:ln>
          <a:effectLst>
            <a:outerShdw sx="100000" sy="100000" kx="0" ky="0" algn="bl" rotWithShape="0" blurRad="25400" dist="12700" dir="2700000">
              <a:srgbClr val="000000">
                <a:alpha val="12000"/>
              </a:srgbClr>
            </a:outerShdw>
          </a:effectLst>
        </p:spPr>
      </p:sp>
      <p:sp>
        <p:nvSpPr>
          <p:cNvPr id="17" name="Text 15"/>
          <p:cNvSpPr/>
          <p:nvPr/>
        </p:nvSpPr>
        <p:spPr>
          <a:xfrm>
            <a:off x="6428232" y="1399032"/>
            <a:ext cx="1865376" cy="859536"/>
          </a:xfrm>
          <a:prstGeom prst="rect">
            <a:avLst/>
          </a:prstGeom>
          <a:noFill/>
          <a:ln/>
        </p:spPr>
        <p:txBody>
          <a:bodyPr wrap="square" lIns="254" tIns="254" rIns="254" bIns="254" rtlCol="0" anchor="ctr">
            <a:normAutofit/>
          </a:bodyPr>
          <a:lstStyle/>
          <a:p>
            <a:pPr algn="ctr" indent="0" marL="0">
              <a:buNone/>
            </a:pPr>
            <a:r>
              <a:rPr lang="en-US" sz="1100" b="1" dirty="0">
                <a:solidFill>
                  <a:srgbClr val="101828"/>
                </a:solidFill>
              </a:rPr>
              <a:t>Household</a:t>
            </a:r>
            <a:endParaRPr lang="en-US" sz="1100" dirty="0"/>
          </a:p>
          <a:p>
            <a:pPr algn="ctr" indent="0" marL="0">
              <a:buNone/>
            </a:pPr>
            <a:r>
              <a:rPr lang="en-US" sz="1100" b="1" dirty="0">
                <a:solidFill>
                  <a:srgbClr val="101828"/>
                </a:solidFill>
              </a:rPr>
              <a:t>cluster &amp; score</a:t>
            </a:r>
            <a:endParaRPr lang="en-US" sz="1100" dirty="0"/>
          </a:p>
        </p:txBody>
      </p:sp>
      <p:sp>
        <p:nvSpPr>
          <p:cNvPr id="18" name="Shape 16"/>
          <p:cNvSpPr/>
          <p:nvPr/>
        </p:nvSpPr>
        <p:spPr>
          <a:xfrm>
            <a:off x="9006840" y="1325880"/>
            <a:ext cx="2011680" cy="1005840"/>
          </a:xfrm>
          <a:prstGeom prst="roundRect">
            <a:avLst>
              <a:gd name="adj" fmla="val 3636"/>
            </a:avLst>
          </a:prstGeom>
          <a:solidFill>
            <a:srgbClr val="ECFDF3"/>
          </a:solidFill>
          <a:ln w="12700">
            <a:solidFill>
              <a:srgbClr val="0E7C55"/>
            </a:solidFill>
            <a:prstDash val="solid"/>
          </a:ln>
          <a:effectLst>
            <a:outerShdw sx="100000" sy="100000" kx="0" ky="0" algn="bl" rotWithShape="0" blurRad="25400" dist="12700" dir="2700000">
              <a:srgbClr val="000000">
                <a:alpha val="12000"/>
              </a:srgbClr>
            </a:outerShdw>
          </a:effectLst>
        </p:spPr>
      </p:sp>
      <p:sp>
        <p:nvSpPr>
          <p:cNvPr id="19" name="Text 17"/>
          <p:cNvSpPr/>
          <p:nvPr/>
        </p:nvSpPr>
        <p:spPr>
          <a:xfrm>
            <a:off x="9079992" y="1399032"/>
            <a:ext cx="1865376" cy="859536"/>
          </a:xfrm>
          <a:prstGeom prst="rect">
            <a:avLst/>
          </a:prstGeom>
          <a:noFill/>
          <a:ln/>
        </p:spPr>
        <p:txBody>
          <a:bodyPr wrap="square" lIns="254" tIns="254" rIns="254" bIns="254" rtlCol="0" anchor="ctr">
            <a:normAutofit/>
          </a:bodyPr>
          <a:lstStyle/>
          <a:p>
            <a:pPr algn="ctr" indent="0" marL="0">
              <a:buNone/>
            </a:pPr>
            <a:r>
              <a:rPr lang="en-US" sz="1100" b="1" dirty="0">
                <a:solidFill>
                  <a:srgbClr val="101828"/>
                </a:solidFill>
              </a:rPr>
              <a:t>Policy rule</a:t>
            </a:r>
            <a:endParaRPr lang="en-US" sz="1100" dirty="0"/>
          </a:p>
          <a:p>
            <a:pPr algn="ctr" indent="0" marL="0">
              <a:buNone/>
            </a:pPr>
            <a:r>
              <a:rPr lang="en-US" sz="1100" b="1" dirty="0">
                <a:solidFill>
                  <a:srgbClr val="101828"/>
                </a:solidFill>
              </a:rPr>
              <a:t>engine</a:t>
            </a:r>
            <a:endParaRPr lang="en-US" sz="1100" dirty="0"/>
          </a:p>
        </p:txBody>
      </p:sp>
      <p:sp>
        <p:nvSpPr>
          <p:cNvPr id="20" name="Shape 18"/>
          <p:cNvSpPr/>
          <p:nvPr/>
        </p:nvSpPr>
        <p:spPr>
          <a:xfrm>
            <a:off x="2587752" y="1426464"/>
            <a:ext cx="1115568" cy="402336"/>
          </a:xfrm>
          <a:prstGeom prst="line">
            <a:avLst/>
          </a:prstGeom>
          <a:noFill/>
          <a:ln w="15240">
            <a:solidFill>
              <a:srgbClr val="D0D5DD"/>
            </a:solidFill>
            <a:prstDash val="solid"/>
            <a:headEnd type="none"/>
            <a:tailEnd type="triangle"/>
          </a:ln>
        </p:spPr>
      </p:sp>
      <p:sp>
        <p:nvSpPr>
          <p:cNvPr id="21" name="Shape 19"/>
          <p:cNvSpPr/>
          <p:nvPr/>
        </p:nvSpPr>
        <p:spPr>
          <a:xfrm>
            <a:off x="2587752" y="2020824"/>
            <a:ext cx="1115568" cy="-192024"/>
          </a:xfrm>
          <a:prstGeom prst="line">
            <a:avLst/>
          </a:prstGeom>
          <a:noFill/>
          <a:ln w="15240">
            <a:solidFill>
              <a:srgbClr val="D0D5DD"/>
            </a:solidFill>
            <a:prstDash val="solid"/>
            <a:headEnd type="none"/>
            <a:tailEnd type="triangle"/>
          </a:ln>
        </p:spPr>
      </p:sp>
      <p:sp>
        <p:nvSpPr>
          <p:cNvPr id="22" name="Shape 20"/>
          <p:cNvSpPr/>
          <p:nvPr/>
        </p:nvSpPr>
        <p:spPr>
          <a:xfrm>
            <a:off x="2587752" y="2615184"/>
            <a:ext cx="1115568" cy="-786384"/>
          </a:xfrm>
          <a:prstGeom prst="line">
            <a:avLst/>
          </a:prstGeom>
          <a:noFill/>
          <a:ln w="15240">
            <a:solidFill>
              <a:srgbClr val="D0D5DD"/>
            </a:solidFill>
            <a:prstDash val="solid"/>
            <a:headEnd type="none"/>
            <a:tailEnd type="triangle"/>
          </a:ln>
        </p:spPr>
      </p:sp>
      <p:sp>
        <p:nvSpPr>
          <p:cNvPr id="23" name="Shape 21"/>
          <p:cNvSpPr/>
          <p:nvPr/>
        </p:nvSpPr>
        <p:spPr>
          <a:xfrm>
            <a:off x="2587752" y="3209544"/>
            <a:ext cx="1115568" cy="-1380744"/>
          </a:xfrm>
          <a:prstGeom prst="line">
            <a:avLst/>
          </a:prstGeom>
          <a:noFill/>
          <a:ln w="15240">
            <a:solidFill>
              <a:srgbClr val="D0D5DD"/>
            </a:solidFill>
            <a:prstDash val="solid"/>
            <a:headEnd type="none"/>
            <a:tailEnd type="triangle"/>
          </a:ln>
        </p:spPr>
      </p:sp>
      <p:sp>
        <p:nvSpPr>
          <p:cNvPr id="24" name="Shape 22"/>
          <p:cNvSpPr/>
          <p:nvPr/>
        </p:nvSpPr>
        <p:spPr>
          <a:xfrm>
            <a:off x="2587752" y="3803904"/>
            <a:ext cx="1115568" cy="-1975104"/>
          </a:xfrm>
          <a:prstGeom prst="line">
            <a:avLst/>
          </a:prstGeom>
          <a:noFill/>
          <a:ln w="15240">
            <a:solidFill>
              <a:srgbClr val="D0D5DD"/>
            </a:solidFill>
            <a:prstDash val="solid"/>
            <a:headEnd type="none"/>
            <a:tailEnd type="triangle"/>
          </a:ln>
        </p:spPr>
      </p:sp>
      <p:sp>
        <p:nvSpPr>
          <p:cNvPr id="25" name="Shape 23"/>
          <p:cNvSpPr/>
          <p:nvPr/>
        </p:nvSpPr>
        <p:spPr>
          <a:xfrm>
            <a:off x="5715000" y="1828800"/>
            <a:ext cx="640080" cy="0"/>
          </a:xfrm>
          <a:prstGeom prst="line">
            <a:avLst/>
          </a:prstGeom>
          <a:noFill/>
          <a:ln w="15240">
            <a:solidFill>
              <a:srgbClr val="D0D5DD"/>
            </a:solidFill>
            <a:prstDash val="solid"/>
            <a:headEnd type="none"/>
            <a:tailEnd type="triangle"/>
          </a:ln>
        </p:spPr>
      </p:sp>
      <p:sp>
        <p:nvSpPr>
          <p:cNvPr id="26" name="Shape 24"/>
          <p:cNvSpPr/>
          <p:nvPr/>
        </p:nvSpPr>
        <p:spPr>
          <a:xfrm>
            <a:off x="8366760" y="1828800"/>
            <a:ext cx="640080" cy="0"/>
          </a:xfrm>
          <a:prstGeom prst="line">
            <a:avLst/>
          </a:prstGeom>
          <a:noFill/>
          <a:ln w="15240">
            <a:solidFill>
              <a:srgbClr val="D0D5DD"/>
            </a:solidFill>
            <a:prstDash val="solid"/>
            <a:headEnd type="none"/>
            <a:tailEnd type="triangle"/>
          </a:ln>
        </p:spPr>
      </p:sp>
      <p:sp>
        <p:nvSpPr>
          <p:cNvPr id="27" name="Text 25"/>
          <p:cNvSpPr/>
          <p:nvPr/>
        </p:nvSpPr>
        <p:spPr>
          <a:xfrm>
            <a:off x="914400" y="4297680"/>
            <a:ext cx="1600200" cy="246888"/>
          </a:xfrm>
          <a:prstGeom prst="rect">
            <a:avLst/>
          </a:prstGeom>
          <a:solidFill>
            <a:srgbClr val="155EEF"/>
          </a:solidFill>
          <a:ln>
            <a:solidFill>
              <a:srgbClr val="155EEF">
                <a:alpha val="0"/>
              </a:srgbClr>
            </a:solidFill>
          </a:ln>
        </p:spPr>
        <p:txBody>
          <a:bodyPr wrap="square" lIns="0" tIns="0" rIns="0" bIns="0" rtlCol="0" anchor="ctr"/>
          <a:lstStyle/>
          <a:p>
            <a:pPr algn="ctr" indent="0" marL="0">
              <a:buNone/>
            </a:pPr>
            <a:r>
              <a:rPr lang="en-US" sz="800" b="1" dirty="0">
                <a:solidFill>
                  <a:srgbClr val="FFFFFF"/>
                </a:solidFill>
              </a:rPr>
              <a:t>Oldest member</a:t>
            </a:r>
            <a:endParaRPr lang="en-US" sz="800" dirty="0"/>
          </a:p>
        </p:txBody>
      </p:sp>
      <p:sp>
        <p:nvSpPr>
          <p:cNvPr id="28" name="Text 26"/>
          <p:cNvSpPr/>
          <p:nvPr/>
        </p:nvSpPr>
        <p:spPr>
          <a:xfrm>
            <a:off x="3090672" y="4297680"/>
            <a:ext cx="1600200" cy="246888"/>
          </a:xfrm>
          <a:prstGeom prst="rect">
            <a:avLst/>
          </a:prstGeom>
          <a:solidFill>
            <a:srgbClr val="7A5AF8"/>
          </a:solidFill>
          <a:ln>
            <a:solidFill>
              <a:srgbClr val="7A5AF8">
                <a:alpha val="0"/>
              </a:srgbClr>
            </a:solidFill>
          </a:ln>
        </p:spPr>
        <p:txBody>
          <a:bodyPr wrap="square" lIns="0" tIns="0" rIns="0" bIns="0" rtlCol="0" anchor="ctr"/>
          <a:lstStyle/>
          <a:p>
            <a:pPr algn="ctr" indent="0" marL="0">
              <a:buNone/>
            </a:pPr>
            <a:r>
              <a:rPr lang="en-US" sz="800" b="1" dirty="0">
                <a:solidFill>
                  <a:srgbClr val="FFFFFF"/>
                </a:solidFill>
              </a:rPr>
              <a:t>Youngest member</a:t>
            </a:r>
            <a:endParaRPr lang="en-US" sz="800" dirty="0"/>
          </a:p>
        </p:txBody>
      </p:sp>
      <p:sp>
        <p:nvSpPr>
          <p:cNvPr id="29" name="Text 27"/>
          <p:cNvSpPr/>
          <p:nvPr/>
        </p:nvSpPr>
        <p:spPr>
          <a:xfrm>
            <a:off x="5266944" y="4297680"/>
            <a:ext cx="1600200" cy="246888"/>
          </a:xfrm>
          <a:prstGeom prst="rect">
            <a:avLst/>
          </a:prstGeom>
          <a:solidFill>
            <a:srgbClr val="0E7C55"/>
          </a:solidFill>
          <a:ln>
            <a:solidFill>
              <a:srgbClr val="0E7C55">
                <a:alpha val="0"/>
              </a:srgbClr>
            </a:solidFill>
          </a:ln>
        </p:spPr>
        <p:txBody>
          <a:bodyPr wrap="square" lIns="0" tIns="0" rIns="0" bIns="0" rtlCol="0" anchor="ctr"/>
          <a:lstStyle/>
          <a:p>
            <a:pPr algn="ctr" indent="0" marL="0">
              <a:buNone/>
            </a:pPr>
            <a:r>
              <a:rPr lang="en-US" sz="800" b="1" dirty="0">
                <a:solidFill>
                  <a:srgbClr val="FFFFFF"/>
                </a:solidFill>
              </a:rPr>
              <a:t>Ration-card head</a:t>
            </a:r>
            <a:endParaRPr lang="en-US" sz="800" dirty="0"/>
          </a:p>
        </p:txBody>
      </p:sp>
      <p:sp>
        <p:nvSpPr>
          <p:cNvPr id="30" name="Text 28"/>
          <p:cNvSpPr/>
          <p:nvPr/>
        </p:nvSpPr>
        <p:spPr>
          <a:xfrm>
            <a:off x="7443216" y="4297680"/>
            <a:ext cx="1600200" cy="246888"/>
          </a:xfrm>
          <a:prstGeom prst="rect">
            <a:avLst/>
          </a:prstGeom>
          <a:solidFill>
            <a:srgbClr val="F5B301"/>
          </a:solidFill>
          <a:ln>
            <a:solidFill>
              <a:srgbClr val="F5B301">
                <a:alpha val="0"/>
              </a:srgbClr>
            </a:solidFill>
          </a:ln>
        </p:spPr>
        <p:txBody>
          <a:bodyPr wrap="square" lIns="0" tIns="0" rIns="0" bIns="0" rtlCol="0" anchor="ctr"/>
          <a:lstStyle/>
          <a:p>
            <a:pPr algn="ctr" indent="0" marL="0">
              <a:buNone/>
            </a:pPr>
            <a:r>
              <a:rPr lang="en-US" sz="800" b="1" dirty="0">
                <a:solidFill>
                  <a:srgbClr val="FFFFFF"/>
                </a:solidFill>
              </a:rPr>
              <a:t>Senior-most living woman</a:t>
            </a:r>
            <a:endParaRPr lang="en-US" sz="800" dirty="0"/>
          </a:p>
        </p:txBody>
      </p:sp>
      <p:sp>
        <p:nvSpPr>
          <p:cNvPr id="31" name="Text 29"/>
          <p:cNvSpPr/>
          <p:nvPr/>
        </p:nvSpPr>
        <p:spPr>
          <a:xfrm>
            <a:off x="9619488" y="4297680"/>
            <a:ext cx="1600200" cy="246888"/>
          </a:xfrm>
          <a:prstGeom prst="rect">
            <a:avLst/>
          </a:prstGeom>
          <a:solidFill>
            <a:srgbClr val="B42318"/>
          </a:solidFill>
          <a:ln>
            <a:solidFill>
              <a:srgbClr val="B42318">
                <a:alpha val="0"/>
              </a:srgbClr>
            </a:solidFill>
          </a:ln>
        </p:spPr>
        <p:txBody>
          <a:bodyPr wrap="square" lIns="0" tIns="0" rIns="0" bIns="0" rtlCol="0" anchor="ctr"/>
          <a:lstStyle/>
          <a:p>
            <a:pPr algn="ctr" indent="0" marL="0">
              <a:buNone/>
            </a:pPr>
            <a:r>
              <a:rPr lang="en-US" sz="800" b="1" dirty="0">
                <a:solidFill>
                  <a:srgbClr val="FFFFFF"/>
                </a:solidFill>
              </a:rPr>
              <a:t>Manual exception</a:t>
            </a:r>
            <a:endParaRPr lang="en-US" sz="800" dirty="0"/>
          </a:p>
        </p:txBody>
      </p:sp>
      <p:sp>
        <p:nvSpPr>
          <p:cNvPr id="32" name="Text 30"/>
          <p:cNvSpPr/>
          <p:nvPr/>
        </p:nvSpPr>
        <p:spPr>
          <a:xfrm>
            <a:off x="411480" y="6144768"/>
            <a:ext cx="11018520" cy="228600"/>
          </a:xfrm>
          <a:prstGeom prst="rect">
            <a:avLst/>
          </a:prstGeom>
          <a:noFill/>
          <a:ln/>
        </p:spPr>
        <p:txBody>
          <a:bodyPr wrap="square" lIns="0" tIns="0" rIns="0" bIns="0" rtlCol="0" anchor="ctr"/>
          <a:lstStyle/>
          <a:p>
            <a:pPr indent="0" marL="0">
              <a:buNone/>
            </a:pPr>
            <a:r>
              <a:rPr lang="en-US" sz="730" dirty="0">
                <a:solidFill>
                  <a:srgbClr val="667085"/>
                </a:solidFill>
              </a:rPr>
              <a:t>Recommended: automatic decisions only for high-confidence clusters; lower-confidence matches go to manual review before DBT impact.</a:t>
            </a:r>
            <a:endParaRPr lang="en-US" sz="73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Life-proof cycle and DBT control</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Periodic re-verification confirms that the retained beneficiary remains alive and eligible.</a:t>
            </a:r>
            <a:endParaRPr lang="en-US" sz="950" dirty="0"/>
          </a:p>
        </p:txBody>
      </p:sp>
      <p:sp>
        <p:nvSpPr>
          <p:cNvPr id="4" name="Shape 2"/>
          <p:cNvSpPr/>
          <p:nvPr/>
        </p:nvSpPr>
        <p:spPr>
          <a:xfrm>
            <a:off x="502920" y="1600200"/>
            <a:ext cx="1143000" cy="777240"/>
          </a:xfrm>
          <a:prstGeom prst="roundRect">
            <a:avLst>
              <a:gd name="adj" fmla="val 4706"/>
            </a:avLst>
          </a:prstGeom>
          <a:solidFill>
            <a:srgbClr val="E0F2FE"/>
          </a:solidFill>
          <a:ln w="12700">
            <a:solidFill>
              <a:srgbClr val="155EEF"/>
            </a:solidFill>
            <a:prstDash val="solid"/>
          </a:ln>
        </p:spPr>
      </p:sp>
      <p:sp>
        <p:nvSpPr>
          <p:cNvPr id="5" name="Text 3"/>
          <p:cNvSpPr/>
          <p:nvPr/>
        </p:nvSpPr>
        <p:spPr>
          <a:xfrm>
            <a:off x="576072" y="1673352"/>
            <a:ext cx="996696" cy="630936"/>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Cycle starts</a:t>
            </a:r>
            <a:endParaRPr lang="en-US" sz="780" dirty="0"/>
          </a:p>
          <a:p>
            <a:pPr algn="ctr" indent="0" marL="0">
              <a:buNone/>
            </a:pPr>
            <a:r>
              <a:rPr lang="en-US" sz="780" b="1" dirty="0">
                <a:solidFill>
                  <a:srgbClr val="101828"/>
                </a:solidFill>
              </a:rPr>
              <a:t>2 months / configurable</a:t>
            </a:r>
            <a:endParaRPr lang="en-US" sz="780" dirty="0"/>
          </a:p>
        </p:txBody>
      </p:sp>
      <p:sp>
        <p:nvSpPr>
          <p:cNvPr id="6" name="Shape 4"/>
          <p:cNvSpPr/>
          <p:nvPr/>
        </p:nvSpPr>
        <p:spPr>
          <a:xfrm>
            <a:off x="1645920" y="1993392"/>
            <a:ext cx="411480" cy="0"/>
          </a:xfrm>
          <a:prstGeom prst="line">
            <a:avLst/>
          </a:prstGeom>
          <a:noFill/>
          <a:ln w="15240">
            <a:solidFill>
              <a:srgbClr val="667085"/>
            </a:solidFill>
            <a:prstDash val="solid"/>
            <a:headEnd type="none"/>
            <a:tailEnd type="triangle"/>
          </a:ln>
        </p:spPr>
      </p:sp>
      <p:sp>
        <p:nvSpPr>
          <p:cNvPr id="7" name="Shape 5"/>
          <p:cNvSpPr/>
          <p:nvPr/>
        </p:nvSpPr>
        <p:spPr>
          <a:xfrm>
            <a:off x="2103120" y="1600200"/>
            <a:ext cx="1143000" cy="777240"/>
          </a:xfrm>
          <a:prstGeom prst="roundRect">
            <a:avLst>
              <a:gd name="adj" fmla="val 4706"/>
            </a:avLst>
          </a:prstGeom>
          <a:solidFill>
            <a:srgbClr val="EEF4FF"/>
          </a:solidFill>
          <a:ln w="12700">
            <a:solidFill>
              <a:srgbClr val="155EEF"/>
            </a:solidFill>
            <a:prstDash val="solid"/>
          </a:ln>
        </p:spPr>
      </p:sp>
      <p:sp>
        <p:nvSpPr>
          <p:cNvPr id="8" name="Text 6"/>
          <p:cNvSpPr/>
          <p:nvPr/>
        </p:nvSpPr>
        <p:spPr>
          <a:xfrm>
            <a:off x="2176272" y="1673352"/>
            <a:ext cx="996696" cy="630936"/>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Reminder</a:t>
            </a:r>
            <a:endParaRPr lang="en-US" sz="780" dirty="0"/>
          </a:p>
          <a:p>
            <a:pPr algn="ctr" indent="0" marL="0">
              <a:buNone/>
            </a:pPr>
            <a:r>
              <a:rPr lang="en-US" sz="780" b="1" dirty="0">
                <a:solidFill>
                  <a:srgbClr val="101828"/>
                </a:solidFill>
              </a:rPr>
              <a:t>SMS + IVR</a:t>
            </a:r>
            <a:endParaRPr lang="en-US" sz="780" dirty="0"/>
          </a:p>
        </p:txBody>
      </p:sp>
      <p:sp>
        <p:nvSpPr>
          <p:cNvPr id="9" name="Shape 7"/>
          <p:cNvSpPr/>
          <p:nvPr/>
        </p:nvSpPr>
        <p:spPr>
          <a:xfrm>
            <a:off x="3246120" y="1993392"/>
            <a:ext cx="411480" cy="0"/>
          </a:xfrm>
          <a:prstGeom prst="line">
            <a:avLst/>
          </a:prstGeom>
          <a:noFill/>
          <a:ln w="15240">
            <a:solidFill>
              <a:srgbClr val="667085"/>
            </a:solidFill>
            <a:prstDash val="solid"/>
            <a:headEnd type="none"/>
            <a:tailEnd type="triangle"/>
          </a:ln>
        </p:spPr>
      </p:sp>
      <p:sp>
        <p:nvSpPr>
          <p:cNvPr id="10" name="Shape 8"/>
          <p:cNvSpPr/>
          <p:nvPr/>
        </p:nvSpPr>
        <p:spPr>
          <a:xfrm>
            <a:off x="3703320" y="1600200"/>
            <a:ext cx="1143000" cy="777240"/>
          </a:xfrm>
          <a:prstGeom prst="roundRect">
            <a:avLst>
              <a:gd name="adj" fmla="val 4706"/>
            </a:avLst>
          </a:prstGeom>
          <a:solidFill>
            <a:srgbClr val="ECFDF3"/>
          </a:solidFill>
          <a:ln w="12700">
            <a:solidFill>
              <a:srgbClr val="155EEF"/>
            </a:solidFill>
            <a:prstDash val="solid"/>
          </a:ln>
        </p:spPr>
      </p:sp>
      <p:sp>
        <p:nvSpPr>
          <p:cNvPr id="11" name="Text 9"/>
          <p:cNvSpPr/>
          <p:nvPr/>
        </p:nvSpPr>
        <p:spPr>
          <a:xfrm>
            <a:off x="3776472" y="1673352"/>
            <a:ext cx="996696" cy="630936"/>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Face / biometric</a:t>
            </a:r>
            <a:endParaRPr lang="en-US" sz="780" dirty="0"/>
          </a:p>
          <a:p>
            <a:pPr algn="ctr" indent="0" marL="0">
              <a:buNone/>
            </a:pPr>
            <a:r>
              <a:rPr lang="en-US" sz="780" b="1" dirty="0">
                <a:solidFill>
                  <a:srgbClr val="101828"/>
                </a:solidFill>
              </a:rPr>
              <a:t>life-proof</a:t>
            </a:r>
            <a:endParaRPr lang="en-US" sz="780" dirty="0"/>
          </a:p>
        </p:txBody>
      </p:sp>
      <p:sp>
        <p:nvSpPr>
          <p:cNvPr id="12" name="Shape 10"/>
          <p:cNvSpPr/>
          <p:nvPr/>
        </p:nvSpPr>
        <p:spPr>
          <a:xfrm>
            <a:off x="4846320" y="1993392"/>
            <a:ext cx="411480" cy="0"/>
          </a:xfrm>
          <a:prstGeom prst="line">
            <a:avLst/>
          </a:prstGeom>
          <a:noFill/>
          <a:ln w="15240">
            <a:solidFill>
              <a:srgbClr val="667085"/>
            </a:solidFill>
            <a:prstDash val="solid"/>
            <a:headEnd type="none"/>
            <a:tailEnd type="triangle"/>
          </a:ln>
        </p:spPr>
      </p:sp>
      <p:sp>
        <p:nvSpPr>
          <p:cNvPr id="13" name="Shape 11"/>
          <p:cNvSpPr/>
          <p:nvPr/>
        </p:nvSpPr>
        <p:spPr>
          <a:xfrm>
            <a:off x="5303520" y="1600200"/>
            <a:ext cx="1143000" cy="777240"/>
          </a:xfrm>
          <a:prstGeom prst="roundRect">
            <a:avLst>
              <a:gd name="adj" fmla="val 4706"/>
            </a:avLst>
          </a:prstGeom>
          <a:solidFill>
            <a:srgbClr val="FFFAEB"/>
          </a:solidFill>
          <a:ln w="12700">
            <a:solidFill>
              <a:srgbClr val="155EEF"/>
            </a:solidFill>
            <a:prstDash val="solid"/>
          </a:ln>
        </p:spPr>
      </p:sp>
      <p:sp>
        <p:nvSpPr>
          <p:cNvPr id="14" name="Text 12"/>
          <p:cNvSpPr/>
          <p:nvPr/>
        </p:nvSpPr>
        <p:spPr>
          <a:xfrm>
            <a:off x="5376672" y="1673352"/>
            <a:ext cx="996696" cy="630936"/>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Success?</a:t>
            </a:r>
            <a:endParaRPr lang="en-US" sz="780" dirty="0"/>
          </a:p>
        </p:txBody>
      </p:sp>
      <p:sp>
        <p:nvSpPr>
          <p:cNvPr id="15" name="Shape 13"/>
          <p:cNvSpPr/>
          <p:nvPr/>
        </p:nvSpPr>
        <p:spPr>
          <a:xfrm>
            <a:off x="6446520" y="1993392"/>
            <a:ext cx="411480" cy="0"/>
          </a:xfrm>
          <a:prstGeom prst="line">
            <a:avLst/>
          </a:prstGeom>
          <a:noFill/>
          <a:ln w="15240">
            <a:solidFill>
              <a:srgbClr val="667085"/>
            </a:solidFill>
            <a:prstDash val="solid"/>
            <a:headEnd type="none"/>
            <a:tailEnd type="triangle"/>
          </a:ln>
        </p:spPr>
      </p:sp>
      <p:sp>
        <p:nvSpPr>
          <p:cNvPr id="16" name="Shape 14"/>
          <p:cNvSpPr/>
          <p:nvPr/>
        </p:nvSpPr>
        <p:spPr>
          <a:xfrm>
            <a:off x="6903720" y="1600200"/>
            <a:ext cx="1143000" cy="777240"/>
          </a:xfrm>
          <a:prstGeom prst="roundRect">
            <a:avLst>
              <a:gd name="adj" fmla="val 4706"/>
            </a:avLst>
          </a:prstGeom>
          <a:solidFill>
            <a:srgbClr val="EAF7F0"/>
          </a:solidFill>
          <a:ln w="12700">
            <a:solidFill>
              <a:srgbClr val="155EEF"/>
            </a:solidFill>
            <a:prstDash val="solid"/>
          </a:ln>
        </p:spPr>
      </p:sp>
      <p:sp>
        <p:nvSpPr>
          <p:cNvPr id="17" name="Text 15"/>
          <p:cNvSpPr/>
          <p:nvPr/>
        </p:nvSpPr>
        <p:spPr>
          <a:xfrm>
            <a:off x="6976872" y="1673352"/>
            <a:ext cx="996696" cy="630936"/>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Active</a:t>
            </a:r>
            <a:endParaRPr lang="en-US" sz="780" dirty="0"/>
          </a:p>
          <a:p>
            <a:pPr algn="ctr" indent="0" marL="0">
              <a:buNone/>
            </a:pPr>
            <a:r>
              <a:rPr lang="en-US" sz="780" b="1" dirty="0">
                <a:solidFill>
                  <a:srgbClr val="101828"/>
                </a:solidFill>
              </a:rPr>
              <a:t>DBT continues</a:t>
            </a:r>
            <a:endParaRPr lang="en-US" sz="780" dirty="0"/>
          </a:p>
        </p:txBody>
      </p:sp>
      <p:sp>
        <p:nvSpPr>
          <p:cNvPr id="18" name="Shape 16"/>
          <p:cNvSpPr/>
          <p:nvPr/>
        </p:nvSpPr>
        <p:spPr>
          <a:xfrm>
            <a:off x="8046720" y="1993392"/>
            <a:ext cx="411480" cy="0"/>
          </a:xfrm>
          <a:prstGeom prst="line">
            <a:avLst/>
          </a:prstGeom>
          <a:noFill/>
          <a:ln w="15240">
            <a:solidFill>
              <a:srgbClr val="667085"/>
            </a:solidFill>
            <a:prstDash val="solid"/>
            <a:headEnd type="none"/>
            <a:tailEnd type="triangle"/>
          </a:ln>
        </p:spPr>
      </p:sp>
      <p:sp>
        <p:nvSpPr>
          <p:cNvPr id="19" name="Shape 17"/>
          <p:cNvSpPr/>
          <p:nvPr/>
        </p:nvSpPr>
        <p:spPr>
          <a:xfrm>
            <a:off x="8503920" y="1600200"/>
            <a:ext cx="1143000" cy="777240"/>
          </a:xfrm>
          <a:prstGeom prst="roundRect">
            <a:avLst>
              <a:gd name="adj" fmla="val 4706"/>
            </a:avLst>
          </a:prstGeom>
          <a:solidFill>
            <a:srgbClr val="FFF1F3"/>
          </a:solidFill>
          <a:ln w="12700">
            <a:solidFill>
              <a:srgbClr val="155EEF"/>
            </a:solidFill>
            <a:prstDash val="solid"/>
          </a:ln>
        </p:spPr>
      </p:sp>
      <p:sp>
        <p:nvSpPr>
          <p:cNvPr id="20" name="Text 18"/>
          <p:cNvSpPr/>
          <p:nvPr/>
        </p:nvSpPr>
        <p:spPr>
          <a:xfrm>
            <a:off x="8577072" y="1673352"/>
            <a:ext cx="996696" cy="630936"/>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Grace + support</a:t>
            </a:r>
            <a:endParaRPr lang="en-US" sz="780" dirty="0"/>
          </a:p>
          <a:p>
            <a:pPr algn="ctr" indent="0" marL="0">
              <a:buNone/>
            </a:pPr>
            <a:r>
              <a:rPr lang="en-US" sz="780" b="1" dirty="0">
                <a:solidFill>
                  <a:srgbClr val="101828"/>
                </a:solidFill>
              </a:rPr>
              <a:t>call centre</a:t>
            </a:r>
            <a:endParaRPr lang="en-US" sz="780" dirty="0"/>
          </a:p>
        </p:txBody>
      </p:sp>
      <p:sp>
        <p:nvSpPr>
          <p:cNvPr id="21" name="Shape 19"/>
          <p:cNvSpPr/>
          <p:nvPr/>
        </p:nvSpPr>
        <p:spPr>
          <a:xfrm>
            <a:off x="9646920" y="1993392"/>
            <a:ext cx="411480" cy="0"/>
          </a:xfrm>
          <a:prstGeom prst="line">
            <a:avLst/>
          </a:prstGeom>
          <a:noFill/>
          <a:ln w="15240">
            <a:solidFill>
              <a:srgbClr val="667085"/>
            </a:solidFill>
            <a:prstDash val="solid"/>
            <a:headEnd type="none"/>
            <a:tailEnd type="triangle"/>
          </a:ln>
        </p:spPr>
      </p:sp>
      <p:sp>
        <p:nvSpPr>
          <p:cNvPr id="22" name="Shape 20"/>
          <p:cNvSpPr/>
          <p:nvPr/>
        </p:nvSpPr>
        <p:spPr>
          <a:xfrm>
            <a:off x="10104120" y="1600200"/>
            <a:ext cx="1143000" cy="777240"/>
          </a:xfrm>
          <a:prstGeom prst="roundRect">
            <a:avLst>
              <a:gd name="adj" fmla="val 4706"/>
            </a:avLst>
          </a:prstGeom>
          <a:solidFill>
            <a:srgbClr val="FEE4E2"/>
          </a:solidFill>
          <a:ln w="12700">
            <a:solidFill>
              <a:srgbClr val="B42318"/>
            </a:solidFill>
            <a:prstDash val="solid"/>
          </a:ln>
        </p:spPr>
      </p:sp>
      <p:sp>
        <p:nvSpPr>
          <p:cNvPr id="23" name="Text 21"/>
          <p:cNvSpPr/>
          <p:nvPr/>
        </p:nvSpPr>
        <p:spPr>
          <a:xfrm>
            <a:off x="10177272" y="1673352"/>
            <a:ext cx="996696" cy="630936"/>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Inactive</a:t>
            </a:r>
            <a:endParaRPr lang="en-US" sz="780" dirty="0"/>
          </a:p>
          <a:p>
            <a:pPr algn="ctr" indent="0" marL="0">
              <a:buNone/>
            </a:pPr>
            <a:r>
              <a:rPr lang="en-US" sz="780" b="1" dirty="0">
                <a:solidFill>
                  <a:srgbClr val="101828"/>
                </a:solidFill>
              </a:rPr>
              <a:t>DBT cancelled</a:t>
            </a:r>
            <a:endParaRPr lang="en-US" sz="780" dirty="0"/>
          </a:p>
        </p:txBody>
      </p:sp>
      <p:sp>
        <p:nvSpPr>
          <p:cNvPr id="24" name="Text 22"/>
          <p:cNvSpPr/>
          <p:nvPr/>
        </p:nvSpPr>
        <p:spPr>
          <a:xfrm>
            <a:off x="685800" y="3246120"/>
            <a:ext cx="2011680" cy="228600"/>
          </a:xfrm>
          <a:prstGeom prst="rect">
            <a:avLst/>
          </a:prstGeom>
          <a:noFill/>
          <a:ln/>
        </p:spPr>
        <p:txBody>
          <a:bodyPr wrap="square" lIns="0" tIns="0" rIns="0" bIns="0" rtlCol="0" anchor="ctr"/>
          <a:lstStyle/>
          <a:p>
            <a:pPr indent="0" marL="0">
              <a:buNone/>
            </a:pPr>
            <a:r>
              <a:rPr lang="en-US" sz="1300" b="1" dirty="0">
                <a:solidFill>
                  <a:srgbClr val="0B0A2A"/>
                </a:solidFill>
              </a:rPr>
              <a:t>Design safeguards</a:t>
            </a:r>
            <a:endParaRPr lang="en-US" sz="1300" dirty="0"/>
          </a:p>
        </p:txBody>
      </p:sp>
      <p:sp>
        <p:nvSpPr>
          <p:cNvPr id="25" name="Shape 23"/>
          <p:cNvSpPr/>
          <p:nvPr/>
        </p:nvSpPr>
        <p:spPr>
          <a:xfrm>
            <a:off x="777240" y="3703320"/>
            <a:ext cx="2286000" cy="658368"/>
          </a:xfrm>
          <a:prstGeom prst="roundRect">
            <a:avLst>
              <a:gd name="adj" fmla="val 5556"/>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26" name="Text 24"/>
          <p:cNvSpPr/>
          <p:nvPr/>
        </p:nvSpPr>
        <p:spPr>
          <a:xfrm>
            <a:off x="850392" y="3776472"/>
            <a:ext cx="2139696" cy="512064"/>
          </a:xfrm>
          <a:prstGeom prst="rect">
            <a:avLst/>
          </a:prstGeom>
          <a:noFill/>
          <a:ln/>
        </p:spPr>
        <p:txBody>
          <a:bodyPr wrap="square" lIns="254" tIns="254" rIns="254" bIns="254" rtlCol="0" anchor="ctr">
            <a:normAutofit/>
          </a:bodyPr>
          <a:lstStyle/>
          <a:p>
            <a:pPr algn="ctr" indent="0" marL="0">
              <a:buNone/>
            </a:pPr>
            <a:r>
              <a:rPr lang="en-US" sz="920" b="1" dirty="0">
                <a:solidFill>
                  <a:srgbClr val="101828"/>
                </a:solidFill>
              </a:rPr>
              <a:t>No raw biometric storage</a:t>
            </a:r>
            <a:endParaRPr lang="en-US" sz="920" dirty="0"/>
          </a:p>
        </p:txBody>
      </p:sp>
      <p:sp>
        <p:nvSpPr>
          <p:cNvPr id="27" name="Shape 25"/>
          <p:cNvSpPr/>
          <p:nvPr/>
        </p:nvSpPr>
        <p:spPr>
          <a:xfrm>
            <a:off x="3520440" y="3703320"/>
            <a:ext cx="2286000" cy="658368"/>
          </a:xfrm>
          <a:prstGeom prst="roundRect">
            <a:avLst>
              <a:gd name="adj" fmla="val 5556"/>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28" name="Text 26"/>
          <p:cNvSpPr/>
          <p:nvPr/>
        </p:nvSpPr>
        <p:spPr>
          <a:xfrm>
            <a:off x="3593592" y="3776472"/>
            <a:ext cx="2139696" cy="512064"/>
          </a:xfrm>
          <a:prstGeom prst="rect">
            <a:avLst/>
          </a:prstGeom>
          <a:noFill/>
          <a:ln/>
        </p:spPr>
        <p:txBody>
          <a:bodyPr wrap="square" lIns="254" tIns="254" rIns="254" bIns="254" rtlCol="0" anchor="ctr">
            <a:normAutofit/>
          </a:bodyPr>
          <a:lstStyle/>
          <a:p>
            <a:pPr algn="ctr" indent="0" marL="0">
              <a:buNone/>
            </a:pPr>
            <a:r>
              <a:rPr lang="en-US" sz="920" b="1" dirty="0">
                <a:solidFill>
                  <a:srgbClr val="101828"/>
                </a:solidFill>
              </a:rPr>
              <a:t>Grace period before inactive status</a:t>
            </a:r>
            <a:endParaRPr lang="en-US" sz="920" dirty="0"/>
          </a:p>
        </p:txBody>
      </p:sp>
      <p:sp>
        <p:nvSpPr>
          <p:cNvPr id="29" name="Shape 27"/>
          <p:cNvSpPr/>
          <p:nvPr/>
        </p:nvSpPr>
        <p:spPr>
          <a:xfrm>
            <a:off x="6263640" y="3703320"/>
            <a:ext cx="2286000" cy="658368"/>
          </a:xfrm>
          <a:prstGeom prst="roundRect">
            <a:avLst>
              <a:gd name="adj" fmla="val 5556"/>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30" name="Text 28"/>
          <p:cNvSpPr/>
          <p:nvPr/>
        </p:nvSpPr>
        <p:spPr>
          <a:xfrm>
            <a:off x="6336792" y="3776472"/>
            <a:ext cx="2139696" cy="512064"/>
          </a:xfrm>
          <a:prstGeom prst="rect">
            <a:avLst/>
          </a:prstGeom>
          <a:noFill/>
          <a:ln/>
        </p:spPr>
        <p:txBody>
          <a:bodyPr wrap="square" lIns="254" tIns="254" rIns="254" bIns="254" rtlCol="0" anchor="ctr">
            <a:normAutofit/>
          </a:bodyPr>
          <a:lstStyle/>
          <a:p>
            <a:pPr algn="ctr" indent="0" marL="0">
              <a:buNone/>
            </a:pPr>
            <a:r>
              <a:rPr lang="en-US" sz="920" b="1" dirty="0">
                <a:solidFill>
                  <a:srgbClr val="101828"/>
                </a:solidFill>
              </a:rPr>
              <a:t>Alternate route for biometric failure</a:t>
            </a:r>
            <a:endParaRPr lang="en-US" sz="920" dirty="0"/>
          </a:p>
        </p:txBody>
      </p:sp>
      <p:sp>
        <p:nvSpPr>
          <p:cNvPr id="31" name="Shape 29"/>
          <p:cNvSpPr/>
          <p:nvPr/>
        </p:nvSpPr>
        <p:spPr>
          <a:xfrm>
            <a:off x="9006840" y="3703320"/>
            <a:ext cx="2286000" cy="658368"/>
          </a:xfrm>
          <a:prstGeom prst="roundRect">
            <a:avLst>
              <a:gd name="adj" fmla="val 5556"/>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32" name="Text 30"/>
          <p:cNvSpPr/>
          <p:nvPr/>
        </p:nvSpPr>
        <p:spPr>
          <a:xfrm>
            <a:off x="9079992" y="3776472"/>
            <a:ext cx="2139696" cy="512064"/>
          </a:xfrm>
          <a:prstGeom prst="rect">
            <a:avLst/>
          </a:prstGeom>
          <a:noFill/>
          <a:ln/>
        </p:spPr>
        <p:txBody>
          <a:bodyPr wrap="square" lIns="254" tIns="254" rIns="254" bIns="254" rtlCol="0" anchor="ctr">
            <a:normAutofit/>
          </a:bodyPr>
          <a:lstStyle/>
          <a:p>
            <a:pPr algn="ctr" indent="0" marL="0">
              <a:buNone/>
            </a:pPr>
            <a:r>
              <a:rPr lang="en-US" sz="920" b="1" dirty="0">
                <a:solidFill>
                  <a:srgbClr val="101828"/>
                </a:solidFill>
              </a:rPr>
              <a:t>Reason codes and appeal path</a:t>
            </a:r>
            <a:endParaRPr lang="en-US" sz="92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Mock-up screens: beneficiary experience</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Designed for mobile-first, Kannada/English, high-contrast and assisted self-service.</a:t>
            </a:r>
            <a:endParaRPr lang="en-US" sz="950" dirty="0"/>
          </a:p>
        </p:txBody>
      </p:sp>
      <p:sp>
        <p:nvSpPr>
          <p:cNvPr id="4" name="Shape 2"/>
          <p:cNvSpPr/>
          <p:nvPr/>
        </p:nvSpPr>
        <p:spPr>
          <a:xfrm>
            <a:off x="685800" y="1143000"/>
            <a:ext cx="1920240" cy="4206240"/>
          </a:xfrm>
          <a:prstGeom prst="roundRect">
            <a:avLst>
              <a:gd name="adj" fmla="val 5714"/>
            </a:avLst>
          </a:prstGeom>
          <a:solidFill>
            <a:srgbClr val="FFFFFF"/>
          </a:solidFill>
          <a:ln w="13970">
            <a:solidFill>
              <a:srgbClr val="344054"/>
            </a:solidFill>
            <a:prstDash val="solid"/>
          </a:ln>
          <a:effectLst>
            <a:outerShdw sx="100000" sy="100000" kx="0" ky="0" algn="bl" rotWithShape="0" blurRad="25400" dist="12700" dir="2700000">
              <a:srgbClr val="000000">
                <a:alpha val="12000"/>
              </a:srgbClr>
            </a:outerShdw>
          </a:effectLst>
        </p:spPr>
      </p:sp>
      <p:sp>
        <p:nvSpPr>
          <p:cNvPr id="5" name="Shape 3"/>
          <p:cNvSpPr/>
          <p:nvPr/>
        </p:nvSpPr>
        <p:spPr>
          <a:xfrm>
            <a:off x="786384" y="1298448"/>
            <a:ext cx="1719072" cy="393192"/>
          </a:xfrm>
          <a:prstGeom prst="rect">
            <a:avLst/>
          </a:prstGeom>
          <a:solidFill>
            <a:srgbClr val="155EEF"/>
          </a:solidFill>
          <a:ln w="12700">
            <a:solidFill>
              <a:srgbClr val="155EEF">
                <a:alpha val="0"/>
              </a:srgbClr>
            </a:solidFill>
            <a:prstDash val="solid"/>
          </a:ln>
        </p:spPr>
      </p:sp>
      <p:sp>
        <p:nvSpPr>
          <p:cNvPr id="6" name="Text 4"/>
          <p:cNvSpPr/>
          <p:nvPr/>
        </p:nvSpPr>
        <p:spPr>
          <a:xfrm>
            <a:off x="832104" y="1371600"/>
            <a:ext cx="1627632" cy="201168"/>
          </a:xfrm>
          <a:prstGeom prst="rect">
            <a:avLst/>
          </a:prstGeom>
          <a:noFill/>
          <a:ln/>
        </p:spPr>
        <p:txBody>
          <a:bodyPr wrap="square" lIns="0" tIns="0" rIns="0" bIns="0" rtlCol="0" anchor="ctr"/>
          <a:lstStyle/>
          <a:p>
            <a:pPr algn="ctr" indent="0" marL="0">
              <a:buNone/>
            </a:pPr>
            <a:r>
              <a:rPr lang="en-US" sz="830" b="1" dirty="0">
                <a:solidFill>
                  <a:srgbClr val="FFFFFF"/>
                </a:solidFill>
              </a:rPr>
              <a:t>Login</a:t>
            </a:r>
            <a:endParaRPr lang="en-US" sz="830" dirty="0"/>
          </a:p>
        </p:txBody>
      </p:sp>
      <p:sp>
        <p:nvSpPr>
          <p:cNvPr id="7" name="Shape 5"/>
          <p:cNvSpPr/>
          <p:nvPr/>
        </p:nvSpPr>
        <p:spPr>
          <a:xfrm>
            <a:off x="850392" y="1856232"/>
            <a:ext cx="1591056" cy="292608"/>
          </a:xfrm>
          <a:prstGeom prst="roundRect">
            <a:avLst>
              <a:gd name="adj" fmla="val 9375"/>
            </a:avLst>
          </a:prstGeom>
          <a:solidFill>
            <a:srgbClr val="F2F4F7"/>
          </a:solidFill>
          <a:ln w="7620">
            <a:solidFill>
              <a:srgbClr val="D0D5DD"/>
            </a:solidFill>
            <a:prstDash val="solid"/>
          </a:ln>
        </p:spPr>
      </p:sp>
      <p:sp>
        <p:nvSpPr>
          <p:cNvPr id="8" name="Text 6"/>
          <p:cNvSpPr/>
          <p:nvPr/>
        </p:nvSpPr>
        <p:spPr>
          <a:xfrm>
            <a:off x="941832" y="1924812"/>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Mobile number</a:t>
            </a:r>
            <a:endParaRPr lang="en-US" sz="640" dirty="0"/>
          </a:p>
        </p:txBody>
      </p:sp>
      <p:sp>
        <p:nvSpPr>
          <p:cNvPr id="9" name="Shape 7"/>
          <p:cNvSpPr/>
          <p:nvPr/>
        </p:nvSpPr>
        <p:spPr>
          <a:xfrm>
            <a:off x="850392" y="2258568"/>
            <a:ext cx="1591056" cy="292608"/>
          </a:xfrm>
          <a:prstGeom prst="roundRect">
            <a:avLst>
              <a:gd name="adj" fmla="val 9375"/>
            </a:avLst>
          </a:prstGeom>
          <a:solidFill>
            <a:srgbClr val="F2F4F7"/>
          </a:solidFill>
          <a:ln w="7620">
            <a:solidFill>
              <a:srgbClr val="D0D5DD"/>
            </a:solidFill>
            <a:prstDash val="solid"/>
          </a:ln>
        </p:spPr>
      </p:sp>
      <p:sp>
        <p:nvSpPr>
          <p:cNvPr id="10" name="Text 8"/>
          <p:cNvSpPr/>
          <p:nvPr/>
        </p:nvSpPr>
        <p:spPr>
          <a:xfrm>
            <a:off x="941832" y="2327148"/>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OTP password</a:t>
            </a:r>
            <a:endParaRPr lang="en-US" sz="640" dirty="0"/>
          </a:p>
        </p:txBody>
      </p:sp>
      <p:sp>
        <p:nvSpPr>
          <p:cNvPr id="11" name="Shape 9"/>
          <p:cNvSpPr/>
          <p:nvPr/>
        </p:nvSpPr>
        <p:spPr>
          <a:xfrm>
            <a:off x="850392" y="2660904"/>
            <a:ext cx="1591056" cy="292608"/>
          </a:xfrm>
          <a:prstGeom prst="roundRect">
            <a:avLst>
              <a:gd name="adj" fmla="val 9375"/>
            </a:avLst>
          </a:prstGeom>
          <a:solidFill>
            <a:srgbClr val="F2F4F7"/>
          </a:solidFill>
          <a:ln w="7620">
            <a:solidFill>
              <a:srgbClr val="D0D5DD"/>
            </a:solidFill>
            <a:prstDash val="solid"/>
          </a:ln>
        </p:spPr>
      </p:sp>
      <p:sp>
        <p:nvSpPr>
          <p:cNvPr id="12" name="Text 10"/>
          <p:cNvSpPr/>
          <p:nvPr/>
        </p:nvSpPr>
        <p:spPr>
          <a:xfrm>
            <a:off x="941832" y="2729484"/>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Language: Kannada/English</a:t>
            </a:r>
            <a:endParaRPr lang="en-US" sz="640" dirty="0"/>
          </a:p>
        </p:txBody>
      </p:sp>
      <p:sp>
        <p:nvSpPr>
          <p:cNvPr id="13" name="Shape 11"/>
          <p:cNvSpPr/>
          <p:nvPr/>
        </p:nvSpPr>
        <p:spPr>
          <a:xfrm>
            <a:off x="850392" y="3063240"/>
            <a:ext cx="1591056" cy="292608"/>
          </a:xfrm>
          <a:prstGeom prst="roundRect">
            <a:avLst>
              <a:gd name="adj" fmla="val 9375"/>
            </a:avLst>
          </a:prstGeom>
          <a:solidFill>
            <a:srgbClr val="F2F4F7"/>
          </a:solidFill>
          <a:ln w="7620">
            <a:solidFill>
              <a:srgbClr val="D0D5DD"/>
            </a:solidFill>
            <a:prstDash val="solid"/>
          </a:ln>
        </p:spPr>
      </p:sp>
      <p:sp>
        <p:nvSpPr>
          <p:cNvPr id="14" name="Text 12"/>
          <p:cNvSpPr/>
          <p:nvPr/>
        </p:nvSpPr>
        <p:spPr>
          <a:xfrm>
            <a:off x="941832" y="3131820"/>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Consent notice</a:t>
            </a:r>
            <a:endParaRPr lang="en-US" sz="640" dirty="0"/>
          </a:p>
        </p:txBody>
      </p:sp>
      <p:sp>
        <p:nvSpPr>
          <p:cNvPr id="15" name="Shape 13"/>
          <p:cNvSpPr/>
          <p:nvPr/>
        </p:nvSpPr>
        <p:spPr>
          <a:xfrm>
            <a:off x="1097280" y="4818888"/>
            <a:ext cx="1097280" cy="310896"/>
          </a:xfrm>
          <a:prstGeom prst="roundRect">
            <a:avLst>
              <a:gd name="adj" fmla="val 11765"/>
            </a:avLst>
          </a:prstGeom>
          <a:solidFill>
            <a:srgbClr val="155EEF"/>
          </a:solidFill>
          <a:ln w="12700">
            <a:solidFill>
              <a:srgbClr val="155EEF">
                <a:alpha val="0"/>
              </a:srgbClr>
            </a:solidFill>
            <a:prstDash val="solid"/>
          </a:ln>
        </p:spPr>
      </p:sp>
      <p:sp>
        <p:nvSpPr>
          <p:cNvPr id="16" name="Text 14"/>
          <p:cNvSpPr/>
          <p:nvPr/>
        </p:nvSpPr>
        <p:spPr>
          <a:xfrm>
            <a:off x="1097280" y="4901184"/>
            <a:ext cx="1097280" cy="109728"/>
          </a:xfrm>
          <a:prstGeom prst="rect">
            <a:avLst/>
          </a:prstGeom>
          <a:noFill/>
          <a:ln/>
        </p:spPr>
        <p:txBody>
          <a:bodyPr wrap="square" lIns="0" tIns="0" rIns="0" bIns="0" rtlCol="0" anchor="ctr"/>
          <a:lstStyle/>
          <a:p>
            <a:pPr algn="ctr" indent="0" marL="0">
              <a:buNone/>
            </a:pPr>
            <a:r>
              <a:rPr lang="en-US" sz="700" b="1" dirty="0">
                <a:solidFill>
                  <a:srgbClr val="FFFFFF"/>
                </a:solidFill>
              </a:rPr>
              <a:t>Continue</a:t>
            </a:r>
            <a:endParaRPr lang="en-US" sz="700" dirty="0"/>
          </a:p>
        </p:txBody>
      </p:sp>
      <p:sp>
        <p:nvSpPr>
          <p:cNvPr id="17" name="Shape 15"/>
          <p:cNvSpPr/>
          <p:nvPr/>
        </p:nvSpPr>
        <p:spPr>
          <a:xfrm>
            <a:off x="3017520" y="1143000"/>
            <a:ext cx="1920240" cy="4206240"/>
          </a:xfrm>
          <a:prstGeom prst="roundRect">
            <a:avLst>
              <a:gd name="adj" fmla="val 5714"/>
            </a:avLst>
          </a:prstGeom>
          <a:solidFill>
            <a:srgbClr val="FFFFFF"/>
          </a:solidFill>
          <a:ln w="13970">
            <a:solidFill>
              <a:srgbClr val="344054"/>
            </a:solidFill>
            <a:prstDash val="solid"/>
          </a:ln>
          <a:effectLst>
            <a:outerShdw sx="100000" sy="100000" kx="0" ky="0" algn="bl" rotWithShape="0" blurRad="25400" dist="12700" dir="2700000">
              <a:srgbClr val="000000">
                <a:alpha val="12000"/>
              </a:srgbClr>
            </a:outerShdw>
          </a:effectLst>
        </p:spPr>
      </p:sp>
      <p:sp>
        <p:nvSpPr>
          <p:cNvPr id="18" name="Shape 16"/>
          <p:cNvSpPr/>
          <p:nvPr/>
        </p:nvSpPr>
        <p:spPr>
          <a:xfrm>
            <a:off x="3118104" y="1298448"/>
            <a:ext cx="1719072" cy="393192"/>
          </a:xfrm>
          <a:prstGeom prst="rect">
            <a:avLst/>
          </a:prstGeom>
          <a:solidFill>
            <a:srgbClr val="7A5AF8"/>
          </a:solidFill>
          <a:ln w="12700">
            <a:solidFill>
              <a:srgbClr val="7A5AF8">
                <a:alpha val="0"/>
              </a:srgbClr>
            </a:solidFill>
            <a:prstDash val="solid"/>
          </a:ln>
        </p:spPr>
      </p:sp>
      <p:sp>
        <p:nvSpPr>
          <p:cNvPr id="19" name="Text 17"/>
          <p:cNvSpPr/>
          <p:nvPr/>
        </p:nvSpPr>
        <p:spPr>
          <a:xfrm>
            <a:off x="3163824" y="1371600"/>
            <a:ext cx="1627632" cy="201168"/>
          </a:xfrm>
          <a:prstGeom prst="rect">
            <a:avLst/>
          </a:prstGeom>
          <a:noFill/>
          <a:ln/>
        </p:spPr>
        <p:txBody>
          <a:bodyPr wrap="square" lIns="0" tIns="0" rIns="0" bIns="0" rtlCol="0" anchor="ctr"/>
          <a:lstStyle/>
          <a:p>
            <a:pPr algn="ctr" indent="0" marL="0">
              <a:buNone/>
            </a:pPr>
            <a:r>
              <a:rPr lang="en-US" sz="830" b="1" dirty="0">
                <a:solidFill>
                  <a:srgbClr val="FFFFFF"/>
                </a:solidFill>
              </a:rPr>
              <a:t>Register</a:t>
            </a:r>
            <a:endParaRPr lang="en-US" sz="830" dirty="0"/>
          </a:p>
        </p:txBody>
      </p:sp>
      <p:sp>
        <p:nvSpPr>
          <p:cNvPr id="20" name="Shape 18"/>
          <p:cNvSpPr/>
          <p:nvPr/>
        </p:nvSpPr>
        <p:spPr>
          <a:xfrm>
            <a:off x="3182112" y="1856232"/>
            <a:ext cx="1591056" cy="292608"/>
          </a:xfrm>
          <a:prstGeom prst="roundRect">
            <a:avLst>
              <a:gd name="adj" fmla="val 9375"/>
            </a:avLst>
          </a:prstGeom>
          <a:solidFill>
            <a:srgbClr val="F2F4F7"/>
          </a:solidFill>
          <a:ln w="7620">
            <a:solidFill>
              <a:srgbClr val="D0D5DD"/>
            </a:solidFill>
            <a:prstDash val="solid"/>
          </a:ln>
        </p:spPr>
      </p:sp>
      <p:sp>
        <p:nvSpPr>
          <p:cNvPr id="21" name="Text 19"/>
          <p:cNvSpPr/>
          <p:nvPr/>
        </p:nvSpPr>
        <p:spPr>
          <a:xfrm>
            <a:off x="3273552" y="1924812"/>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Aadhaar reference</a:t>
            </a:r>
            <a:endParaRPr lang="en-US" sz="640" dirty="0"/>
          </a:p>
        </p:txBody>
      </p:sp>
      <p:sp>
        <p:nvSpPr>
          <p:cNvPr id="22" name="Shape 20"/>
          <p:cNvSpPr/>
          <p:nvPr/>
        </p:nvSpPr>
        <p:spPr>
          <a:xfrm>
            <a:off x="3182112" y="2258568"/>
            <a:ext cx="1591056" cy="292608"/>
          </a:xfrm>
          <a:prstGeom prst="roundRect">
            <a:avLst>
              <a:gd name="adj" fmla="val 9375"/>
            </a:avLst>
          </a:prstGeom>
          <a:solidFill>
            <a:srgbClr val="F2F4F7"/>
          </a:solidFill>
          <a:ln w="7620">
            <a:solidFill>
              <a:srgbClr val="D0D5DD"/>
            </a:solidFill>
            <a:prstDash val="solid"/>
          </a:ln>
        </p:spPr>
      </p:sp>
      <p:sp>
        <p:nvSpPr>
          <p:cNvPr id="23" name="Text 21"/>
          <p:cNvSpPr/>
          <p:nvPr/>
        </p:nvSpPr>
        <p:spPr>
          <a:xfrm>
            <a:off x="3273552" y="2327148"/>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Ration card upload</a:t>
            </a:r>
            <a:endParaRPr lang="en-US" sz="640" dirty="0"/>
          </a:p>
        </p:txBody>
      </p:sp>
      <p:sp>
        <p:nvSpPr>
          <p:cNvPr id="24" name="Shape 22"/>
          <p:cNvSpPr/>
          <p:nvPr/>
        </p:nvSpPr>
        <p:spPr>
          <a:xfrm>
            <a:off x="3182112" y="2660904"/>
            <a:ext cx="1591056" cy="292608"/>
          </a:xfrm>
          <a:prstGeom prst="roundRect">
            <a:avLst>
              <a:gd name="adj" fmla="val 9375"/>
            </a:avLst>
          </a:prstGeom>
          <a:solidFill>
            <a:srgbClr val="F2F4F7"/>
          </a:solidFill>
          <a:ln w="7620">
            <a:solidFill>
              <a:srgbClr val="D0D5DD"/>
            </a:solidFill>
            <a:prstDash val="solid"/>
          </a:ln>
        </p:spPr>
      </p:sp>
      <p:sp>
        <p:nvSpPr>
          <p:cNvPr id="25" name="Text 23"/>
          <p:cNvSpPr/>
          <p:nvPr/>
        </p:nvSpPr>
        <p:spPr>
          <a:xfrm>
            <a:off x="3273552" y="2729484"/>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Optional proofs</a:t>
            </a:r>
            <a:endParaRPr lang="en-US" sz="640" dirty="0"/>
          </a:p>
        </p:txBody>
      </p:sp>
      <p:sp>
        <p:nvSpPr>
          <p:cNvPr id="26" name="Shape 24"/>
          <p:cNvSpPr/>
          <p:nvPr/>
        </p:nvSpPr>
        <p:spPr>
          <a:xfrm>
            <a:off x="3182112" y="3063240"/>
            <a:ext cx="1591056" cy="292608"/>
          </a:xfrm>
          <a:prstGeom prst="roundRect">
            <a:avLst>
              <a:gd name="adj" fmla="val 9375"/>
            </a:avLst>
          </a:prstGeom>
          <a:solidFill>
            <a:srgbClr val="F2F4F7"/>
          </a:solidFill>
          <a:ln w="7620">
            <a:solidFill>
              <a:srgbClr val="D0D5DD"/>
            </a:solidFill>
            <a:prstDash val="solid"/>
          </a:ln>
        </p:spPr>
      </p:sp>
      <p:sp>
        <p:nvSpPr>
          <p:cNvPr id="27" name="Text 25"/>
          <p:cNvSpPr/>
          <p:nvPr/>
        </p:nvSpPr>
        <p:spPr>
          <a:xfrm>
            <a:off x="3273552" y="3131820"/>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Submit</a:t>
            </a:r>
            <a:endParaRPr lang="en-US" sz="640" dirty="0"/>
          </a:p>
        </p:txBody>
      </p:sp>
      <p:sp>
        <p:nvSpPr>
          <p:cNvPr id="28" name="Shape 26"/>
          <p:cNvSpPr/>
          <p:nvPr/>
        </p:nvSpPr>
        <p:spPr>
          <a:xfrm>
            <a:off x="3429000" y="4818888"/>
            <a:ext cx="1097280" cy="310896"/>
          </a:xfrm>
          <a:prstGeom prst="roundRect">
            <a:avLst>
              <a:gd name="adj" fmla="val 11765"/>
            </a:avLst>
          </a:prstGeom>
          <a:solidFill>
            <a:srgbClr val="7A5AF8"/>
          </a:solidFill>
          <a:ln w="12700">
            <a:solidFill>
              <a:srgbClr val="7A5AF8">
                <a:alpha val="0"/>
              </a:srgbClr>
            </a:solidFill>
            <a:prstDash val="solid"/>
          </a:ln>
        </p:spPr>
      </p:sp>
      <p:sp>
        <p:nvSpPr>
          <p:cNvPr id="29" name="Text 27"/>
          <p:cNvSpPr/>
          <p:nvPr/>
        </p:nvSpPr>
        <p:spPr>
          <a:xfrm>
            <a:off x="3429000" y="4901184"/>
            <a:ext cx="1097280" cy="109728"/>
          </a:xfrm>
          <a:prstGeom prst="rect">
            <a:avLst/>
          </a:prstGeom>
          <a:noFill/>
          <a:ln/>
        </p:spPr>
        <p:txBody>
          <a:bodyPr wrap="square" lIns="0" tIns="0" rIns="0" bIns="0" rtlCol="0" anchor="ctr"/>
          <a:lstStyle/>
          <a:p>
            <a:pPr algn="ctr" indent="0" marL="0">
              <a:buNone/>
            </a:pPr>
            <a:r>
              <a:rPr lang="en-US" sz="700" b="1" dirty="0">
                <a:solidFill>
                  <a:srgbClr val="FFFFFF"/>
                </a:solidFill>
              </a:rPr>
              <a:t>Continue</a:t>
            </a:r>
            <a:endParaRPr lang="en-US" sz="700" dirty="0"/>
          </a:p>
        </p:txBody>
      </p:sp>
      <p:sp>
        <p:nvSpPr>
          <p:cNvPr id="30" name="Shape 28"/>
          <p:cNvSpPr/>
          <p:nvPr/>
        </p:nvSpPr>
        <p:spPr>
          <a:xfrm>
            <a:off x="5349240" y="1143000"/>
            <a:ext cx="1920240" cy="4206240"/>
          </a:xfrm>
          <a:prstGeom prst="roundRect">
            <a:avLst>
              <a:gd name="adj" fmla="val 5714"/>
            </a:avLst>
          </a:prstGeom>
          <a:solidFill>
            <a:srgbClr val="FFFFFF"/>
          </a:solidFill>
          <a:ln w="13970">
            <a:solidFill>
              <a:srgbClr val="344054"/>
            </a:solidFill>
            <a:prstDash val="solid"/>
          </a:ln>
          <a:effectLst>
            <a:outerShdw sx="100000" sy="100000" kx="0" ky="0" algn="bl" rotWithShape="0" blurRad="25400" dist="12700" dir="2700000">
              <a:srgbClr val="000000">
                <a:alpha val="12000"/>
              </a:srgbClr>
            </a:outerShdw>
          </a:effectLst>
        </p:spPr>
      </p:sp>
      <p:sp>
        <p:nvSpPr>
          <p:cNvPr id="31" name="Shape 29"/>
          <p:cNvSpPr/>
          <p:nvPr/>
        </p:nvSpPr>
        <p:spPr>
          <a:xfrm>
            <a:off x="5449824" y="1298448"/>
            <a:ext cx="1719072" cy="393192"/>
          </a:xfrm>
          <a:prstGeom prst="rect">
            <a:avLst/>
          </a:prstGeom>
          <a:solidFill>
            <a:srgbClr val="0E7C55"/>
          </a:solidFill>
          <a:ln w="12700">
            <a:solidFill>
              <a:srgbClr val="0E7C55">
                <a:alpha val="0"/>
              </a:srgbClr>
            </a:solidFill>
            <a:prstDash val="solid"/>
          </a:ln>
        </p:spPr>
      </p:sp>
      <p:sp>
        <p:nvSpPr>
          <p:cNvPr id="32" name="Text 30"/>
          <p:cNvSpPr/>
          <p:nvPr/>
        </p:nvSpPr>
        <p:spPr>
          <a:xfrm>
            <a:off x="5495544" y="1371600"/>
            <a:ext cx="1627632" cy="201168"/>
          </a:xfrm>
          <a:prstGeom prst="rect">
            <a:avLst/>
          </a:prstGeom>
          <a:noFill/>
          <a:ln/>
        </p:spPr>
        <p:txBody>
          <a:bodyPr wrap="square" lIns="0" tIns="0" rIns="0" bIns="0" rtlCol="0" anchor="ctr"/>
          <a:lstStyle/>
          <a:p>
            <a:pPr algn="ctr" indent="0" marL="0">
              <a:buNone/>
            </a:pPr>
            <a:r>
              <a:rPr lang="en-US" sz="830" b="1" dirty="0">
                <a:solidFill>
                  <a:srgbClr val="FFFFFF"/>
                </a:solidFill>
              </a:rPr>
              <a:t>Life Proof</a:t>
            </a:r>
            <a:endParaRPr lang="en-US" sz="830" dirty="0"/>
          </a:p>
        </p:txBody>
      </p:sp>
      <p:sp>
        <p:nvSpPr>
          <p:cNvPr id="33" name="Shape 31"/>
          <p:cNvSpPr/>
          <p:nvPr/>
        </p:nvSpPr>
        <p:spPr>
          <a:xfrm>
            <a:off x="5513832" y="1856232"/>
            <a:ext cx="1591056" cy="292608"/>
          </a:xfrm>
          <a:prstGeom prst="roundRect">
            <a:avLst>
              <a:gd name="adj" fmla="val 9375"/>
            </a:avLst>
          </a:prstGeom>
          <a:solidFill>
            <a:srgbClr val="F2F4F7"/>
          </a:solidFill>
          <a:ln w="7620">
            <a:solidFill>
              <a:srgbClr val="D0D5DD"/>
            </a:solidFill>
            <a:prstDash val="solid"/>
          </a:ln>
        </p:spPr>
      </p:sp>
      <p:sp>
        <p:nvSpPr>
          <p:cNvPr id="34" name="Text 32"/>
          <p:cNvSpPr/>
          <p:nvPr/>
        </p:nvSpPr>
        <p:spPr>
          <a:xfrm>
            <a:off x="5605272" y="1924812"/>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Due date</a:t>
            </a:r>
            <a:endParaRPr lang="en-US" sz="640" dirty="0"/>
          </a:p>
        </p:txBody>
      </p:sp>
      <p:sp>
        <p:nvSpPr>
          <p:cNvPr id="35" name="Shape 33"/>
          <p:cNvSpPr/>
          <p:nvPr/>
        </p:nvSpPr>
        <p:spPr>
          <a:xfrm>
            <a:off x="5513832" y="2258568"/>
            <a:ext cx="1591056" cy="292608"/>
          </a:xfrm>
          <a:prstGeom prst="roundRect">
            <a:avLst>
              <a:gd name="adj" fmla="val 9375"/>
            </a:avLst>
          </a:prstGeom>
          <a:solidFill>
            <a:srgbClr val="F2F4F7"/>
          </a:solidFill>
          <a:ln w="7620">
            <a:solidFill>
              <a:srgbClr val="D0D5DD"/>
            </a:solidFill>
            <a:prstDash val="solid"/>
          </a:ln>
        </p:spPr>
      </p:sp>
      <p:sp>
        <p:nvSpPr>
          <p:cNvPr id="36" name="Text 34"/>
          <p:cNvSpPr/>
          <p:nvPr/>
        </p:nvSpPr>
        <p:spPr>
          <a:xfrm>
            <a:off x="5605272" y="2327148"/>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Face/biometric check</a:t>
            </a:r>
            <a:endParaRPr lang="en-US" sz="640" dirty="0"/>
          </a:p>
        </p:txBody>
      </p:sp>
      <p:sp>
        <p:nvSpPr>
          <p:cNvPr id="37" name="Shape 35"/>
          <p:cNvSpPr/>
          <p:nvPr/>
        </p:nvSpPr>
        <p:spPr>
          <a:xfrm>
            <a:off x="5513832" y="2660904"/>
            <a:ext cx="1591056" cy="292608"/>
          </a:xfrm>
          <a:prstGeom prst="roundRect">
            <a:avLst>
              <a:gd name="adj" fmla="val 9375"/>
            </a:avLst>
          </a:prstGeom>
          <a:solidFill>
            <a:srgbClr val="F2F4F7"/>
          </a:solidFill>
          <a:ln w="7620">
            <a:solidFill>
              <a:srgbClr val="D0D5DD"/>
            </a:solidFill>
            <a:prstDash val="solid"/>
          </a:ln>
        </p:spPr>
      </p:sp>
      <p:sp>
        <p:nvSpPr>
          <p:cNvPr id="38" name="Text 36"/>
          <p:cNvSpPr/>
          <p:nvPr/>
        </p:nvSpPr>
        <p:spPr>
          <a:xfrm>
            <a:off x="5605272" y="2729484"/>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Liveness result</a:t>
            </a:r>
            <a:endParaRPr lang="en-US" sz="640" dirty="0"/>
          </a:p>
        </p:txBody>
      </p:sp>
      <p:sp>
        <p:nvSpPr>
          <p:cNvPr id="39" name="Shape 37"/>
          <p:cNvSpPr/>
          <p:nvPr/>
        </p:nvSpPr>
        <p:spPr>
          <a:xfrm>
            <a:off x="5513832" y="3063240"/>
            <a:ext cx="1591056" cy="292608"/>
          </a:xfrm>
          <a:prstGeom prst="roundRect">
            <a:avLst>
              <a:gd name="adj" fmla="val 9375"/>
            </a:avLst>
          </a:prstGeom>
          <a:solidFill>
            <a:srgbClr val="F2F4F7"/>
          </a:solidFill>
          <a:ln w="7620">
            <a:solidFill>
              <a:srgbClr val="D0D5DD"/>
            </a:solidFill>
            <a:prstDash val="solid"/>
          </a:ln>
        </p:spPr>
      </p:sp>
      <p:sp>
        <p:nvSpPr>
          <p:cNvPr id="40" name="Text 38"/>
          <p:cNvSpPr/>
          <p:nvPr/>
        </p:nvSpPr>
        <p:spPr>
          <a:xfrm>
            <a:off x="5605272" y="3131820"/>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Success message</a:t>
            </a:r>
            <a:endParaRPr lang="en-US" sz="640" dirty="0"/>
          </a:p>
        </p:txBody>
      </p:sp>
      <p:sp>
        <p:nvSpPr>
          <p:cNvPr id="41" name="Shape 39"/>
          <p:cNvSpPr/>
          <p:nvPr/>
        </p:nvSpPr>
        <p:spPr>
          <a:xfrm>
            <a:off x="5760720" y="4818888"/>
            <a:ext cx="1097280" cy="310896"/>
          </a:xfrm>
          <a:prstGeom prst="roundRect">
            <a:avLst>
              <a:gd name="adj" fmla="val 11765"/>
            </a:avLst>
          </a:prstGeom>
          <a:solidFill>
            <a:srgbClr val="0E7C55"/>
          </a:solidFill>
          <a:ln w="12700">
            <a:solidFill>
              <a:srgbClr val="0E7C55">
                <a:alpha val="0"/>
              </a:srgbClr>
            </a:solidFill>
            <a:prstDash val="solid"/>
          </a:ln>
        </p:spPr>
      </p:sp>
      <p:sp>
        <p:nvSpPr>
          <p:cNvPr id="42" name="Text 40"/>
          <p:cNvSpPr/>
          <p:nvPr/>
        </p:nvSpPr>
        <p:spPr>
          <a:xfrm>
            <a:off x="5760720" y="4901184"/>
            <a:ext cx="1097280" cy="109728"/>
          </a:xfrm>
          <a:prstGeom prst="rect">
            <a:avLst/>
          </a:prstGeom>
          <a:noFill/>
          <a:ln/>
        </p:spPr>
        <p:txBody>
          <a:bodyPr wrap="square" lIns="0" tIns="0" rIns="0" bIns="0" rtlCol="0" anchor="ctr"/>
          <a:lstStyle/>
          <a:p>
            <a:pPr algn="ctr" indent="0" marL="0">
              <a:buNone/>
            </a:pPr>
            <a:r>
              <a:rPr lang="en-US" sz="700" b="1" dirty="0">
                <a:solidFill>
                  <a:srgbClr val="FFFFFF"/>
                </a:solidFill>
              </a:rPr>
              <a:t>Continue</a:t>
            </a:r>
            <a:endParaRPr lang="en-US" sz="700" dirty="0"/>
          </a:p>
        </p:txBody>
      </p:sp>
      <p:sp>
        <p:nvSpPr>
          <p:cNvPr id="43" name="Shape 41"/>
          <p:cNvSpPr/>
          <p:nvPr/>
        </p:nvSpPr>
        <p:spPr>
          <a:xfrm>
            <a:off x="7680960" y="1143000"/>
            <a:ext cx="1920240" cy="4206240"/>
          </a:xfrm>
          <a:prstGeom prst="roundRect">
            <a:avLst>
              <a:gd name="adj" fmla="val 5714"/>
            </a:avLst>
          </a:prstGeom>
          <a:solidFill>
            <a:srgbClr val="FFFFFF"/>
          </a:solidFill>
          <a:ln w="13970">
            <a:solidFill>
              <a:srgbClr val="344054"/>
            </a:solidFill>
            <a:prstDash val="solid"/>
          </a:ln>
          <a:effectLst>
            <a:outerShdw sx="100000" sy="100000" kx="0" ky="0" algn="bl" rotWithShape="0" blurRad="25400" dist="12700" dir="2700000">
              <a:srgbClr val="000000">
                <a:alpha val="12000"/>
              </a:srgbClr>
            </a:outerShdw>
          </a:effectLst>
        </p:spPr>
      </p:sp>
      <p:sp>
        <p:nvSpPr>
          <p:cNvPr id="44" name="Shape 42"/>
          <p:cNvSpPr/>
          <p:nvPr/>
        </p:nvSpPr>
        <p:spPr>
          <a:xfrm>
            <a:off x="7781544" y="1298448"/>
            <a:ext cx="1719072" cy="393192"/>
          </a:xfrm>
          <a:prstGeom prst="rect">
            <a:avLst/>
          </a:prstGeom>
          <a:solidFill>
            <a:srgbClr val="F5B301"/>
          </a:solidFill>
          <a:ln w="12700">
            <a:solidFill>
              <a:srgbClr val="F5B301">
                <a:alpha val="0"/>
              </a:srgbClr>
            </a:solidFill>
            <a:prstDash val="solid"/>
          </a:ln>
        </p:spPr>
      </p:sp>
      <p:sp>
        <p:nvSpPr>
          <p:cNvPr id="45" name="Text 43"/>
          <p:cNvSpPr/>
          <p:nvPr/>
        </p:nvSpPr>
        <p:spPr>
          <a:xfrm>
            <a:off x="7827264" y="1371600"/>
            <a:ext cx="1627632" cy="201168"/>
          </a:xfrm>
          <a:prstGeom prst="rect">
            <a:avLst/>
          </a:prstGeom>
          <a:noFill/>
          <a:ln/>
        </p:spPr>
        <p:txBody>
          <a:bodyPr wrap="square" lIns="0" tIns="0" rIns="0" bIns="0" rtlCol="0" anchor="ctr"/>
          <a:lstStyle/>
          <a:p>
            <a:pPr algn="ctr" indent="0" marL="0">
              <a:buNone/>
            </a:pPr>
            <a:r>
              <a:rPr lang="en-US" sz="830" b="1" dirty="0">
                <a:solidFill>
                  <a:srgbClr val="FFFFFF"/>
                </a:solidFill>
              </a:rPr>
              <a:t>Status</a:t>
            </a:r>
            <a:endParaRPr lang="en-US" sz="830" dirty="0"/>
          </a:p>
        </p:txBody>
      </p:sp>
      <p:sp>
        <p:nvSpPr>
          <p:cNvPr id="46" name="Shape 44"/>
          <p:cNvSpPr/>
          <p:nvPr/>
        </p:nvSpPr>
        <p:spPr>
          <a:xfrm>
            <a:off x="7845552" y="1856232"/>
            <a:ext cx="1591056" cy="292608"/>
          </a:xfrm>
          <a:prstGeom prst="roundRect">
            <a:avLst>
              <a:gd name="adj" fmla="val 9375"/>
            </a:avLst>
          </a:prstGeom>
          <a:solidFill>
            <a:srgbClr val="F2F4F7"/>
          </a:solidFill>
          <a:ln w="7620">
            <a:solidFill>
              <a:srgbClr val="D0D5DD"/>
            </a:solidFill>
            <a:prstDash val="solid"/>
          </a:ln>
        </p:spPr>
      </p:sp>
      <p:sp>
        <p:nvSpPr>
          <p:cNvPr id="47" name="Text 45"/>
          <p:cNvSpPr/>
          <p:nvPr/>
        </p:nvSpPr>
        <p:spPr>
          <a:xfrm>
            <a:off x="7936992" y="1924812"/>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Active / Pending / Inactive</a:t>
            </a:r>
            <a:endParaRPr lang="en-US" sz="640" dirty="0"/>
          </a:p>
        </p:txBody>
      </p:sp>
      <p:sp>
        <p:nvSpPr>
          <p:cNvPr id="48" name="Shape 46"/>
          <p:cNvSpPr/>
          <p:nvPr/>
        </p:nvSpPr>
        <p:spPr>
          <a:xfrm>
            <a:off x="7845552" y="2258568"/>
            <a:ext cx="1591056" cy="292608"/>
          </a:xfrm>
          <a:prstGeom prst="roundRect">
            <a:avLst>
              <a:gd name="adj" fmla="val 9375"/>
            </a:avLst>
          </a:prstGeom>
          <a:solidFill>
            <a:srgbClr val="F2F4F7"/>
          </a:solidFill>
          <a:ln w="7620">
            <a:solidFill>
              <a:srgbClr val="D0D5DD"/>
            </a:solidFill>
            <a:prstDash val="solid"/>
          </a:ln>
        </p:spPr>
      </p:sp>
      <p:sp>
        <p:nvSpPr>
          <p:cNvPr id="49" name="Text 47"/>
          <p:cNvSpPr/>
          <p:nvPr/>
        </p:nvSpPr>
        <p:spPr>
          <a:xfrm>
            <a:off x="7936992" y="2327148"/>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Reason code</a:t>
            </a:r>
            <a:endParaRPr lang="en-US" sz="640" dirty="0"/>
          </a:p>
        </p:txBody>
      </p:sp>
      <p:sp>
        <p:nvSpPr>
          <p:cNvPr id="50" name="Shape 48"/>
          <p:cNvSpPr/>
          <p:nvPr/>
        </p:nvSpPr>
        <p:spPr>
          <a:xfrm>
            <a:off x="7845552" y="2660904"/>
            <a:ext cx="1591056" cy="292608"/>
          </a:xfrm>
          <a:prstGeom prst="roundRect">
            <a:avLst>
              <a:gd name="adj" fmla="val 9375"/>
            </a:avLst>
          </a:prstGeom>
          <a:solidFill>
            <a:srgbClr val="F2F4F7"/>
          </a:solidFill>
          <a:ln w="7620">
            <a:solidFill>
              <a:srgbClr val="D0D5DD"/>
            </a:solidFill>
            <a:prstDash val="solid"/>
          </a:ln>
        </p:spPr>
      </p:sp>
      <p:sp>
        <p:nvSpPr>
          <p:cNvPr id="51" name="Text 49"/>
          <p:cNvSpPr/>
          <p:nvPr/>
        </p:nvSpPr>
        <p:spPr>
          <a:xfrm>
            <a:off x="7936992" y="2729484"/>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Appeal button</a:t>
            </a:r>
            <a:endParaRPr lang="en-US" sz="640" dirty="0"/>
          </a:p>
        </p:txBody>
      </p:sp>
      <p:sp>
        <p:nvSpPr>
          <p:cNvPr id="52" name="Shape 50"/>
          <p:cNvSpPr/>
          <p:nvPr/>
        </p:nvSpPr>
        <p:spPr>
          <a:xfrm>
            <a:off x="7845552" y="3063240"/>
            <a:ext cx="1591056" cy="292608"/>
          </a:xfrm>
          <a:prstGeom prst="roundRect">
            <a:avLst>
              <a:gd name="adj" fmla="val 9375"/>
            </a:avLst>
          </a:prstGeom>
          <a:solidFill>
            <a:srgbClr val="F2F4F7"/>
          </a:solidFill>
          <a:ln w="7620">
            <a:solidFill>
              <a:srgbClr val="D0D5DD"/>
            </a:solidFill>
            <a:prstDash val="solid"/>
          </a:ln>
        </p:spPr>
      </p:sp>
      <p:sp>
        <p:nvSpPr>
          <p:cNvPr id="53" name="Text 51"/>
          <p:cNvSpPr/>
          <p:nvPr/>
        </p:nvSpPr>
        <p:spPr>
          <a:xfrm>
            <a:off x="7936992" y="3131820"/>
            <a:ext cx="140817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Call centre help</a:t>
            </a:r>
            <a:endParaRPr lang="en-US" sz="640" dirty="0"/>
          </a:p>
        </p:txBody>
      </p:sp>
      <p:sp>
        <p:nvSpPr>
          <p:cNvPr id="54" name="Shape 52"/>
          <p:cNvSpPr/>
          <p:nvPr/>
        </p:nvSpPr>
        <p:spPr>
          <a:xfrm>
            <a:off x="8092440" y="4818888"/>
            <a:ext cx="1097280" cy="310896"/>
          </a:xfrm>
          <a:prstGeom prst="roundRect">
            <a:avLst>
              <a:gd name="adj" fmla="val 11765"/>
            </a:avLst>
          </a:prstGeom>
          <a:solidFill>
            <a:srgbClr val="F5B301"/>
          </a:solidFill>
          <a:ln w="12700">
            <a:solidFill>
              <a:srgbClr val="F5B301">
                <a:alpha val="0"/>
              </a:srgbClr>
            </a:solidFill>
            <a:prstDash val="solid"/>
          </a:ln>
        </p:spPr>
      </p:sp>
      <p:sp>
        <p:nvSpPr>
          <p:cNvPr id="55" name="Text 53"/>
          <p:cNvSpPr/>
          <p:nvPr/>
        </p:nvSpPr>
        <p:spPr>
          <a:xfrm>
            <a:off x="8092440" y="4901184"/>
            <a:ext cx="1097280" cy="109728"/>
          </a:xfrm>
          <a:prstGeom prst="rect">
            <a:avLst/>
          </a:prstGeom>
          <a:noFill/>
          <a:ln/>
        </p:spPr>
        <p:txBody>
          <a:bodyPr wrap="square" lIns="0" tIns="0" rIns="0" bIns="0" rtlCol="0" anchor="ctr"/>
          <a:lstStyle/>
          <a:p>
            <a:pPr algn="ctr" indent="0" marL="0">
              <a:buNone/>
            </a:pPr>
            <a:r>
              <a:rPr lang="en-US" sz="700" b="1" dirty="0">
                <a:solidFill>
                  <a:srgbClr val="FFFFFF"/>
                </a:solidFill>
              </a:rPr>
              <a:t>Continue</a:t>
            </a:r>
            <a:endParaRPr lang="en-US" sz="700" dirty="0"/>
          </a:p>
        </p:txBody>
      </p:sp>
      <p:sp>
        <p:nvSpPr>
          <p:cNvPr id="56" name="Shape 54"/>
          <p:cNvSpPr/>
          <p:nvPr/>
        </p:nvSpPr>
        <p:spPr>
          <a:xfrm>
            <a:off x="10012680" y="1143000"/>
            <a:ext cx="1600200" cy="4206240"/>
          </a:xfrm>
          <a:prstGeom prst="roundRect">
            <a:avLst>
              <a:gd name="adj" fmla="val 6857"/>
            </a:avLst>
          </a:prstGeom>
          <a:solidFill>
            <a:srgbClr val="FFFFFF"/>
          </a:solidFill>
          <a:ln w="13970">
            <a:solidFill>
              <a:srgbClr val="344054"/>
            </a:solidFill>
            <a:prstDash val="solid"/>
          </a:ln>
          <a:effectLst>
            <a:outerShdw sx="100000" sy="100000" kx="0" ky="0" algn="bl" rotWithShape="0" blurRad="25400" dist="12700" dir="2700000">
              <a:srgbClr val="000000">
                <a:alpha val="12000"/>
              </a:srgbClr>
            </a:outerShdw>
          </a:effectLst>
        </p:spPr>
      </p:sp>
      <p:sp>
        <p:nvSpPr>
          <p:cNvPr id="57" name="Shape 55"/>
          <p:cNvSpPr/>
          <p:nvPr/>
        </p:nvSpPr>
        <p:spPr>
          <a:xfrm>
            <a:off x="10113264" y="1298448"/>
            <a:ext cx="1399032" cy="393192"/>
          </a:xfrm>
          <a:prstGeom prst="rect">
            <a:avLst/>
          </a:prstGeom>
          <a:solidFill>
            <a:srgbClr val="B42318"/>
          </a:solidFill>
          <a:ln w="12700">
            <a:solidFill>
              <a:srgbClr val="B42318">
                <a:alpha val="0"/>
              </a:srgbClr>
            </a:solidFill>
            <a:prstDash val="solid"/>
          </a:ln>
        </p:spPr>
      </p:sp>
      <p:sp>
        <p:nvSpPr>
          <p:cNvPr id="58" name="Text 56"/>
          <p:cNvSpPr/>
          <p:nvPr/>
        </p:nvSpPr>
        <p:spPr>
          <a:xfrm>
            <a:off x="10158984" y="1371600"/>
            <a:ext cx="1307592" cy="201168"/>
          </a:xfrm>
          <a:prstGeom prst="rect">
            <a:avLst/>
          </a:prstGeom>
          <a:noFill/>
          <a:ln/>
        </p:spPr>
        <p:txBody>
          <a:bodyPr wrap="square" lIns="0" tIns="0" rIns="0" bIns="0" rtlCol="0" anchor="ctr"/>
          <a:lstStyle/>
          <a:p>
            <a:pPr algn="ctr" indent="0" marL="0">
              <a:buNone/>
            </a:pPr>
            <a:r>
              <a:rPr lang="en-US" sz="830" b="1" dirty="0">
                <a:solidFill>
                  <a:srgbClr val="FFFFFF"/>
                </a:solidFill>
              </a:rPr>
              <a:t>Appeal</a:t>
            </a:r>
            <a:endParaRPr lang="en-US" sz="830" dirty="0"/>
          </a:p>
        </p:txBody>
      </p:sp>
      <p:sp>
        <p:nvSpPr>
          <p:cNvPr id="59" name="Shape 57"/>
          <p:cNvSpPr/>
          <p:nvPr/>
        </p:nvSpPr>
        <p:spPr>
          <a:xfrm>
            <a:off x="10177272" y="1856232"/>
            <a:ext cx="1271016" cy="292608"/>
          </a:xfrm>
          <a:prstGeom prst="roundRect">
            <a:avLst>
              <a:gd name="adj" fmla="val 9375"/>
            </a:avLst>
          </a:prstGeom>
          <a:solidFill>
            <a:srgbClr val="F2F4F7"/>
          </a:solidFill>
          <a:ln w="7620">
            <a:solidFill>
              <a:srgbClr val="D0D5DD"/>
            </a:solidFill>
            <a:prstDash val="solid"/>
          </a:ln>
        </p:spPr>
      </p:sp>
      <p:sp>
        <p:nvSpPr>
          <p:cNvPr id="60" name="Text 58"/>
          <p:cNvSpPr/>
          <p:nvPr/>
        </p:nvSpPr>
        <p:spPr>
          <a:xfrm>
            <a:off x="10268712" y="1924812"/>
            <a:ext cx="108813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Issue type</a:t>
            </a:r>
            <a:endParaRPr lang="en-US" sz="640" dirty="0"/>
          </a:p>
        </p:txBody>
      </p:sp>
      <p:sp>
        <p:nvSpPr>
          <p:cNvPr id="61" name="Shape 59"/>
          <p:cNvSpPr/>
          <p:nvPr/>
        </p:nvSpPr>
        <p:spPr>
          <a:xfrm>
            <a:off x="10177272" y="2258568"/>
            <a:ext cx="1271016" cy="292608"/>
          </a:xfrm>
          <a:prstGeom prst="roundRect">
            <a:avLst>
              <a:gd name="adj" fmla="val 9375"/>
            </a:avLst>
          </a:prstGeom>
          <a:solidFill>
            <a:srgbClr val="F2F4F7"/>
          </a:solidFill>
          <a:ln w="7620">
            <a:solidFill>
              <a:srgbClr val="D0D5DD"/>
            </a:solidFill>
            <a:prstDash val="solid"/>
          </a:ln>
        </p:spPr>
      </p:sp>
      <p:sp>
        <p:nvSpPr>
          <p:cNvPr id="62" name="Text 60"/>
          <p:cNvSpPr/>
          <p:nvPr/>
        </p:nvSpPr>
        <p:spPr>
          <a:xfrm>
            <a:off x="10268712" y="2327148"/>
            <a:ext cx="108813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Upload proof</a:t>
            </a:r>
            <a:endParaRPr lang="en-US" sz="640" dirty="0"/>
          </a:p>
        </p:txBody>
      </p:sp>
      <p:sp>
        <p:nvSpPr>
          <p:cNvPr id="63" name="Shape 61"/>
          <p:cNvSpPr/>
          <p:nvPr/>
        </p:nvSpPr>
        <p:spPr>
          <a:xfrm>
            <a:off x="10177272" y="2660904"/>
            <a:ext cx="1271016" cy="292608"/>
          </a:xfrm>
          <a:prstGeom prst="roundRect">
            <a:avLst>
              <a:gd name="adj" fmla="val 9375"/>
            </a:avLst>
          </a:prstGeom>
          <a:solidFill>
            <a:srgbClr val="F2F4F7"/>
          </a:solidFill>
          <a:ln w="7620">
            <a:solidFill>
              <a:srgbClr val="D0D5DD"/>
            </a:solidFill>
            <a:prstDash val="solid"/>
          </a:ln>
        </p:spPr>
      </p:sp>
      <p:sp>
        <p:nvSpPr>
          <p:cNvPr id="64" name="Text 62"/>
          <p:cNvSpPr/>
          <p:nvPr/>
        </p:nvSpPr>
        <p:spPr>
          <a:xfrm>
            <a:off x="10268712" y="2729484"/>
            <a:ext cx="108813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Track SLA</a:t>
            </a:r>
            <a:endParaRPr lang="en-US" sz="640" dirty="0"/>
          </a:p>
        </p:txBody>
      </p:sp>
      <p:sp>
        <p:nvSpPr>
          <p:cNvPr id="65" name="Shape 63"/>
          <p:cNvSpPr/>
          <p:nvPr/>
        </p:nvSpPr>
        <p:spPr>
          <a:xfrm>
            <a:off x="10424160" y="4818888"/>
            <a:ext cx="777240" cy="310896"/>
          </a:xfrm>
          <a:prstGeom prst="roundRect">
            <a:avLst>
              <a:gd name="adj" fmla="val 11765"/>
            </a:avLst>
          </a:prstGeom>
          <a:solidFill>
            <a:srgbClr val="B42318"/>
          </a:solidFill>
          <a:ln w="12700">
            <a:solidFill>
              <a:srgbClr val="B42318">
                <a:alpha val="0"/>
              </a:srgbClr>
            </a:solidFill>
            <a:prstDash val="solid"/>
          </a:ln>
        </p:spPr>
      </p:sp>
      <p:sp>
        <p:nvSpPr>
          <p:cNvPr id="66" name="Text 64"/>
          <p:cNvSpPr/>
          <p:nvPr/>
        </p:nvSpPr>
        <p:spPr>
          <a:xfrm>
            <a:off x="10424160" y="4901184"/>
            <a:ext cx="777240" cy="109728"/>
          </a:xfrm>
          <a:prstGeom prst="rect">
            <a:avLst/>
          </a:prstGeom>
          <a:noFill/>
          <a:ln/>
        </p:spPr>
        <p:txBody>
          <a:bodyPr wrap="square" lIns="0" tIns="0" rIns="0" bIns="0" rtlCol="0" anchor="ctr"/>
          <a:lstStyle/>
          <a:p>
            <a:pPr algn="ctr" indent="0" marL="0">
              <a:buNone/>
            </a:pPr>
            <a:r>
              <a:rPr lang="en-US" sz="700" b="1" dirty="0">
                <a:solidFill>
                  <a:srgbClr val="FFFFFF"/>
                </a:solidFill>
              </a:rPr>
              <a:t>Continue</a:t>
            </a:r>
            <a:endParaRPr lang="en-US" sz="7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Mock-up screens: service centre assisted workflow</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Operators need speed, clarity and low-error capture.</a:t>
            </a:r>
            <a:endParaRPr lang="en-US" sz="950" dirty="0"/>
          </a:p>
        </p:txBody>
      </p:sp>
      <p:sp>
        <p:nvSpPr>
          <p:cNvPr id="4" name="Shape 2"/>
          <p:cNvSpPr/>
          <p:nvPr/>
        </p:nvSpPr>
        <p:spPr>
          <a:xfrm>
            <a:off x="685800" y="1143000"/>
            <a:ext cx="2011680" cy="4251960"/>
          </a:xfrm>
          <a:prstGeom prst="roundRect">
            <a:avLst>
              <a:gd name="adj" fmla="val 5455"/>
            </a:avLst>
          </a:prstGeom>
          <a:solidFill>
            <a:srgbClr val="FFFFFF"/>
          </a:solidFill>
          <a:ln w="13970">
            <a:solidFill>
              <a:srgbClr val="344054"/>
            </a:solidFill>
            <a:prstDash val="solid"/>
          </a:ln>
          <a:effectLst>
            <a:outerShdw sx="100000" sy="100000" kx="0" ky="0" algn="bl" rotWithShape="0" blurRad="25400" dist="12700" dir="2700000">
              <a:srgbClr val="000000">
                <a:alpha val="12000"/>
              </a:srgbClr>
            </a:outerShdw>
          </a:effectLst>
        </p:spPr>
      </p:sp>
      <p:sp>
        <p:nvSpPr>
          <p:cNvPr id="5" name="Shape 3"/>
          <p:cNvSpPr/>
          <p:nvPr/>
        </p:nvSpPr>
        <p:spPr>
          <a:xfrm>
            <a:off x="786384" y="1298448"/>
            <a:ext cx="1810512" cy="393192"/>
          </a:xfrm>
          <a:prstGeom prst="rect">
            <a:avLst/>
          </a:prstGeom>
          <a:solidFill>
            <a:srgbClr val="0B0A2A"/>
          </a:solidFill>
          <a:ln w="12700">
            <a:solidFill>
              <a:srgbClr val="0B0A2A">
                <a:alpha val="0"/>
              </a:srgbClr>
            </a:solidFill>
            <a:prstDash val="solid"/>
          </a:ln>
        </p:spPr>
      </p:sp>
      <p:sp>
        <p:nvSpPr>
          <p:cNvPr id="6" name="Text 4"/>
          <p:cNvSpPr/>
          <p:nvPr/>
        </p:nvSpPr>
        <p:spPr>
          <a:xfrm>
            <a:off x="832104" y="1371600"/>
            <a:ext cx="1719072" cy="201168"/>
          </a:xfrm>
          <a:prstGeom prst="rect">
            <a:avLst/>
          </a:prstGeom>
          <a:noFill/>
          <a:ln/>
        </p:spPr>
        <p:txBody>
          <a:bodyPr wrap="square" lIns="0" tIns="0" rIns="0" bIns="0" rtlCol="0" anchor="ctr"/>
          <a:lstStyle/>
          <a:p>
            <a:pPr algn="ctr" indent="0" marL="0">
              <a:buNone/>
            </a:pPr>
            <a:r>
              <a:rPr lang="en-US" sz="830" b="1" dirty="0">
                <a:solidFill>
                  <a:srgbClr val="FFFFFF"/>
                </a:solidFill>
              </a:rPr>
              <a:t>Operator Home</a:t>
            </a:r>
            <a:endParaRPr lang="en-US" sz="830" dirty="0"/>
          </a:p>
        </p:txBody>
      </p:sp>
      <p:sp>
        <p:nvSpPr>
          <p:cNvPr id="7" name="Shape 5"/>
          <p:cNvSpPr/>
          <p:nvPr/>
        </p:nvSpPr>
        <p:spPr>
          <a:xfrm>
            <a:off x="850392" y="1856232"/>
            <a:ext cx="1682496" cy="292608"/>
          </a:xfrm>
          <a:prstGeom prst="roundRect">
            <a:avLst>
              <a:gd name="adj" fmla="val 9375"/>
            </a:avLst>
          </a:prstGeom>
          <a:solidFill>
            <a:srgbClr val="F2F4F7"/>
          </a:solidFill>
          <a:ln w="7620">
            <a:solidFill>
              <a:srgbClr val="D0D5DD"/>
            </a:solidFill>
            <a:prstDash val="solid"/>
          </a:ln>
        </p:spPr>
      </p:sp>
      <p:sp>
        <p:nvSpPr>
          <p:cNvPr id="8" name="Text 6"/>
          <p:cNvSpPr/>
          <p:nvPr/>
        </p:nvSpPr>
        <p:spPr>
          <a:xfrm>
            <a:off x="941832" y="1924812"/>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Search beneficiary</a:t>
            </a:r>
            <a:endParaRPr lang="en-US" sz="640" dirty="0"/>
          </a:p>
        </p:txBody>
      </p:sp>
      <p:sp>
        <p:nvSpPr>
          <p:cNvPr id="9" name="Shape 7"/>
          <p:cNvSpPr/>
          <p:nvPr/>
        </p:nvSpPr>
        <p:spPr>
          <a:xfrm>
            <a:off x="850392" y="2258568"/>
            <a:ext cx="1682496" cy="292608"/>
          </a:xfrm>
          <a:prstGeom prst="roundRect">
            <a:avLst>
              <a:gd name="adj" fmla="val 9375"/>
            </a:avLst>
          </a:prstGeom>
          <a:solidFill>
            <a:srgbClr val="F2F4F7"/>
          </a:solidFill>
          <a:ln w="7620">
            <a:solidFill>
              <a:srgbClr val="D0D5DD"/>
            </a:solidFill>
            <a:prstDash val="solid"/>
          </a:ln>
        </p:spPr>
      </p:sp>
      <p:sp>
        <p:nvSpPr>
          <p:cNvPr id="10" name="Text 8"/>
          <p:cNvSpPr/>
          <p:nvPr/>
        </p:nvSpPr>
        <p:spPr>
          <a:xfrm>
            <a:off x="941832" y="2327148"/>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New registration</a:t>
            </a:r>
            <a:endParaRPr lang="en-US" sz="640" dirty="0"/>
          </a:p>
        </p:txBody>
      </p:sp>
      <p:sp>
        <p:nvSpPr>
          <p:cNvPr id="11" name="Shape 9"/>
          <p:cNvSpPr/>
          <p:nvPr/>
        </p:nvSpPr>
        <p:spPr>
          <a:xfrm>
            <a:off x="850392" y="2660904"/>
            <a:ext cx="1682496" cy="292608"/>
          </a:xfrm>
          <a:prstGeom prst="roundRect">
            <a:avLst>
              <a:gd name="adj" fmla="val 9375"/>
            </a:avLst>
          </a:prstGeom>
          <a:solidFill>
            <a:srgbClr val="F2F4F7"/>
          </a:solidFill>
          <a:ln w="7620">
            <a:solidFill>
              <a:srgbClr val="D0D5DD"/>
            </a:solidFill>
            <a:prstDash val="solid"/>
          </a:ln>
        </p:spPr>
      </p:sp>
      <p:sp>
        <p:nvSpPr>
          <p:cNvPr id="12" name="Text 10"/>
          <p:cNvSpPr/>
          <p:nvPr/>
        </p:nvSpPr>
        <p:spPr>
          <a:xfrm>
            <a:off x="941832" y="2729484"/>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Life-proof due list</a:t>
            </a:r>
            <a:endParaRPr lang="en-US" sz="640" dirty="0"/>
          </a:p>
        </p:txBody>
      </p:sp>
      <p:sp>
        <p:nvSpPr>
          <p:cNvPr id="13" name="Shape 11"/>
          <p:cNvSpPr/>
          <p:nvPr/>
        </p:nvSpPr>
        <p:spPr>
          <a:xfrm>
            <a:off x="850392" y="3063240"/>
            <a:ext cx="1682496" cy="292608"/>
          </a:xfrm>
          <a:prstGeom prst="roundRect">
            <a:avLst>
              <a:gd name="adj" fmla="val 9375"/>
            </a:avLst>
          </a:prstGeom>
          <a:solidFill>
            <a:srgbClr val="F2F4F7"/>
          </a:solidFill>
          <a:ln w="7620">
            <a:solidFill>
              <a:srgbClr val="D0D5DD"/>
            </a:solidFill>
            <a:prstDash val="solid"/>
          </a:ln>
        </p:spPr>
      </p:sp>
      <p:sp>
        <p:nvSpPr>
          <p:cNvPr id="14" name="Text 12"/>
          <p:cNvSpPr/>
          <p:nvPr/>
        </p:nvSpPr>
        <p:spPr>
          <a:xfrm>
            <a:off x="941832" y="3131820"/>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Print acknowledgement</a:t>
            </a:r>
            <a:endParaRPr lang="en-US" sz="640" dirty="0"/>
          </a:p>
        </p:txBody>
      </p:sp>
      <p:sp>
        <p:nvSpPr>
          <p:cNvPr id="15" name="Shape 13"/>
          <p:cNvSpPr/>
          <p:nvPr/>
        </p:nvSpPr>
        <p:spPr>
          <a:xfrm>
            <a:off x="1097280" y="4864608"/>
            <a:ext cx="1188720" cy="310896"/>
          </a:xfrm>
          <a:prstGeom prst="roundRect">
            <a:avLst>
              <a:gd name="adj" fmla="val 11765"/>
            </a:avLst>
          </a:prstGeom>
          <a:solidFill>
            <a:srgbClr val="0B0A2A"/>
          </a:solidFill>
          <a:ln w="12700">
            <a:solidFill>
              <a:srgbClr val="0B0A2A">
                <a:alpha val="0"/>
              </a:srgbClr>
            </a:solidFill>
            <a:prstDash val="solid"/>
          </a:ln>
        </p:spPr>
      </p:sp>
      <p:sp>
        <p:nvSpPr>
          <p:cNvPr id="16" name="Text 14"/>
          <p:cNvSpPr/>
          <p:nvPr/>
        </p:nvSpPr>
        <p:spPr>
          <a:xfrm>
            <a:off x="1097280" y="4946904"/>
            <a:ext cx="1188720" cy="109728"/>
          </a:xfrm>
          <a:prstGeom prst="rect">
            <a:avLst/>
          </a:prstGeom>
          <a:noFill/>
          <a:ln/>
        </p:spPr>
        <p:txBody>
          <a:bodyPr wrap="square" lIns="0" tIns="0" rIns="0" bIns="0" rtlCol="0" anchor="ctr"/>
          <a:lstStyle/>
          <a:p>
            <a:pPr algn="ctr" indent="0" marL="0">
              <a:buNone/>
            </a:pPr>
            <a:r>
              <a:rPr lang="en-US" sz="700" b="1" dirty="0">
                <a:solidFill>
                  <a:srgbClr val="FFFFFF"/>
                </a:solidFill>
              </a:rPr>
              <a:t>Continue</a:t>
            </a:r>
            <a:endParaRPr lang="en-US" sz="700" dirty="0"/>
          </a:p>
        </p:txBody>
      </p:sp>
      <p:sp>
        <p:nvSpPr>
          <p:cNvPr id="17" name="Shape 15"/>
          <p:cNvSpPr/>
          <p:nvPr/>
        </p:nvSpPr>
        <p:spPr>
          <a:xfrm>
            <a:off x="3063240" y="1143000"/>
            <a:ext cx="2011680" cy="4251960"/>
          </a:xfrm>
          <a:prstGeom prst="roundRect">
            <a:avLst>
              <a:gd name="adj" fmla="val 5455"/>
            </a:avLst>
          </a:prstGeom>
          <a:solidFill>
            <a:srgbClr val="FFFFFF"/>
          </a:solidFill>
          <a:ln w="13970">
            <a:solidFill>
              <a:srgbClr val="344054"/>
            </a:solidFill>
            <a:prstDash val="solid"/>
          </a:ln>
          <a:effectLst>
            <a:outerShdw sx="100000" sy="100000" kx="0" ky="0" algn="bl" rotWithShape="0" blurRad="25400" dist="12700" dir="2700000">
              <a:srgbClr val="000000">
                <a:alpha val="12000"/>
              </a:srgbClr>
            </a:outerShdw>
          </a:effectLst>
        </p:spPr>
      </p:sp>
      <p:sp>
        <p:nvSpPr>
          <p:cNvPr id="18" name="Shape 16"/>
          <p:cNvSpPr/>
          <p:nvPr/>
        </p:nvSpPr>
        <p:spPr>
          <a:xfrm>
            <a:off x="3163824" y="1298448"/>
            <a:ext cx="1810512" cy="393192"/>
          </a:xfrm>
          <a:prstGeom prst="rect">
            <a:avLst/>
          </a:prstGeom>
          <a:solidFill>
            <a:srgbClr val="155EEF"/>
          </a:solidFill>
          <a:ln w="12700">
            <a:solidFill>
              <a:srgbClr val="155EEF">
                <a:alpha val="0"/>
              </a:srgbClr>
            </a:solidFill>
            <a:prstDash val="solid"/>
          </a:ln>
        </p:spPr>
      </p:sp>
      <p:sp>
        <p:nvSpPr>
          <p:cNvPr id="19" name="Text 17"/>
          <p:cNvSpPr/>
          <p:nvPr/>
        </p:nvSpPr>
        <p:spPr>
          <a:xfrm>
            <a:off x="3209544" y="1371600"/>
            <a:ext cx="1719072" cy="201168"/>
          </a:xfrm>
          <a:prstGeom prst="rect">
            <a:avLst/>
          </a:prstGeom>
          <a:noFill/>
          <a:ln/>
        </p:spPr>
        <p:txBody>
          <a:bodyPr wrap="square" lIns="0" tIns="0" rIns="0" bIns="0" rtlCol="0" anchor="ctr"/>
          <a:lstStyle/>
          <a:p>
            <a:pPr algn="ctr" indent="0" marL="0">
              <a:buNone/>
            </a:pPr>
            <a:r>
              <a:rPr lang="en-US" sz="830" b="1" dirty="0">
                <a:solidFill>
                  <a:srgbClr val="FFFFFF"/>
                </a:solidFill>
              </a:rPr>
              <a:t>Document Capture</a:t>
            </a:r>
            <a:endParaRPr lang="en-US" sz="830" dirty="0"/>
          </a:p>
        </p:txBody>
      </p:sp>
      <p:sp>
        <p:nvSpPr>
          <p:cNvPr id="20" name="Shape 18"/>
          <p:cNvSpPr/>
          <p:nvPr/>
        </p:nvSpPr>
        <p:spPr>
          <a:xfrm>
            <a:off x="3227832" y="1856232"/>
            <a:ext cx="1682496" cy="292608"/>
          </a:xfrm>
          <a:prstGeom prst="roundRect">
            <a:avLst>
              <a:gd name="adj" fmla="val 9375"/>
            </a:avLst>
          </a:prstGeom>
          <a:solidFill>
            <a:srgbClr val="F2F4F7"/>
          </a:solidFill>
          <a:ln w="7620">
            <a:solidFill>
              <a:srgbClr val="D0D5DD"/>
            </a:solidFill>
            <a:prstDash val="solid"/>
          </a:ln>
        </p:spPr>
      </p:sp>
      <p:sp>
        <p:nvSpPr>
          <p:cNvPr id="21" name="Text 19"/>
          <p:cNvSpPr/>
          <p:nvPr/>
        </p:nvSpPr>
        <p:spPr>
          <a:xfrm>
            <a:off x="3319272" y="1924812"/>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Scan Aadhaar consent slip</a:t>
            </a:r>
            <a:endParaRPr lang="en-US" sz="640" dirty="0"/>
          </a:p>
        </p:txBody>
      </p:sp>
      <p:sp>
        <p:nvSpPr>
          <p:cNvPr id="22" name="Shape 20"/>
          <p:cNvSpPr/>
          <p:nvPr/>
        </p:nvSpPr>
        <p:spPr>
          <a:xfrm>
            <a:off x="3227832" y="2258568"/>
            <a:ext cx="1682496" cy="292608"/>
          </a:xfrm>
          <a:prstGeom prst="roundRect">
            <a:avLst>
              <a:gd name="adj" fmla="val 9375"/>
            </a:avLst>
          </a:prstGeom>
          <a:solidFill>
            <a:srgbClr val="F2F4F7"/>
          </a:solidFill>
          <a:ln w="7620">
            <a:solidFill>
              <a:srgbClr val="D0D5DD"/>
            </a:solidFill>
            <a:prstDash val="solid"/>
          </a:ln>
        </p:spPr>
      </p:sp>
      <p:sp>
        <p:nvSpPr>
          <p:cNvPr id="23" name="Text 21"/>
          <p:cNvSpPr/>
          <p:nvPr/>
        </p:nvSpPr>
        <p:spPr>
          <a:xfrm>
            <a:off x="3319272" y="2327148"/>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Ration card</a:t>
            </a:r>
            <a:endParaRPr lang="en-US" sz="640" dirty="0"/>
          </a:p>
        </p:txBody>
      </p:sp>
      <p:sp>
        <p:nvSpPr>
          <p:cNvPr id="24" name="Shape 22"/>
          <p:cNvSpPr/>
          <p:nvPr/>
        </p:nvSpPr>
        <p:spPr>
          <a:xfrm>
            <a:off x="3227832" y="2660904"/>
            <a:ext cx="1682496" cy="292608"/>
          </a:xfrm>
          <a:prstGeom prst="roundRect">
            <a:avLst>
              <a:gd name="adj" fmla="val 9375"/>
            </a:avLst>
          </a:prstGeom>
          <a:solidFill>
            <a:srgbClr val="F2F4F7"/>
          </a:solidFill>
          <a:ln w="7620">
            <a:solidFill>
              <a:srgbClr val="D0D5DD"/>
            </a:solidFill>
            <a:prstDash val="solid"/>
          </a:ln>
        </p:spPr>
      </p:sp>
      <p:sp>
        <p:nvSpPr>
          <p:cNvPr id="25" name="Text 23"/>
          <p:cNvSpPr/>
          <p:nvPr/>
        </p:nvSpPr>
        <p:spPr>
          <a:xfrm>
            <a:off x="3319272" y="2729484"/>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Address proof</a:t>
            </a:r>
            <a:endParaRPr lang="en-US" sz="640" dirty="0"/>
          </a:p>
        </p:txBody>
      </p:sp>
      <p:sp>
        <p:nvSpPr>
          <p:cNvPr id="26" name="Shape 24"/>
          <p:cNvSpPr/>
          <p:nvPr/>
        </p:nvSpPr>
        <p:spPr>
          <a:xfrm>
            <a:off x="3227832" y="3063240"/>
            <a:ext cx="1682496" cy="292608"/>
          </a:xfrm>
          <a:prstGeom prst="roundRect">
            <a:avLst>
              <a:gd name="adj" fmla="val 9375"/>
            </a:avLst>
          </a:prstGeom>
          <a:solidFill>
            <a:srgbClr val="F2F4F7"/>
          </a:solidFill>
          <a:ln w="7620">
            <a:solidFill>
              <a:srgbClr val="D0D5DD"/>
            </a:solidFill>
            <a:prstDash val="solid"/>
          </a:ln>
        </p:spPr>
      </p:sp>
      <p:sp>
        <p:nvSpPr>
          <p:cNvPr id="27" name="Text 25"/>
          <p:cNvSpPr/>
          <p:nvPr/>
        </p:nvSpPr>
        <p:spPr>
          <a:xfrm>
            <a:off x="3319272" y="3131820"/>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Photo quality check</a:t>
            </a:r>
            <a:endParaRPr lang="en-US" sz="640" dirty="0"/>
          </a:p>
        </p:txBody>
      </p:sp>
      <p:sp>
        <p:nvSpPr>
          <p:cNvPr id="28" name="Shape 26"/>
          <p:cNvSpPr/>
          <p:nvPr/>
        </p:nvSpPr>
        <p:spPr>
          <a:xfrm>
            <a:off x="3474720" y="4864608"/>
            <a:ext cx="1188720" cy="310896"/>
          </a:xfrm>
          <a:prstGeom prst="roundRect">
            <a:avLst>
              <a:gd name="adj" fmla="val 11765"/>
            </a:avLst>
          </a:prstGeom>
          <a:solidFill>
            <a:srgbClr val="155EEF"/>
          </a:solidFill>
          <a:ln w="12700">
            <a:solidFill>
              <a:srgbClr val="155EEF">
                <a:alpha val="0"/>
              </a:srgbClr>
            </a:solidFill>
            <a:prstDash val="solid"/>
          </a:ln>
        </p:spPr>
      </p:sp>
      <p:sp>
        <p:nvSpPr>
          <p:cNvPr id="29" name="Text 27"/>
          <p:cNvSpPr/>
          <p:nvPr/>
        </p:nvSpPr>
        <p:spPr>
          <a:xfrm>
            <a:off x="3474720" y="4946904"/>
            <a:ext cx="1188720" cy="109728"/>
          </a:xfrm>
          <a:prstGeom prst="rect">
            <a:avLst/>
          </a:prstGeom>
          <a:noFill/>
          <a:ln/>
        </p:spPr>
        <p:txBody>
          <a:bodyPr wrap="square" lIns="0" tIns="0" rIns="0" bIns="0" rtlCol="0" anchor="ctr"/>
          <a:lstStyle/>
          <a:p>
            <a:pPr algn="ctr" indent="0" marL="0">
              <a:buNone/>
            </a:pPr>
            <a:r>
              <a:rPr lang="en-US" sz="700" b="1" dirty="0">
                <a:solidFill>
                  <a:srgbClr val="FFFFFF"/>
                </a:solidFill>
              </a:rPr>
              <a:t>Continue</a:t>
            </a:r>
            <a:endParaRPr lang="en-US" sz="700" dirty="0"/>
          </a:p>
        </p:txBody>
      </p:sp>
      <p:sp>
        <p:nvSpPr>
          <p:cNvPr id="30" name="Shape 28"/>
          <p:cNvSpPr/>
          <p:nvPr/>
        </p:nvSpPr>
        <p:spPr>
          <a:xfrm>
            <a:off x="5440680" y="1143000"/>
            <a:ext cx="2011680" cy="4251960"/>
          </a:xfrm>
          <a:prstGeom prst="roundRect">
            <a:avLst>
              <a:gd name="adj" fmla="val 5455"/>
            </a:avLst>
          </a:prstGeom>
          <a:solidFill>
            <a:srgbClr val="FFFFFF"/>
          </a:solidFill>
          <a:ln w="13970">
            <a:solidFill>
              <a:srgbClr val="344054"/>
            </a:solidFill>
            <a:prstDash val="solid"/>
          </a:ln>
          <a:effectLst>
            <a:outerShdw sx="100000" sy="100000" kx="0" ky="0" algn="bl" rotWithShape="0" blurRad="25400" dist="12700" dir="2700000">
              <a:srgbClr val="000000">
                <a:alpha val="12000"/>
              </a:srgbClr>
            </a:outerShdw>
          </a:effectLst>
        </p:spPr>
      </p:sp>
      <p:sp>
        <p:nvSpPr>
          <p:cNvPr id="31" name="Shape 29"/>
          <p:cNvSpPr/>
          <p:nvPr/>
        </p:nvSpPr>
        <p:spPr>
          <a:xfrm>
            <a:off x="5541264" y="1298448"/>
            <a:ext cx="1810512" cy="393192"/>
          </a:xfrm>
          <a:prstGeom prst="rect">
            <a:avLst/>
          </a:prstGeom>
          <a:solidFill>
            <a:srgbClr val="0E7C55"/>
          </a:solidFill>
          <a:ln w="12700">
            <a:solidFill>
              <a:srgbClr val="0E7C55">
                <a:alpha val="0"/>
              </a:srgbClr>
            </a:solidFill>
            <a:prstDash val="solid"/>
          </a:ln>
        </p:spPr>
      </p:sp>
      <p:sp>
        <p:nvSpPr>
          <p:cNvPr id="32" name="Text 30"/>
          <p:cNvSpPr/>
          <p:nvPr/>
        </p:nvSpPr>
        <p:spPr>
          <a:xfrm>
            <a:off x="5586984" y="1371600"/>
            <a:ext cx="1719072" cy="201168"/>
          </a:xfrm>
          <a:prstGeom prst="rect">
            <a:avLst/>
          </a:prstGeom>
          <a:noFill/>
          <a:ln/>
        </p:spPr>
        <p:txBody>
          <a:bodyPr wrap="square" lIns="0" tIns="0" rIns="0" bIns="0" rtlCol="0" anchor="ctr"/>
          <a:lstStyle/>
          <a:p>
            <a:pPr algn="ctr" indent="0" marL="0">
              <a:buNone/>
            </a:pPr>
            <a:r>
              <a:rPr lang="en-US" sz="830" b="1" dirty="0">
                <a:solidFill>
                  <a:srgbClr val="FFFFFF"/>
                </a:solidFill>
              </a:rPr>
              <a:t>Verification</a:t>
            </a:r>
            <a:endParaRPr lang="en-US" sz="830" dirty="0"/>
          </a:p>
        </p:txBody>
      </p:sp>
      <p:sp>
        <p:nvSpPr>
          <p:cNvPr id="33" name="Shape 31"/>
          <p:cNvSpPr/>
          <p:nvPr/>
        </p:nvSpPr>
        <p:spPr>
          <a:xfrm>
            <a:off x="5605272" y="1856232"/>
            <a:ext cx="1682496" cy="292608"/>
          </a:xfrm>
          <a:prstGeom prst="roundRect">
            <a:avLst>
              <a:gd name="adj" fmla="val 9375"/>
            </a:avLst>
          </a:prstGeom>
          <a:solidFill>
            <a:srgbClr val="F2F4F7"/>
          </a:solidFill>
          <a:ln w="7620">
            <a:solidFill>
              <a:srgbClr val="D0D5DD"/>
            </a:solidFill>
            <a:prstDash val="solid"/>
          </a:ln>
        </p:spPr>
      </p:sp>
      <p:sp>
        <p:nvSpPr>
          <p:cNvPr id="34" name="Text 32"/>
          <p:cNvSpPr/>
          <p:nvPr/>
        </p:nvSpPr>
        <p:spPr>
          <a:xfrm>
            <a:off x="5696712" y="1924812"/>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Aadhaar auth result</a:t>
            </a:r>
            <a:endParaRPr lang="en-US" sz="640" dirty="0"/>
          </a:p>
        </p:txBody>
      </p:sp>
      <p:sp>
        <p:nvSpPr>
          <p:cNvPr id="35" name="Shape 33"/>
          <p:cNvSpPr/>
          <p:nvPr/>
        </p:nvSpPr>
        <p:spPr>
          <a:xfrm>
            <a:off x="5605272" y="2258568"/>
            <a:ext cx="1682496" cy="292608"/>
          </a:xfrm>
          <a:prstGeom prst="roundRect">
            <a:avLst>
              <a:gd name="adj" fmla="val 9375"/>
            </a:avLst>
          </a:prstGeom>
          <a:solidFill>
            <a:srgbClr val="F2F4F7"/>
          </a:solidFill>
          <a:ln w="7620">
            <a:solidFill>
              <a:srgbClr val="D0D5DD"/>
            </a:solidFill>
            <a:prstDash val="solid"/>
          </a:ln>
        </p:spPr>
      </p:sp>
      <p:sp>
        <p:nvSpPr>
          <p:cNvPr id="36" name="Text 34"/>
          <p:cNvSpPr/>
          <p:nvPr/>
        </p:nvSpPr>
        <p:spPr>
          <a:xfrm>
            <a:off x="5696712" y="2327148"/>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Face/biometric result</a:t>
            </a:r>
            <a:endParaRPr lang="en-US" sz="640" dirty="0"/>
          </a:p>
        </p:txBody>
      </p:sp>
      <p:sp>
        <p:nvSpPr>
          <p:cNvPr id="37" name="Shape 35"/>
          <p:cNvSpPr/>
          <p:nvPr/>
        </p:nvSpPr>
        <p:spPr>
          <a:xfrm>
            <a:off x="5605272" y="2660904"/>
            <a:ext cx="1682496" cy="292608"/>
          </a:xfrm>
          <a:prstGeom prst="roundRect">
            <a:avLst>
              <a:gd name="adj" fmla="val 9375"/>
            </a:avLst>
          </a:prstGeom>
          <a:solidFill>
            <a:srgbClr val="F2F4F7"/>
          </a:solidFill>
          <a:ln w="7620">
            <a:solidFill>
              <a:srgbClr val="D0D5DD"/>
            </a:solidFill>
            <a:prstDash val="solid"/>
          </a:ln>
        </p:spPr>
      </p:sp>
      <p:sp>
        <p:nvSpPr>
          <p:cNvPr id="38" name="Text 36"/>
          <p:cNvSpPr/>
          <p:nvPr/>
        </p:nvSpPr>
        <p:spPr>
          <a:xfrm>
            <a:off x="5696712" y="2729484"/>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Exception reason</a:t>
            </a:r>
            <a:endParaRPr lang="en-US" sz="640" dirty="0"/>
          </a:p>
        </p:txBody>
      </p:sp>
      <p:sp>
        <p:nvSpPr>
          <p:cNvPr id="39" name="Shape 37"/>
          <p:cNvSpPr/>
          <p:nvPr/>
        </p:nvSpPr>
        <p:spPr>
          <a:xfrm>
            <a:off x="5605272" y="3063240"/>
            <a:ext cx="1682496" cy="292608"/>
          </a:xfrm>
          <a:prstGeom prst="roundRect">
            <a:avLst>
              <a:gd name="adj" fmla="val 9375"/>
            </a:avLst>
          </a:prstGeom>
          <a:solidFill>
            <a:srgbClr val="F2F4F7"/>
          </a:solidFill>
          <a:ln w="7620">
            <a:solidFill>
              <a:srgbClr val="D0D5DD"/>
            </a:solidFill>
            <a:prstDash val="solid"/>
          </a:ln>
        </p:spPr>
      </p:sp>
      <p:sp>
        <p:nvSpPr>
          <p:cNvPr id="40" name="Text 38"/>
          <p:cNvSpPr/>
          <p:nvPr/>
        </p:nvSpPr>
        <p:spPr>
          <a:xfrm>
            <a:off x="5696712" y="3131820"/>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Operator remarks</a:t>
            </a:r>
            <a:endParaRPr lang="en-US" sz="640" dirty="0"/>
          </a:p>
        </p:txBody>
      </p:sp>
      <p:sp>
        <p:nvSpPr>
          <p:cNvPr id="41" name="Shape 39"/>
          <p:cNvSpPr/>
          <p:nvPr/>
        </p:nvSpPr>
        <p:spPr>
          <a:xfrm>
            <a:off x="5852160" y="4864608"/>
            <a:ext cx="1188720" cy="310896"/>
          </a:xfrm>
          <a:prstGeom prst="roundRect">
            <a:avLst>
              <a:gd name="adj" fmla="val 11765"/>
            </a:avLst>
          </a:prstGeom>
          <a:solidFill>
            <a:srgbClr val="0E7C55"/>
          </a:solidFill>
          <a:ln w="12700">
            <a:solidFill>
              <a:srgbClr val="0E7C55">
                <a:alpha val="0"/>
              </a:srgbClr>
            </a:solidFill>
            <a:prstDash val="solid"/>
          </a:ln>
        </p:spPr>
      </p:sp>
      <p:sp>
        <p:nvSpPr>
          <p:cNvPr id="42" name="Text 40"/>
          <p:cNvSpPr/>
          <p:nvPr/>
        </p:nvSpPr>
        <p:spPr>
          <a:xfrm>
            <a:off x="5852160" y="4946904"/>
            <a:ext cx="1188720" cy="109728"/>
          </a:xfrm>
          <a:prstGeom prst="rect">
            <a:avLst/>
          </a:prstGeom>
          <a:noFill/>
          <a:ln/>
        </p:spPr>
        <p:txBody>
          <a:bodyPr wrap="square" lIns="0" tIns="0" rIns="0" bIns="0" rtlCol="0" anchor="ctr"/>
          <a:lstStyle/>
          <a:p>
            <a:pPr algn="ctr" indent="0" marL="0">
              <a:buNone/>
            </a:pPr>
            <a:r>
              <a:rPr lang="en-US" sz="700" b="1" dirty="0">
                <a:solidFill>
                  <a:srgbClr val="FFFFFF"/>
                </a:solidFill>
              </a:rPr>
              <a:t>Continue</a:t>
            </a:r>
            <a:endParaRPr lang="en-US" sz="700" dirty="0"/>
          </a:p>
        </p:txBody>
      </p:sp>
      <p:sp>
        <p:nvSpPr>
          <p:cNvPr id="43" name="Shape 41"/>
          <p:cNvSpPr/>
          <p:nvPr/>
        </p:nvSpPr>
        <p:spPr>
          <a:xfrm>
            <a:off x="7818120" y="1143000"/>
            <a:ext cx="2011680" cy="4251960"/>
          </a:xfrm>
          <a:prstGeom prst="roundRect">
            <a:avLst>
              <a:gd name="adj" fmla="val 5455"/>
            </a:avLst>
          </a:prstGeom>
          <a:solidFill>
            <a:srgbClr val="FFFFFF"/>
          </a:solidFill>
          <a:ln w="13970">
            <a:solidFill>
              <a:srgbClr val="344054"/>
            </a:solidFill>
            <a:prstDash val="solid"/>
          </a:ln>
          <a:effectLst>
            <a:outerShdw sx="100000" sy="100000" kx="0" ky="0" algn="bl" rotWithShape="0" blurRad="25400" dist="12700" dir="2700000">
              <a:srgbClr val="000000">
                <a:alpha val="12000"/>
              </a:srgbClr>
            </a:outerShdw>
          </a:effectLst>
        </p:spPr>
      </p:sp>
      <p:sp>
        <p:nvSpPr>
          <p:cNvPr id="44" name="Shape 42"/>
          <p:cNvSpPr/>
          <p:nvPr/>
        </p:nvSpPr>
        <p:spPr>
          <a:xfrm>
            <a:off x="7918704" y="1298448"/>
            <a:ext cx="1810512" cy="393192"/>
          </a:xfrm>
          <a:prstGeom prst="rect">
            <a:avLst/>
          </a:prstGeom>
          <a:solidFill>
            <a:srgbClr val="7A5AF8"/>
          </a:solidFill>
          <a:ln w="12700">
            <a:solidFill>
              <a:srgbClr val="7A5AF8">
                <a:alpha val="0"/>
              </a:srgbClr>
            </a:solidFill>
            <a:prstDash val="solid"/>
          </a:ln>
        </p:spPr>
      </p:sp>
      <p:sp>
        <p:nvSpPr>
          <p:cNvPr id="45" name="Text 43"/>
          <p:cNvSpPr/>
          <p:nvPr/>
        </p:nvSpPr>
        <p:spPr>
          <a:xfrm>
            <a:off x="7964424" y="1371600"/>
            <a:ext cx="1719072" cy="201168"/>
          </a:xfrm>
          <a:prstGeom prst="rect">
            <a:avLst/>
          </a:prstGeom>
          <a:noFill/>
          <a:ln/>
        </p:spPr>
        <p:txBody>
          <a:bodyPr wrap="square" lIns="0" tIns="0" rIns="0" bIns="0" rtlCol="0" anchor="ctr"/>
          <a:lstStyle/>
          <a:p>
            <a:pPr algn="ctr" indent="0" marL="0">
              <a:buNone/>
            </a:pPr>
            <a:r>
              <a:rPr lang="en-US" sz="830" b="1" dirty="0">
                <a:solidFill>
                  <a:srgbClr val="FFFFFF"/>
                </a:solidFill>
              </a:rPr>
              <a:t>Submission</a:t>
            </a:r>
            <a:endParaRPr lang="en-US" sz="830" dirty="0"/>
          </a:p>
        </p:txBody>
      </p:sp>
      <p:sp>
        <p:nvSpPr>
          <p:cNvPr id="46" name="Shape 44"/>
          <p:cNvSpPr/>
          <p:nvPr/>
        </p:nvSpPr>
        <p:spPr>
          <a:xfrm>
            <a:off x="7982712" y="1856232"/>
            <a:ext cx="1682496" cy="292608"/>
          </a:xfrm>
          <a:prstGeom prst="roundRect">
            <a:avLst>
              <a:gd name="adj" fmla="val 9375"/>
            </a:avLst>
          </a:prstGeom>
          <a:solidFill>
            <a:srgbClr val="F2F4F7"/>
          </a:solidFill>
          <a:ln w="7620">
            <a:solidFill>
              <a:srgbClr val="D0D5DD"/>
            </a:solidFill>
            <a:prstDash val="solid"/>
          </a:ln>
        </p:spPr>
      </p:sp>
      <p:sp>
        <p:nvSpPr>
          <p:cNvPr id="47" name="Text 45"/>
          <p:cNvSpPr/>
          <p:nvPr/>
        </p:nvSpPr>
        <p:spPr>
          <a:xfrm>
            <a:off x="8074152" y="1924812"/>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Application summary</a:t>
            </a:r>
            <a:endParaRPr lang="en-US" sz="640" dirty="0"/>
          </a:p>
        </p:txBody>
      </p:sp>
      <p:sp>
        <p:nvSpPr>
          <p:cNvPr id="48" name="Shape 46"/>
          <p:cNvSpPr/>
          <p:nvPr/>
        </p:nvSpPr>
        <p:spPr>
          <a:xfrm>
            <a:off x="7982712" y="2258568"/>
            <a:ext cx="1682496" cy="292608"/>
          </a:xfrm>
          <a:prstGeom prst="roundRect">
            <a:avLst>
              <a:gd name="adj" fmla="val 9375"/>
            </a:avLst>
          </a:prstGeom>
          <a:solidFill>
            <a:srgbClr val="F2F4F7"/>
          </a:solidFill>
          <a:ln w="7620">
            <a:solidFill>
              <a:srgbClr val="D0D5DD"/>
            </a:solidFill>
            <a:prstDash val="solid"/>
          </a:ln>
        </p:spPr>
      </p:sp>
      <p:sp>
        <p:nvSpPr>
          <p:cNvPr id="49" name="Text 47"/>
          <p:cNvSpPr/>
          <p:nvPr/>
        </p:nvSpPr>
        <p:spPr>
          <a:xfrm>
            <a:off x="8074152" y="2327148"/>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Household match score</a:t>
            </a:r>
            <a:endParaRPr lang="en-US" sz="640" dirty="0"/>
          </a:p>
        </p:txBody>
      </p:sp>
      <p:sp>
        <p:nvSpPr>
          <p:cNvPr id="50" name="Shape 48"/>
          <p:cNvSpPr/>
          <p:nvPr/>
        </p:nvSpPr>
        <p:spPr>
          <a:xfrm>
            <a:off x="7982712" y="2660904"/>
            <a:ext cx="1682496" cy="292608"/>
          </a:xfrm>
          <a:prstGeom prst="roundRect">
            <a:avLst>
              <a:gd name="adj" fmla="val 9375"/>
            </a:avLst>
          </a:prstGeom>
          <a:solidFill>
            <a:srgbClr val="F2F4F7"/>
          </a:solidFill>
          <a:ln w="7620">
            <a:solidFill>
              <a:srgbClr val="D0D5DD"/>
            </a:solidFill>
            <a:prstDash val="solid"/>
          </a:ln>
        </p:spPr>
      </p:sp>
      <p:sp>
        <p:nvSpPr>
          <p:cNvPr id="51" name="Text 49"/>
          <p:cNvSpPr/>
          <p:nvPr/>
        </p:nvSpPr>
        <p:spPr>
          <a:xfrm>
            <a:off x="8074152" y="2729484"/>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Beneficiary notice</a:t>
            </a:r>
            <a:endParaRPr lang="en-US" sz="640" dirty="0"/>
          </a:p>
        </p:txBody>
      </p:sp>
      <p:sp>
        <p:nvSpPr>
          <p:cNvPr id="52" name="Shape 50"/>
          <p:cNvSpPr/>
          <p:nvPr/>
        </p:nvSpPr>
        <p:spPr>
          <a:xfrm>
            <a:off x="7982712" y="3063240"/>
            <a:ext cx="1682496" cy="292608"/>
          </a:xfrm>
          <a:prstGeom prst="roundRect">
            <a:avLst>
              <a:gd name="adj" fmla="val 9375"/>
            </a:avLst>
          </a:prstGeom>
          <a:solidFill>
            <a:srgbClr val="F2F4F7"/>
          </a:solidFill>
          <a:ln w="7620">
            <a:solidFill>
              <a:srgbClr val="D0D5DD"/>
            </a:solidFill>
            <a:prstDash val="solid"/>
          </a:ln>
        </p:spPr>
      </p:sp>
      <p:sp>
        <p:nvSpPr>
          <p:cNvPr id="53" name="Text 51"/>
          <p:cNvSpPr/>
          <p:nvPr/>
        </p:nvSpPr>
        <p:spPr>
          <a:xfrm>
            <a:off x="8074152" y="3131820"/>
            <a:ext cx="1499616" cy="128016"/>
          </a:xfrm>
          <a:prstGeom prst="rect">
            <a:avLst/>
          </a:prstGeom>
          <a:noFill/>
          <a:ln/>
        </p:spPr>
        <p:txBody>
          <a:bodyPr wrap="square" lIns="0" tIns="0" rIns="0" bIns="0" rtlCol="0" anchor="ctr">
            <a:normAutofit/>
          </a:bodyPr>
          <a:lstStyle/>
          <a:p>
            <a:pPr indent="0" marL="0">
              <a:buNone/>
            </a:pPr>
            <a:r>
              <a:rPr lang="en-US" sz="640" dirty="0">
                <a:solidFill>
                  <a:srgbClr val="101828"/>
                </a:solidFill>
              </a:rPr>
              <a:t>Receipt print</a:t>
            </a:r>
            <a:endParaRPr lang="en-US" sz="640" dirty="0"/>
          </a:p>
        </p:txBody>
      </p:sp>
      <p:sp>
        <p:nvSpPr>
          <p:cNvPr id="54" name="Shape 52"/>
          <p:cNvSpPr/>
          <p:nvPr/>
        </p:nvSpPr>
        <p:spPr>
          <a:xfrm>
            <a:off x="8229600" y="4864608"/>
            <a:ext cx="1188720" cy="310896"/>
          </a:xfrm>
          <a:prstGeom prst="roundRect">
            <a:avLst>
              <a:gd name="adj" fmla="val 11765"/>
            </a:avLst>
          </a:prstGeom>
          <a:solidFill>
            <a:srgbClr val="7A5AF8"/>
          </a:solidFill>
          <a:ln w="12700">
            <a:solidFill>
              <a:srgbClr val="7A5AF8">
                <a:alpha val="0"/>
              </a:srgbClr>
            </a:solidFill>
            <a:prstDash val="solid"/>
          </a:ln>
        </p:spPr>
      </p:sp>
      <p:sp>
        <p:nvSpPr>
          <p:cNvPr id="55" name="Text 53"/>
          <p:cNvSpPr/>
          <p:nvPr/>
        </p:nvSpPr>
        <p:spPr>
          <a:xfrm>
            <a:off x="8229600" y="4946904"/>
            <a:ext cx="1188720" cy="109728"/>
          </a:xfrm>
          <a:prstGeom prst="rect">
            <a:avLst/>
          </a:prstGeom>
          <a:noFill/>
          <a:ln/>
        </p:spPr>
        <p:txBody>
          <a:bodyPr wrap="square" lIns="0" tIns="0" rIns="0" bIns="0" rtlCol="0" anchor="ctr"/>
          <a:lstStyle/>
          <a:p>
            <a:pPr algn="ctr" indent="0" marL="0">
              <a:buNone/>
            </a:pPr>
            <a:r>
              <a:rPr lang="en-US" sz="700" b="1" dirty="0">
                <a:solidFill>
                  <a:srgbClr val="FFFFFF"/>
                </a:solidFill>
              </a:rPr>
              <a:t>Continue</a:t>
            </a:r>
            <a:endParaRPr lang="en-US" sz="700" dirty="0"/>
          </a:p>
        </p:txBody>
      </p:sp>
      <p:sp>
        <p:nvSpPr>
          <p:cNvPr id="56" name="Text 54"/>
          <p:cNvSpPr/>
          <p:nvPr/>
        </p:nvSpPr>
        <p:spPr>
          <a:xfrm>
            <a:off x="822960" y="5806440"/>
            <a:ext cx="10424160" cy="256032"/>
          </a:xfrm>
          <a:prstGeom prst="rect">
            <a:avLst/>
          </a:prstGeom>
          <a:noFill/>
          <a:ln/>
        </p:spPr>
        <p:txBody>
          <a:bodyPr wrap="square" lIns="0" tIns="0" rIns="0" bIns="0" rtlCol="0" anchor="ctr"/>
          <a:lstStyle/>
          <a:p>
            <a:pPr algn="ctr" indent="0" marL="0">
              <a:buNone/>
            </a:pPr>
            <a:r>
              <a:rPr lang="en-US" sz="850" dirty="0">
                <a:solidFill>
                  <a:srgbClr val="667085"/>
                </a:solidFill>
              </a:rPr>
              <a:t>No decision should depend only on operator judgement; the operator captures evidence and the platform records the decision reason.</a:t>
            </a:r>
            <a:endParaRPr lang="en-US" sz="85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Mock-up screens: admin and call-centre workbench</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Operational teams manage rules, exceptions, appeals and beneficiary communications.</a:t>
            </a:r>
            <a:endParaRPr lang="en-US" sz="950" dirty="0"/>
          </a:p>
        </p:txBody>
      </p:sp>
      <p:sp>
        <p:nvSpPr>
          <p:cNvPr id="4" name="Shape 2"/>
          <p:cNvSpPr/>
          <p:nvPr/>
        </p:nvSpPr>
        <p:spPr>
          <a:xfrm>
            <a:off x="685800" y="1143000"/>
            <a:ext cx="5120640" cy="4389120"/>
          </a:xfrm>
          <a:prstGeom prst="roundRect">
            <a:avLst>
              <a:gd name="adj" fmla="val 833"/>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5" name="Text 3"/>
          <p:cNvSpPr/>
          <p:nvPr/>
        </p:nvSpPr>
        <p:spPr>
          <a:xfrm>
            <a:off x="758952" y="1216152"/>
            <a:ext cx="4974336" cy="4242816"/>
          </a:xfrm>
          <a:prstGeom prst="rect">
            <a:avLst/>
          </a:prstGeom>
          <a:noFill/>
          <a:ln/>
        </p:spPr>
        <p:txBody>
          <a:bodyPr wrap="square" lIns="254" tIns="254" rIns="254" bIns="254" rtlCol="0" anchor="ctr">
            <a:normAutofit/>
          </a:bodyPr>
          <a:lstStyle/>
          <a:p>
            <a:pPr algn="ctr" indent="0" marL="0">
              <a:buNone/>
            </a:pPr>
            <a:endParaRPr lang="en-US" sz="900" dirty="0"/>
          </a:p>
        </p:txBody>
      </p:sp>
      <p:sp>
        <p:nvSpPr>
          <p:cNvPr id="6" name="Text 4"/>
          <p:cNvSpPr/>
          <p:nvPr/>
        </p:nvSpPr>
        <p:spPr>
          <a:xfrm>
            <a:off x="896112" y="1353312"/>
            <a:ext cx="2560320" cy="228600"/>
          </a:xfrm>
          <a:prstGeom prst="rect">
            <a:avLst/>
          </a:prstGeom>
          <a:noFill/>
          <a:ln/>
        </p:spPr>
        <p:txBody>
          <a:bodyPr wrap="square" lIns="0" tIns="0" rIns="0" bIns="0" rtlCol="0" anchor="ctr"/>
          <a:lstStyle/>
          <a:p>
            <a:pPr indent="0" marL="0">
              <a:buNone/>
            </a:pPr>
            <a:r>
              <a:rPr lang="en-US" sz="1300" b="1" dirty="0">
                <a:solidFill>
                  <a:srgbClr val="0B0A2A"/>
                </a:solidFill>
              </a:rPr>
              <a:t>Scheme Admin Dashboard</a:t>
            </a:r>
            <a:endParaRPr lang="en-US" sz="1300" dirty="0"/>
          </a:p>
        </p:txBody>
      </p:sp>
      <p:sp>
        <p:nvSpPr>
          <p:cNvPr id="7" name="Shape 5"/>
          <p:cNvSpPr/>
          <p:nvPr/>
        </p:nvSpPr>
        <p:spPr>
          <a:xfrm>
            <a:off x="914400" y="1828800"/>
            <a:ext cx="2011680" cy="347472"/>
          </a:xfrm>
          <a:prstGeom prst="roundRect">
            <a:avLst>
              <a:gd name="adj" fmla="val 10526"/>
            </a:avLst>
          </a:prstGeom>
          <a:solidFill>
            <a:srgbClr val="F2F4F7"/>
          </a:solidFill>
          <a:ln w="12700">
            <a:solidFill>
              <a:srgbClr val="D0D5DD"/>
            </a:solidFill>
            <a:prstDash val="solid"/>
          </a:ln>
        </p:spPr>
      </p:sp>
      <p:sp>
        <p:nvSpPr>
          <p:cNvPr id="8" name="Text 6"/>
          <p:cNvSpPr/>
          <p:nvPr/>
        </p:nvSpPr>
        <p:spPr>
          <a:xfrm>
            <a:off x="987552" y="1901952"/>
            <a:ext cx="1865376" cy="201168"/>
          </a:xfrm>
          <a:prstGeom prst="rect">
            <a:avLst/>
          </a:prstGeom>
          <a:noFill/>
          <a:ln/>
        </p:spPr>
        <p:txBody>
          <a:bodyPr wrap="square" lIns="254" tIns="254" rIns="254" bIns="254" rtlCol="0" anchor="ctr">
            <a:normAutofit/>
          </a:bodyPr>
          <a:lstStyle/>
          <a:p>
            <a:pPr algn="l" indent="0" marL="0">
              <a:buNone/>
            </a:pPr>
            <a:r>
              <a:rPr lang="en-US" sz="750" b="1" dirty="0">
                <a:solidFill>
                  <a:srgbClr val="101828"/>
                </a:solidFill>
              </a:rPr>
              <a:t>Retention rule</a:t>
            </a:r>
            <a:endParaRPr lang="en-US" sz="750" dirty="0"/>
          </a:p>
        </p:txBody>
      </p:sp>
      <p:sp>
        <p:nvSpPr>
          <p:cNvPr id="9" name="Shape 7"/>
          <p:cNvSpPr/>
          <p:nvPr/>
        </p:nvSpPr>
        <p:spPr>
          <a:xfrm>
            <a:off x="3063240" y="1828800"/>
            <a:ext cx="2148840" cy="347472"/>
          </a:xfrm>
          <a:prstGeom prst="roundRect">
            <a:avLst>
              <a:gd name="adj" fmla="val 10526"/>
            </a:avLst>
          </a:prstGeom>
          <a:solidFill>
            <a:srgbClr val="FFFFFF"/>
          </a:solidFill>
          <a:ln w="12700">
            <a:solidFill>
              <a:srgbClr val="D0D5DD"/>
            </a:solidFill>
            <a:prstDash val="solid"/>
          </a:ln>
        </p:spPr>
      </p:sp>
      <p:sp>
        <p:nvSpPr>
          <p:cNvPr id="10" name="Text 8"/>
          <p:cNvSpPr/>
          <p:nvPr/>
        </p:nvSpPr>
        <p:spPr>
          <a:xfrm>
            <a:off x="3136392" y="1901952"/>
            <a:ext cx="2002536" cy="201168"/>
          </a:xfrm>
          <a:prstGeom prst="rect">
            <a:avLst/>
          </a:prstGeom>
          <a:noFill/>
          <a:ln/>
        </p:spPr>
        <p:txBody>
          <a:bodyPr wrap="square" lIns="254" tIns="254" rIns="254" bIns="254" rtlCol="0" anchor="ctr">
            <a:normAutofit/>
          </a:bodyPr>
          <a:lstStyle/>
          <a:p>
            <a:pPr algn="l" indent="0" marL="0">
              <a:buNone/>
            </a:pPr>
            <a:r>
              <a:rPr lang="en-US" sz="750" dirty="0">
                <a:solidFill>
                  <a:srgbClr val="101828"/>
                </a:solidFill>
              </a:rPr>
              <a:t>Oldest member</a:t>
            </a:r>
            <a:endParaRPr lang="en-US" sz="750" dirty="0"/>
          </a:p>
        </p:txBody>
      </p:sp>
      <p:sp>
        <p:nvSpPr>
          <p:cNvPr id="11" name="Shape 9"/>
          <p:cNvSpPr/>
          <p:nvPr/>
        </p:nvSpPr>
        <p:spPr>
          <a:xfrm>
            <a:off x="914400" y="2359152"/>
            <a:ext cx="2011680" cy="347472"/>
          </a:xfrm>
          <a:prstGeom prst="roundRect">
            <a:avLst>
              <a:gd name="adj" fmla="val 10526"/>
            </a:avLst>
          </a:prstGeom>
          <a:solidFill>
            <a:srgbClr val="F2F4F7"/>
          </a:solidFill>
          <a:ln w="12700">
            <a:solidFill>
              <a:srgbClr val="D0D5DD"/>
            </a:solidFill>
            <a:prstDash val="solid"/>
          </a:ln>
        </p:spPr>
      </p:sp>
      <p:sp>
        <p:nvSpPr>
          <p:cNvPr id="12" name="Text 10"/>
          <p:cNvSpPr/>
          <p:nvPr/>
        </p:nvSpPr>
        <p:spPr>
          <a:xfrm>
            <a:off x="987552" y="2432304"/>
            <a:ext cx="1865376" cy="201168"/>
          </a:xfrm>
          <a:prstGeom prst="rect">
            <a:avLst/>
          </a:prstGeom>
          <a:noFill/>
          <a:ln/>
        </p:spPr>
        <p:txBody>
          <a:bodyPr wrap="square" lIns="254" tIns="254" rIns="254" bIns="254" rtlCol="0" anchor="ctr">
            <a:normAutofit/>
          </a:bodyPr>
          <a:lstStyle/>
          <a:p>
            <a:pPr algn="l" indent="0" marL="0">
              <a:buNone/>
            </a:pPr>
            <a:r>
              <a:rPr lang="en-US" sz="750" b="1" dirty="0">
                <a:solidFill>
                  <a:srgbClr val="101828"/>
                </a:solidFill>
              </a:rPr>
              <a:t>Life-proof interval</a:t>
            </a:r>
            <a:endParaRPr lang="en-US" sz="750" dirty="0"/>
          </a:p>
        </p:txBody>
      </p:sp>
      <p:sp>
        <p:nvSpPr>
          <p:cNvPr id="13" name="Shape 11"/>
          <p:cNvSpPr/>
          <p:nvPr/>
        </p:nvSpPr>
        <p:spPr>
          <a:xfrm>
            <a:off x="3063240" y="2359152"/>
            <a:ext cx="2148840" cy="347472"/>
          </a:xfrm>
          <a:prstGeom prst="roundRect">
            <a:avLst>
              <a:gd name="adj" fmla="val 10526"/>
            </a:avLst>
          </a:prstGeom>
          <a:solidFill>
            <a:srgbClr val="FFFFFF"/>
          </a:solidFill>
          <a:ln w="12700">
            <a:solidFill>
              <a:srgbClr val="D0D5DD"/>
            </a:solidFill>
            <a:prstDash val="solid"/>
          </a:ln>
        </p:spPr>
      </p:sp>
      <p:sp>
        <p:nvSpPr>
          <p:cNvPr id="14" name="Text 12"/>
          <p:cNvSpPr/>
          <p:nvPr/>
        </p:nvSpPr>
        <p:spPr>
          <a:xfrm>
            <a:off x="3136392" y="2432304"/>
            <a:ext cx="2002536" cy="201168"/>
          </a:xfrm>
          <a:prstGeom prst="rect">
            <a:avLst/>
          </a:prstGeom>
          <a:noFill/>
          <a:ln/>
        </p:spPr>
        <p:txBody>
          <a:bodyPr wrap="square" lIns="254" tIns="254" rIns="254" bIns="254" rtlCol="0" anchor="ctr">
            <a:normAutofit/>
          </a:bodyPr>
          <a:lstStyle/>
          <a:p>
            <a:pPr algn="l" indent="0" marL="0">
              <a:buNone/>
            </a:pPr>
            <a:r>
              <a:rPr lang="en-US" sz="750" dirty="0">
                <a:solidFill>
                  <a:srgbClr val="101828"/>
                </a:solidFill>
              </a:rPr>
              <a:t>Every 2 months</a:t>
            </a:r>
            <a:endParaRPr lang="en-US" sz="750" dirty="0"/>
          </a:p>
        </p:txBody>
      </p:sp>
      <p:sp>
        <p:nvSpPr>
          <p:cNvPr id="15" name="Shape 13"/>
          <p:cNvSpPr/>
          <p:nvPr/>
        </p:nvSpPr>
        <p:spPr>
          <a:xfrm>
            <a:off x="914400" y="2889504"/>
            <a:ext cx="2011680" cy="347472"/>
          </a:xfrm>
          <a:prstGeom prst="roundRect">
            <a:avLst>
              <a:gd name="adj" fmla="val 10526"/>
            </a:avLst>
          </a:prstGeom>
          <a:solidFill>
            <a:srgbClr val="F2F4F7"/>
          </a:solidFill>
          <a:ln w="12700">
            <a:solidFill>
              <a:srgbClr val="D0D5DD"/>
            </a:solidFill>
            <a:prstDash val="solid"/>
          </a:ln>
        </p:spPr>
      </p:sp>
      <p:sp>
        <p:nvSpPr>
          <p:cNvPr id="16" name="Text 14"/>
          <p:cNvSpPr/>
          <p:nvPr/>
        </p:nvSpPr>
        <p:spPr>
          <a:xfrm>
            <a:off x="987552" y="2962656"/>
            <a:ext cx="1865376" cy="201168"/>
          </a:xfrm>
          <a:prstGeom prst="rect">
            <a:avLst/>
          </a:prstGeom>
          <a:noFill/>
          <a:ln/>
        </p:spPr>
        <p:txBody>
          <a:bodyPr wrap="square" lIns="254" tIns="254" rIns="254" bIns="254" rtlCol="0" anchor="ctr">
            <a:normAutofit/>
          </a:bodyPr>
          <a:lstStyle/>
          <a:p>
            <a:pPr algn="l" indent="0" marL="0">
              <a:buNone/>
            </a:pPr>
            <a:r>
              <a:rPr lang="en-US" sz="750" b="1" dirty="0">
                <a:solidFill>
                  <a:srgbClr val="101828"/>
                </a:solidFill>
              </a:rPr>
              <a:t>Grace period</a:t>
            </a:r>
            <a:endParaRPr lang="en-US" sz="750" dirty="0"/>
          </a:p>
        </p:txBody>
      </p:sp>
      <p:sp>
        <p:nvSpPr>
          <p:cNvPr id="17" name="Shape 15"/>
          <p:cNvSpPr/>
          <p:nvPr/>
        </p:nvSpPr>
        <p:spPr>
          <a:xfrm>
            <a:off x="3063240" y="2889504"/>
            <a:ext cx="2148840" cy="347472"/>
          </a:xfrm>
          <a:prstGeom prst="roundRect">
            <a:avLst>
              <a:gd name="adj" fmla="val 10526"/>
            </a:avLst>
          </a:prstGeom>
          <a:solidFill>
            <a:srgbClr val="FFFFFF"/>
          </a:solidFill>
          <a:ln w="12700">
            <a:solidFill>
              <a:srgbClr val="D0D5DD"/>
            </a:solidFill>
            <a:prstDash val="solid"/>
          </a:ln>
        </p:spPr>
      </p:sp>
      <p:sp>
        <p:nvSpPr>
          <p:cNvPr id="18" name="Text 16"/>
          <p:cNvSpPr/>
          <p:nvPr/>
        </p:nvSpPr>
        <p:spPr>
          <a:xfrm>
            <a:off x="3136392" y="2962656"/>
            <a:ext cx="2002536" cy="201168"/>
          </a:xfrm>
          <a:prstGeom prst="rect">
            <a:avLst/>
          </a:prstGeom>
          <a:noFill/>
          <a:ln/>
        </p:spPr>
        <p:txBody>
          <a:bodyPr wrap="square" lIns="254" tIns="254" rIns="254" bIns="254" rtlCol="0" anchor="ctr">
            <a:normAutofit/>
          </a:bodyPr>
          <a:lstStyle/>
          <a:p>
            <a:pPr algn="l" indent="0" marL="0">
              <a:buNone/>
            </a:pPr>
            <a:r>
              <a:rPr lang="en-US" sz="750" dirty="0">
                <a:solidFill>
                  <a:srgbClr val="101828"/>
                </a:solidFill>
              </a:rPr>
              <a:t>15 days</a:t>
            </a:r>
            <a:endParaRPr lang="en-US" sz="750" dirty="0"/>
          </a:p>
        </p:txBody>
      </p:sp>
      <p:sp>
        <p:nvSpPr>
          <p:cNvPr id="19" name="Shape 17"/>
          <p:cNvSpPr/>
          <p:nvPr/>
        </p:nvSpPr>
        <p:spPr>
          <a:xfrm>
            <a:off x="914400" y="3419856"/>
            <a:ext cx="2011680" cy="347472"/>
          </a:xfrm>
          <a:prstGeom prst="roundRect">
            <a:avLst>
              <a:gd name="adj" fmla="val 10526"/>
            </a:avLst>
          </a:prstGeom>
          <a:solidFill>
            <a:srgbClr val="F2F4F7"/>
          </a:solidFill>
          <a:ln w="12700">
            <a:solidFill>
              <a:srgbClr val="D0D5DD"/>
            </a:solidFill>
            <a:prstDash val="solid"/>
          </a:ln>
        </p:spPr>
      </p:sp>
      <p:sp>
        <p:nvSpPr>
          <p:cNvPr id="20" name="Text 18"/>
          <p:cNvSpPr/>
          <p:nvPr/>
        </p:nvSpPr>
        <p:spPr>
          <a:xfrm>
            <a:off x="987552" y="3493008"/>
            <a:ext cx="1865376" cy="201168"/>
          </a:xfrm>
          <a:prstGeom prst="rect">
            <a:avLst/>
          </a:prstGeom>
          <a:noFill/>
          <a:ln/>
        </p:spPr>
        <p:txBody>
          <a:bodyPr wrap="square" lIns="254" tIns="254" rIns="254" bIns="254" rtlCol="0" anchor="ctr">
            <a:normAutofit/>
          </a:bodyPr>
          <a:lstStyle/>
          <a:p>
            <a:pPr algn="l" indent="0" marL="0">
              <a:buNone/>
            </a:pPr>
            <a:r>
              <a:rPr lang="en-US" sz="750" b="1" dirty="0">
                <a:solidFill>
                  <a:srgbClr val="101828"/>
                </a:solidFill>
              </a:rPr>
              <a:t>Notice template</a:t>
            </a:r>
            <a:endParaRPr lang="en-US" sz="750" dirty="0"/>
          </a:p>
        </p:txBody>
      </p:sp>
      <p:sp>
        <p:nvSpPr>
          <p:cNvPr id="21" name="Shape 19"/>
          <p:cNvSpPr/>
          <p:nvPr/>
        </p:nvSpPr>
        <p:spPr>
          <a:xfrm>
            <a:off x="3063240" y="3419856"/>
            <a:ext cx="2148840" cy="347472"/>
          </a:xfrm>
          <a:prstGeom prst="roundRect">
            <a:avLst>
              <a:gd name="adj" fmla="val 10526"/>
            </a:avLst>
          </a:prstGeom>
          <a:solidFill>
            <a:srgbClr val="FFFFFF"/>
          </a:solidFill>
          <a:ln w="12700">
            <a:solidFill>
              <a:srgbClr val="D0D5DD"/>
            </a:solidFill>
            <a:prstDash val="solid"/>
          </a:ln>
        </p:spPr>
      </p:sp>
      <p:sp>
        <p:nvSpPr>
          <p:cNvPr id="22" name="Text 20"/>
          <p:cNvSpPr/>
          <p:nvPr/>
        </p:nvSpPr>
        <p:spPr>
          <a:xfrm>
            <a:off x="3136392" y="3493008"/>
            <a:ext cx="2002536" cy="201168"/>
          </a:xfrm>
          <a:prstGeom prst="rect">
            <a:avLst/>
          </a:prstGeom>
          <a:noFill/>
          <a:ln/>
        </p:spPr>
        <p:txBody>
          <a:bodyPr wrap="square" lIns="254" tIns="254" rIns="254" bIns="254" rtlCol="0" anchor="ctr">
            <a:normAutofit/>
          </a:bodyPr>
          <a:lstStyle/>
          <a:p>
            <a:pPr algn="l" indent="0" marL="0">
              <a:buNone/>
            </a:pPr>
            <a:r>
              <a:rPr lang="en-US" sz="750" dirty="0">
                <a:solidFill>
                  <a:srgbClr val="101828"/>
                </a:solidFill>
              </a:rPr>
              <a:t>Kannada + English</a:t>
            </a:r>
            <a:endParaRPr lang="en-US" sz="750" dirty="0"/>
          </a:p>
        </p:txBody>
      </p:sp>
      <p:sp>
        <p:nvSpPr>
          <p:cNvPr id="23" name="Shape 21"/>
          <p:cNvSpPr/>
          <p:nvPr/>
        </p:nvSpPr>
        <p:spPr>
          <a:xfrm>
            <a:off x="914400" y="4343400"/>
            <a:ext cx="4297680" cy="475488"/>
          </a:xfrm>
          <a:prstGeom prst="roundRect">
            <a:avLst>
              <a:gd name="adj" fmla="val 7692"/>
            </a:avLst>
          </a:prstGeom>
          <a:solidFill>
            <a:srgbClr val="155EEF"/>
          </a:solidFill>
          <a:ln w="12700">
            <a:solidFill>
              <a:srgbClr val="155EEF"/>
            </a:solidFill>
            <a:prstDash val="solid"/>
          </a:ln>
        </p:spPr>
      </p:sp>
      <p:sp>
        <p:nvSpPr>
          <p:cNvPr id="24" name="Text 22"/>
          <p:cNvSpPr/>
          <p:nvPr/>
        </p:nvSpPr>
        <p:spPr>
          <a:xfrm>
            <a:off x="987552" y="4416552"/>
            <a:ext cx="4151376" cy="329184"/>
          </a:xfrm>
          <a:prstGeom prst="rect">
            <a:avLst/>
          </a:prstGeom>
          <a:noFill/>
          <a:ln/>
        </p:spPr>
        <p:txBody>
          <a:bodyPr wrap="square" lIns="254" tIns="254" rIns="254" bIns="254" rtlCol="0" anchor="ctr">
            <a:normAutofit/>
          </a:bodyPr>
          <a:lstStyle/>
          <a:p>
            <a:pPr algn="ctr" indent="0" marL="0">
              <a:buNone/>
            </a:pPr>
            <a:r>
              <a:rPr lang="en-US" sz="850" b="1" dirty="0">
                <a:solidFill>
                  <a:srgbClr val="FFFFFF"/>
                </a:solidFill>
              </a:rPr>
              <a:t>Approve policy configuration / Publish to districts</a:t>
            </a:r>
            <a:endParaRPr lang="en-US" sz="850" dirty="0"/>
          </a:p>
        </p:txBody>
      </p:sp>
      <p:sp>
        <p:nvSpPr>
          <p:cNvPr id="25" name="Shape 23"/>
          <p:cNvSpPr/>
          <p:nvPr/>
        </p:nvSpPr>
        <p:spPr>
          <a:xfrm>
            <a:off x="6309360" y="1143000"/>
            <a:ext cx="5120640" cy="4389120"/>
          </a:xfrm>
          <a:prstGeom prst="roundRect">
            <a:avLst>
              <a:gd name="adj" fmla="val 833"/>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26" name="Text 24"/>
          <p:cNvSpPr/>
          <p:nvPr/>
        </p:nvSpPr>
        <p:spPr>
          <a:xfrm>
            <a:off x="6382512" y="1216152"/>
            <a:ext cx="4974336" cy="4242816"/>
          </a:xfrm>
          <a:prstGeom prst="rect">
            <a:avLst/>
          </a:prstGeom>
          <a:noFill/>
          <a:ln/>
        </p:spPr>
        <p:txBody>
          <a:bodyPr wrap="square" lIns="254" tIns="254" rIns="254" bIns="254" rtlCol="0" anchor="ctr">
            <a:normAutofit/>
          </a:bodyPr>
          <a:lstStyle/>
          <a:p>
            <a:pPr algn="ctr" indent="0" marL="0">
              <a:buNone/>
            </a:pPr>
            <a:endParaRPr lang="en-US" sz="900" dirty="0"/>
          </a:p>
        </p:txBody>
      </p:sp>
      <p:sp>
        <p:nvSpPr>
          <p:cNvPr id="27" name="Text 25"/>
          <p:cNvSpPr/>
          <p:nvPr/>
        </p:nvSpPr>
        <p:spPr>
          <a:xfrm>
            <a:off x="6519672" y="1353312"/>
            <a:ext cx="2560320" cy="228600"/>
          </a:xfrm>
          <a:prstGeom prst="rect">
            <a:avLst/>
          </a:prstGeom>
          <a:noFill/>
          <a:ln/>
        </p:spPr>
        <p:txBody>
          <a:bodyPr wrap="square" lIns="0" tIns="0" rIns="0" bIns="0" rtlCol="0" anchor="ctr"/>
          <a:lstStyle/>
          <a:p>
            <a:pPr indent="0" marL="0">
              <a:buNone/>
            </a:pPr>
            <a:r>
              <a:rPr lang="en-US" sz="1300" b="1" dirty="0">
                <a:solidFill>
                  <a:srgbClr val="0B0A2A"/>
                </a:solidFill>
              </a:rPr>
              <a:t>Call Centre Case View</a:t>
            </a:r>
            <a:endParaRPr lang="en-US" sz="1300" dirty="0"/>
          </a:p>
        </p:txBody>
      </p:sp>
      <p:sp>
        <p:nvSpPr>
          <p:cNvPr id="28" name="Shape 26"/>
          <p:cNvSpPr/>
          <p:nvPr/>
        </p:nvSpPr>
        <p:spPr>
          <a:xfrm>
            <a:off x="6537960" y="1828800"/>
            <a:ext cx="1828800" cy="347472"/>
          </a:xfrm>
          <a:prstGeom prst="roundRect">
            <a:avLst>
              <a:gd name="adj" fmla="val 10526"/>
            </a:avLst>
          </a:prstGeom>
          <a:solidFill>
            <a:srgbClr val="F2F4F7"/>
          </a:solidFill>
          <a:ln w="12700">
            <a:solidFill>
              <a:srgbClr val="D0D5DD"/>
            </a:solidFill>
            <a:prstDash val="solid"/>
          </a:ln>
        </p:spPr>
      </p:sp>
      <p:sp>
        <p:nvSpPr>
          <p:cNvPr id="29" name="Text 27"/>
          <p:cNvSpPr/>
          <p:nvPr/>
        </p:nvSpPr>
        <p:spPr>
          <a:xfrm>
            <a:off x="6611112" y="1901952"/>
            <a:ext cx="1682496" cy="201168"/>
          </a:xfrm>
          <a:prstGeom prst="rect">
            <a:avLst/>
          </a:prstGeom>
          <a:noFill/>
          <a:ln/>
        </p:spPr>
        <p:txBody>
          <a:bodyPr wrap="square" lIns="254" tIns="254" rIns="254" bIns="254" rtlCol="0" anchor="ctr">
            <a:normAutofit/>
          </a:bodyPr>
          <a:lstStyle/>
          <a:p>
            <a:pPr algn="l" indent="0" marL="0">
              <a:buNone/>
            </a:pPr>
            <a:r>
              <a:rPr lang="en-US" sz="750" b="1" dirty="0">
                <a:solidFill>
                  <a:srgbClr val="101828"/>
                </a:solidFill>
              </a:rPr>
              <a:t>Beneficiary</a:t>
            </a:r>
            <a:endParaRPr lang="en-US" sz="750" dirty="0"/>
          </a:p>
        </p:txBody>
      </p:sp>
      <p:sp>
        <p:nvSpPr>
          <p:cNvPr id="30" name="Shape 28"/>
          <p:cNvSpPr/>
          <p:nvPr/>
        </p:nvSpPr>
        <p:spPr>
          <a:xfrm>
            <a:off x="8503920" y="1828800"/>
            <a:ext cx="2148840" cy="347472"/>
          </a:xfrm>
          <a:prstGeom prst="roundRect">
            <a:avLst>
              <a:gd name="adj" fmla="val 10526"/>
            </a:avLst>
          </a:prstGeom>
          <a:solidFill>
            <a:srgbClr val="FFFFFF"/>
          </a:solidFill>
          <a:ln w="12700">
            <a:solidFill>
              <a:srgbClr val="D0D5DD"/>
            </a:solidFill>
            <a:prstDash val="solid"/>
          </a:ln>
        </p:spPr>
      </p:sp>
      <p:sp>
        <p:nvSpPr>
          <p:cNvPr id="31" name="Text 29"/>
          <p:cNvSpPr/>
          <p:nvPr/>
        </p:nvSpPr>
        <p:spPr>
          <a:xfrm>
            <a:off x="8577072" y="1901952"/>
            <a:ext cx="2002536" cy="201168"/>
          </a:xfrm>
          <a:prstGeom prst="rect">
            <a:avLst/>
          </a:prstGeom>
          <a:noFill/>
          <a:ln/>
        </p:spPr>
        <p:txBody>
          <a:bodyPr wrap="square" lIns="254" tIns="254" rIns="254" bIns="254" rtlCol="0" anchor="ctr">
            <a:normAutofit/>
          </a:bodyPr>
          <a:lstStyle/>
          <a:p>
            <a:pPr algn="l" indent="0" marL="0">
              <a:buNone/>
            </a:pPr>
            <a:r>
              <a:rPr lang="en-US" sz="750" dirty="0">
                <a:solidFill>
                  <a:srgbClr val="101828"/>
                </a:solidFill>
              </a:rPr>
              <a:t>Lakshmi R.</a:t>
            </a:r>
            <a:endParaRPr lang="en-US" sz="750" dirty="0"/>
          </a:p>
        </p:txBody>
      </p:sp>
      <p:sp>
        <p:nvSpPr>
          <p:cNvPr id="32" name="Shape 30"/>
          <p:cNvSpPr/>
          <p:nvPr/>
        </p:nvSpPr>
        <p:spPr>
          <a:xfrm>
            <a:off x="6537960" y="2359152"/>
            <a:ext cx="1828800" cy="347472"/>
          </a:xfrm>
          <a:prstGeom prst="roundRect">
            <a:avLst>
              <a:gd name="adj" fmla="val 10526"/>
            </a:avLst>
          </a:prstGeom>
          <a:solidFill>
            <a:srgbClr val="F2F4F7"/>
          </a:solidFill>
          <a:ln w="12700">
            <a:solidFill>
              <a:srgbClr val="D0D5DD"/>
            </a:solidFill>
            <a:prstDash val="solid"/>
          </a:ln>
        </p:spPr>
      </p:sp>
      <p:sp>
        <p:nvSpPr>
          <p:cNvPr id="33" name="Text 31"/>
          <p:cNvSpPr/>
          <p:nvPr/>
        </p:nvSpPr>
        <p:spPr>
          <a:xfrm>
            <a:off x="6611112" y="2432304"/>
            <a:ext cx="1682496" cy="201168"/>
          </a:xfrm>
          <a:prstGeom prst="rect">
            <a:avLst/>
          </a:prstGeom>
          <a:noFill/>
          <a:ln/>
        </p:spPr>
        <p:txBody>
          <a:bodyPr wrap="square" lIns="254" tIns="254" rIns="254" bIns="254" rtlCol="0" anchor="ctr">
            <a:normAutofit/>
          </a:bodyPr>
          <a:lstStyle/>
          <a:p>
            <a:pPr algn="l" indent="0" marL="0">
              <a:buNone/>
            </a:pPr>
            <a:r>
              <a:rPr lang="en-US" sz="750" b="1" dirty="0">
                <a:solidFill>
                  <a:srgbClr val="101828"/>
                </a:solidFill>
              </a:rPr>
              <a:t>Status</a:t>
            </a:r>
            <a:endParaRPr lang="en-US" sz="750" dirty="0"/>
          </a:p>
        </p:txBody>
      </p:sp>
      <p:sp>
        <p:nvSpPr>
          <p:cNvPr id="34" name="Shape 32"/>
          <p:cNvSpPr/>
          <p:nvPr/>
        </p:nvSpPr>
        <p:spPr>
          <a:xfrm>
            <a:off x="8503920" y="2359152"/>
            <a:ext cx="2148840" cy="347472"/>
          </a:xfrm>
          <a:prstGeom prst="roundRect">
            <a:avLst>
              <a:gd name="adj" fmla="val 10526"/>
            </a:avLst>
          </a:prstGeom>
          <a:solidFill>
            <a:srgbClr val="FFFFFF"/>
          </a:solidFill>
          <a:ln w="12700">
            <a:solidFill>
              <a:srgbClr val="D0D5DD"/>
            </a:solidFill>
            <a:prstDash val="solid"/>
          </a:ln>
        </p:spPr>
      </p:sp>
      <p:sp>
        <p:nvSpPr>
          <p:cNvPr id="35" name="Text 33"/>
          <p:cNvSpPr/>
          <p:nvPr/>
        </p:nvSpPr>
        <p:spPr>
          <a:xfrm>
            <a:off x="8577072" y="2432304"/>
            <a:ext cx="2002536" cy="201168"/>
          </a:xfrm>
          <a:prstGeom prst="rect">
            <a:avLst/>
          </a:prstGeom>
          <a:noFill/>
          <a:ln/>
        </p:spPr>
        <p:txBody>
          <a:bodyPr wrap="square" lIns="254" tIns="254" rIns="254" bIns="254" rtlCol="0" anchor="ctr">
            <a:normAutofit/>
          </a:bodyPr>
          <a:lstStyle/>
          <a:p>
            <a:pPr algn="l" indent="0" marL="0">
              <a:buNone/>
            </a:pPr>
            <a:r>
              <a:rPr lang="en-US" sz="750" dirty="0">
                <a:solidFill>
                  <a:srgbClr val="101828"/>
                </a:solidFill>
              </a:rPr>
              <a:t>Inactive - life-proof pending</a:t>
            </a:r>
            <a:endParaRPr lang="en-US" sz="750" dirty="0"/>
          </a:p>
        </p:txBody>
      </p:sp>
      <p:sp>
        <p:nvSpPr>
          <p:cNvPr id="36" name="Shape 34"/>
          <p:cNvSpPr/>
          <p:nvPr/>
        </p:nvSpPr>
        <p:spPr>
          <a:xfrm>
            <a:off x="6537960" y="2889504"/>
            <a:ext cx="1828800" cy="347472"/>
          </a:xfrm>
          <a:prstGeom prst="roundRect">
            <a:avLst>
              <a:gd name="adj" fmla="val 10526"/>
            </a:avLst>
          </a:prstGeom>
          <a:solidFill>
            <a:srgbClr val="F2F4F7"/>
          </a:solidFill>
          <a:ln w="12700">
            <a:solidFill>
              <a:srgbClr val="D0D5DD"/>
            </a:solidFill>
            <a:prstDash val="solid"/>
          </a:ln>
        </p:spPr>
      </p:sp>
      <p:sp>
        <p:nvSpPr>
          <p:cNvPr id="37" name="Text 35"/>
          <p:cNvSpPr/>
          <p:nvPr/>
        </p:nvSpPr>
        <p:spPr>
          <a:xfrm>
            <a:off x="6611112" y="2962656"/>
            <a:ext cx="1682496" cy="201168"/>
          </a:xfrm>
          <a:prstGeom prst="rect">
            <a:avLst/>
          </a:prstGeom>
          <a:noFill/>
          <a:ln/>
        </p:spPr>
        <p:txBody>
          <a:bodyPr wrap="square" lIns="254" tIns="254" rIns="254" bIns="254" rtlCol="0" anchor="ctr">
            <a:normAutofit/>
          </a:bodyPr>
          <a:lstStyle/>
          <a:p>
            <a:pPr algn="l" indent="0" marL="0">
              <a:buNone/>
            </a:pPr>
            <a:r>
              <a:rPr lang="en-US" sz="750" b="1" dirty="0">
                <a:solidFill>
                  <a:srgbClr val="101828"/>
                </a:solidFill>
              </a:rPr>
              <a:t>Next action</a:t>
            </a:r>
            <a:endParaRPr lang="en-US" sz="750" dirty="0"/>
          </a:p>
        </p:txBody>
      </p:sp>
      <p:sp>
        <p:nvSpPr>
          <p:cNvPr id="38" name="Shape 36"/>
          <p:cNvSpPr/>
          <p:nvPr/>
        </p:nvSpPr>
        <p:spPr>
          <a:xfrm>
            <a:off x="8503920" y="2889504"/>
            <a:ext cx="2148840" cy="347472"/>
          </a:xfrm>
          <a:prstGeom prst="roundRect">
            <a:avLst>
              <a:gd name="adj" fmla="val 10526"/>
            </a:avLst>
          </a:prstGeom>
          <a:solidFill>
            <a:srgbClr val="FFFFFF"/>
          </a:solidFill>
          <a:ln w="12700">
            <a:solidFill>
              <a:srgbClr val="D0D5DD"/>
            </a:solidFill>
            <a:prstDash val="solid"/>
          </a:ln>
        </p:spPr>
      </p:sp>
      <p:sp>
        <p:nvSpPr>
          <p:cNvPr id="39" name="Text 37"/>
          <p:cNvSpPr/>
          <p:nvPr/>
        </p:nvSpPr>
        <p:spPr>
          <a:xfrm>
            <a:off x="8577072" y="2962656"/>
            <a:ext cx="2002536" cy="201168"/>
          </a:xfrm>
          <a:prstGeom prst="rect">
            <a:avLst/>
          </a:prstGeom>
          <a:noFill/>
          <a:ln/>
        </p:spPr>
        <p:txBody>
          <a:bodyPr wrap="square" lIns="254" tIns="254" rIns="254" bIns="254" rtlCol="0" anchor="ctr">
            <a:normAutofit/>
          </a:bodyPr>
          <a:lstStyle/>
          <a:p>
            <a:pPr algn="l" indent="0" marL="0">
              <a:buNone/>
            </a:pPr>
            <a:r>
              <a:rPr lang="en-US" sz="750" dirty="0">
                <a:solidFill>
                  <a:srgbClr val="101828"/>
                </a:solidFill>
              </a:rPr>
              <a:t>Book service-centre visit</a:t>
            </a:r>
            <a:endParaRPr lang="en-US" sz="750" dirty="0"/>
          </a:p>
        </p:txBody>
      </p:sp>
      <p:sp>
        <p:nvSpPr>
          <p:cNvPr id="40" name="Shape 38"/>
          <p:cNvSpPr/>
          <p:nvPr/>
        </p:nvSpPr>
        <p:spPr>
          <a:xfrm>
            <a:off x="6537960" y="3419856"/>
            <a:ext cx="1828800" cy="347472"/>
          </a:xfrm>
          <a:prstGeom prst="roundRect">
            <a:avLst>
              <a:gd name="adj" fmla="val 10526"/>
            </a:avLst>
          </a:prstGeom>
          <a:solidFill>
            <a:srgbClr val="F2F4F7"/>
          </a:solidFill>
          <a:ln w="12700">
            <a:solidFill>
              <a:srgbClr val="D0D5DD"/>
            </a:solidFill>
            <a:prstDash val="solid"/>
          </a:ln>
        </p:spPr>
      </p:sp>
      <p:sp>
        <p:nvSpPr>
          <p:cNvPr id="41" name="Text 39"/>
          <p:cNvSpPr/>
          <p:nvPr/>
        </p:nvSpPr>
        <p:spPr>
          <a:xfrm>
            <a:off x="6611112" y="3493008"/>
            <a:ext cx="1682496" cy="201168"/>
          </a:xfrm>
          <a:prstGeom prst="rect">
            <a:avLst/>
          </a:prstGeom>
          <a:noFill/>
          <a:ln/>
        </p:spPr>
        <p:txBody>
          <a:bodyPr wrap="square" lIns="254" tIns="254" rIns="254" bIns="254" rtlCol="0" anchor="ctr">
            <a:normAutofit/>
          </a:bodyPr>
          <a:lstStyle/>
          <a:p>
            <a:pPr algn="l" indent="0" marL="0">
              <a:buNone/>
            </a:pPr>
            <a:r>
              <a:rPr lang="en-US" sz="750" b="1" dirty="0">
                <a:solidFill>
                  <a:srgbClr val="101828"/>
                </a:solidFill>
              </a:rPr>
              <a:t>SLA</a:t>
            </a:r>
            <a:endParaRPr lang="en-US" sz="750" dirty="0"/>
          </a:p>
        </p:txBody>
      </p:sp>
      <p:sp>
        <p:nvSpPr>
          <p:cNvPr id="42" name="Shape 40"/>
          <p:cNvSpPr/>
          <p:nvPr/>
        </p:nvSpPr>
        <p:spPr>
          <a:xfrm>
            <a:off x="8503920" y="3419856"/>
            <a:ext cx="2148840" cy="347472"/>
          </a:xfrm>
          <a:prstGeom prst="roundRect">
            <a:avLst>
              <a:gd name="adj" fmla="val 10526"/>
            </a:avLst>
          </a:prstGeom>
          <a:solidFill>
            <a:srgbClr val="FFFFFF"/>
          </a:solidFill>
          <a:ln w="12700">
            <a:solidFill>
              <a:srgbClr val="D0D5DD"/>
            </a:solidFill>
            <a:prstDash val="solid"/>
          </a:ln>
        </p:spPr>
      </p:sp>
      <p:sp>
        <p:nvSpPr>
          <p:cNvPr id="43" name="Text 41"/>
          <p:cNvSpPr/>
          <p:nvPr/>
        </p:nvSpPr>
        <p:spPr>
          <a:xfrm>
            <a:off x="8577072" y="3493008"/>
            <a:ext cx="2002536" cy="201168"/>
          </a:xfrm>
          <a:prstGeom prst="rect">
            <a:avLst/>
          </a:prstGeom>
          <a:noFill/>
          <a:ln/>
        </p:spPr>
        <p:txBody>
          <a:bodyPr wrap="square" lIns="254" tIns="254" rIns="254" bIns="254" rtlCol="0" anchor="ctr">
            <a:normAutofit/>
          </a:bodyPr>
          <a:lstStyle/>
          <a:p>
            <a:pPr algn="l" indent="0" marL="0">
              <a:buNone/>
            </a:pPr>
            <a:r>
              <a:rPr lang="en-US" sz="750" dirty="0">
                <a:solidFill>
                  <a:srgbClr val="101828"/>
                </a:solidFill>
              </a:rPr>
              <a:t>2 days remaining</a:t>
            </a:r>
            <a:endParaRPr lang="en-US" sz="750" dirty="0"/>
          </a:p>
        </p:txBody>
      </p:sp>
      <p:sp>
        <p:nvSpPr>
          <p:cNvPr id="44" name="Shape 42"/>
          <p:cNvSpPr/>
          <p:nvPr/>
        </p:nvSpPr>
        <p:spPr>
          <a:xfrm>
            <a:off x="6537960" y="4343400"/>
            <a:ext cx="4297680" cy="475488"/>
          </a:xfrm>
          <a:prstGeom prst="roundRect">
            <a:avLst>
              <a:gd name="adj" fmla="val 7692"/>
            </a:avLst>
          </a:prstGeom>
          <a:solidFill>
            <a:srgbClr val="0E7C55"/>
          </a:solidFill>
          <a:ln w="12700">
            <a:solidFill>
              <a:srgbClr val="0E7C55"/>
            </a:solidFill>
            <a:prstDash val="solid"/>
          </a:ln>
        </p:spPr>
      </p:sp>
      <p:sp>
        <p:nvSpPr>
          <p:cNvPr id="45" name="Text 43"/>
          <p:cNvSpPr/>
          <p:nvPr/>
        </p:nvSpPr>
        <p:spPr>
          <a:xfrm>
            <a:off x="6611112" y="4416552"/>
            <a:ext cx="4151376" cy="329184"/>
          </a:xfrm>
          <a:prstGeom prst="rect">
            <a:avLst/>
          </a:prstGeom>
          <a:noFill/>
          <a:ln/>
        </p:spPr>
        <p:txBody>
          <a:bodyPr wrap="square" lIns="254" tIns="254" rIns="254" bIns="254" rtlCol="0" anchor="ctr">
            <a:normAutofit/>
          </a:bodyPr>
          <a:lstStyle/>
          <a:p>
            <a:pPr algn="ctr" indent="0" marL="0">
              <a:buNone/>
            </a:pPr>
            <a:r>
              <a:rPr lang="en-US" sz="820" b="1" dirty="0">
                <a:solidFill>
                  <a:srgbClr val="FFFFFF"/>
                </a:solidFill>
              </a:rPr>
              <a:t>Create appeal / Send SMS / Escalate to district officer</a:t>
            </a:r>
            <a:endParaRPr lang="en-US" sz="82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High-level architecture</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A modular architecture separates citizen channels, decisioning, DBT and audit.</a:t>
            </a:r>
            <a:endParaRPr lang="en-US" sz="950" dirty="0"/>
          </a:p>
        </p:txBody>
      </p:sp>
      <p:sp>
        <p:nvSpPr>
          <p:cNvPr id="4" name="Shape 2"/>
          <p:cNvSpPr/>
          <p:nvPr/>
        </p:nvSpPr>
        <p:spPr>
          <a:xfrm>
            <a:off x="548640" y="1280160"/>
            <a:ext cx="1783080" cy="749808"/>
          </a:xfrm>
          <a:prstGeom prst="roundRect">
            <a:avLst>
              <a:gd name="adj" fmla="val 4878"/>
            </a:avLst>
          </a:prstGeom>
          <a:solidFill>
            <a:srgbClr val="FFFFFF"/>
          </a:solidFill>
          <a:ln w="12700">
            <a:solidFill>
              <a:srgbClr val="155EEF"/>
            </a:solidFill>
            <a:prstDash val="solid"/>
          </a:ln>
        </p:spPr>
      </p:sp>
      <p:sp>
        <p:nvSpPr>
          <p:cNvPr id="5" name="Text 3"/>
          <p:cNvSpPr/>
          <p:nvPr/>
        </p:nvSpPr>
        <p:spPr>
          <a:xfrm>
            <a:off x="621792" y="1353312"/>
            <a:ext cx="1636776" cy="603504"/>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Channels</a:t>
            </a:r>
            <a:endParaRPr lang="en-US" sz="780" dirty="0"/>
          </a:p>
          <a:p>
            <a:pPr algn="ctr" indent="0" marL="0">
              <a:buNone/>
            </a:pPr>
            <a:r>
              <a:rPr lang="en-US" sz="780" b="1" dirty="0">
                <a:solidFill>
                  <a:srgbClr val="101828"/>
                </a:solidFill>
              </a:rPr>
              <a:t>Mobile, Web, Service Centres, Panchayat</a:t>
            </a:r>
            <a:endParaRPr lang="en-US" sz="780" dirty="0"/>
          </a:p>
        </p:txBody>
      </p:sp>
      <p:sp>
        <p:nvSpPr>
          <p:cNvPr id="6" name="Shape 4"/>
          <p:cNvSpPr/>
          <p:nvPr/>
        </p:nvSpPr>
        <p:spPr>
          <a:xfrm>
            <a:off x="2331720" y="1664208"/>
            <a:ext cx="438912" cy="0"/>
          </a:xfrm>
          <a:prstGeom prst="line">
            <a:avLst/>
          </a:prstGeom>
          <a:noFill/>
          <a:ln w="15240">
            <a:solidFill>
              <a:srgbClr val="D0D5DD"/>
            </a:solidFill>
            <a:prstDash val="solid"/>
            <a:headEnd type="none"/>
            <a:tailEnd type="triangle"/>
          </a:ln>
        </p:spPr>
      </p:sp>
      <p:sp>
        <p:nvSpPr>
          <p:cNvPr id="7" name="Shape 5"/>
          <p:cNvSpPr/>
          <p:nvPr/>
        </p:nvSpPr>
        <p:spPr>
          <a:xfrm>
            <a:off x="2816352" y="1280160"/>
            <a:ext cx="1783080" cy="749808"/>
          </a:xfrm>
          <a:prstGeom prst="roundRect">
            <a:avLst>
              <a:gd name="adj" fmla="val 4878"/>
            </a:avLst>
          </a:prstGeom>
          <a:solidFill>
            <a:srgbClr val="FFFFFF"/>
          </a:solidFill>
          <a:ln w="12700">
            <a:solidFill>
              <a:srgbClr val="7A5AF8"/>
            </a:solidFill>
            <a:prstDash val="solid"/>
          </a:ln>
        </p:spPr>
      </p:sp>
      <p:sp>
        <p:nvSpPr>
          <p:cNvPr id="8" name="Text 6"/>
          <p:cNvSpPr/>
          <p:nvPr/>
        </p:nvSpPr>
        <p:spPr>
          <a:xfrm>
            <a:off x="2889504" y="1353312"/>
            <a:ext cx="1636776" cy="603504"/>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API Gateway</a:t>
            </a:r>
            <a:endParaRPr lang="en-US" sz="780" dirty="0"/>
          </a:p>
          <a:p>
            <a:pPr algn="ctr" indent="0" marL="0">
              <a:buNone/>
            </a:pPr>
            <a:r>
              <a:rPr lang="en-US" sz="780" b="1" dirty="0">
                <a:solidFill>
                  <a:srgbClr val="101828"/>
                </a:solidFill>
              </a:rPr>
              <a:t>Consent, rate limits, security</a:t>
            </a:r>
            <a:endParaRPr lang="en-US" sz="780" dirty="0"/>
          </a:p>
        </p:txBody>
      </p:sp>
      <p:sp>
        <p:nvSpPr>
          <p:cNvPr id="9" name="Shape 7"/>
          <p:cNvSpPr/>
          <p:nvPr/>
        </p:nvSpPr>
        <p:spPr>
          <a:xfrm>
            <a:off x="4599432" y="1664208"/>
            <a:ext cx="438912" cy="0"/>
          </a:xfrm>
          <a:prstGeom prst="line">
            <a:avLst/>
          </a:prstGeom>
          <a:noFill/>
          <a:ln w="15240">
            <a:solidFill>
              <a:srgbClr val="D0D5DD"/>
            </a:solidFill>
            <a:prstDash val="solid"/>
            <a:headEnd type="none"/>
            <a:tailEnd type="triangle"/>
          </a:ln>
        </p:spPr>
      </p:sp>
      <p:sp>
        <p:nvSpPr>
          <p:cNvPr id="10" name="Shape 8"/>
          <p:cNvSpPr/>
          <p:nvPr/>
        </p:nvSpPr>
        <p:spPr>
          <a:xfrm>
            <a:off x="5084064" y="1280160"/>
            <a:ext cx="1783080" cy="749808"/>
          </a:xfrm>
          <a:prstGeom prst="roundRect">
            <a:avLst>
              <a:gd name="adj" fmla="val 4878"/>
            </a:avLst>
          </a:prstGeom>
          <a:solidFill>
            <a:srgbClr val="FFFFFF"/>
          </a:solidFill>
          <a:ln w="12700">
            <a:solidFill>
              <a:srgbClr val="0E7C55"/>
            </a:solidFill>
            <a:prstDash val="solid"/>
          </a:ln>
        </p:spPr>
      </p:sp>
      <p:sp>
        <p:nvSpPr>
          <p:cNvPr id="11" name="Text 9"/>
          <p:cNvSpPr/>
          <p:nvPr/>
        </p:nvSpPr>
        <p:spPr>
          <a:xfrm>
            <a:off x="5157216" y="1353312"/>
            <a:ext cx="1636776" cy="603504"/>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Identity Services</a:t>
            </a:r>
            <a:endParaRPr lang="en-US" sz="780" dirty="0"/>
          </a:p>
          <a:p>
            <a:pPr algn="ctr" indent="0" marL="0">
              <a:buNone/>
            </a:pPr>
            <a:r>
              <a:rPr lang="en-US" sz="780" b="1" dirty="0">
                <a:solidFill>
                  <a:srgbClr val="101828"/>
                </a:solidFill>
              </a:rPr>
              <a:t>Aadhaar / OTP / biometric result</a:t>
            </a:r>
            <a:endParaRPr lang="en-US" sz="780" dirty="0"/>
          </a:p>
        </p:txBody>
      </p:sp>
      <p:sp>
        <p:nvSpPr>
          <p:cNvPr id="12" name="Shape 10"/>
          <p:cNvSpPr/>
          <p:nvPr/>
        </p:nvSpPr>
        <p:spPr>
          <a:xfrm>
            <a:off x="6867144" y="1664208"/>
            <a:ext cx="438912" cy="0"/>
          </a:xfrm>
          <a:prstGeom prst="line">
            <a:avLst/>
          </a:prstGeom>
          <a:noFill/>
          <a:ln w="15240">
            <a:solidFill>
              <a:srgbClr val="D0D5DD"/>
            </a:solidFill>
            <a:prstDash val="solid"/>
            <a:headEnd type="none"/>
            <a:tailEnd type="triangle"/>
          </a:ln>
        </p:spPr>
      </p:sp>
      <p:sp>
        <p:nvSpPr>
          <p:cNvPr id="13" name="Shape 11"/>
          <p:cNvSpPr/>
          <p:nvPr/>
        </p:nvSpPr>
        <p:spPr>
          <a:xfrm>
            <a:off x="7351776" y="1280160"/>
            <a:ext cx="1783080" cy="749808"/>
          </a:xfrm>
          <a:prstGeom prst="roundRect">
            <a:avLst>
              <a:gd name="adj" fmla="val 4878"/>
            </a:avLst>
          </a:prstGeom>
          <a:solidFill>
            <a:srgbClr val="FFFFFF"/>
          </a:solidFill>
          <a:ln w="12700">
            <a:solidFill>
              <a:srgbClr val="F5B301"/>
            </a:solidFill>
            <a:prstDash val="solid"/>
          </a:ln>
        </p:spPr>
      </p:sp>
      <p:sp>
        <p:nvSpPr>
          <p:cNvPr id="14" name="Text 12"/>
          <p:cNvSpPr/>
          <p:nvPr/>
        </p:nvSpPr>
        <p:spPr>
          <a:xfrm>
            <a:off x="7424928" y="1353312"/>
            <a:ext cx="1636776" cy="603504"/>
          </a:xfrm>
          <a:prstGeom prst="rect">
            <a:avLst/>
          </a:prstGeom>
          <a:noFill/>
          <a:ln/>
        </p:spPr>
        <p:txBody>
          <a:bodyPr wrap="square" lIns="254" tIns="254" rIns="254" bIns="254" rtlCol="0" anchor="ctr">
            <a:normAutofit/>
          </a:bodyPr>
          <a:lstStyle/>
          <a:p>
            <a:pPr algn="ctr" indent="0" marL="0">
              <a:buNone/>
            </a:pPr>
            <a:r>
              <a:rPr lang="en-US" sz="780" b="1" dirty="0">
                <a:solidFill>
                  <a:srgbClr val="101828"/>
                </a:solidFill>
              </a:rPr>
              <a:t>Workflow Engine</a:t>
            </a:r>
            <a:endParaRPr lang="en-US" sz="780" dirty="0"/>
          </a:p>
          <a:p>
            <a:pPr algn="ctr" indent="0" marL="0">
              <a:buNone/>
            </a:pPr>
            <a:r>
              <a:rPr lang="en-US" sz="780" b="1" dirty="0">
                <a:solidFill>
                  <a:srgbClr val="101828"/>
                </a:solidFill>
              </a:rPr>
              <a:t>Registration + life-proof</a:t>
            </a:r>
            <a:endParaRPr lang="en-US" sz="780" dirty="0"/>
          </a:p>
        </p:txBody>
      </p:sp>
      <p:sp>
        <p:nvSpPr>
          <p:cNvPr id="15" name="Shape 13"/>
          <p:cNvSpPr/>
          <p:nvPr/>
        </p:nvSpPr>
        <p:spPr>
          <a:xfrm>
            <a:off x="9134856" y="1664208"/>
            <a:ext cx="438912" cy="0"/>
          </a:xfrm>
          <a:prstGeom prst="line">
            <a:avLst/>
          </a:prstGeom>
          <a:noFill/>
          <a:ln w="15240">
            <a:solidFill>
              <a:srgbClr val="D0D5DD"/>
            </a:solidFill>
            <a:prstDash val="solid"/>
            <a:headEnd type="none"/>
            <a:tailEnd type="triangle"/>
          </a:ln>
        </p:spPr>
      </p:sp>
      <p:sp>
        <p:nvSpPr>
          <p:cNvPr id="16" name="Shape 14"/>
          <p:cNvSpPr/>
          <p:nvPr/>
        </p:nvSpPr>
        <p:spPr>
          <a:xfrm>
            <a:off x="9619488" y="1280160"/>
            <a:ext cx="1783080" cy="749808"/>
          </a:xfrm>
          <a:prstGeom prst="roundRect">
            <a:avLst>
              <a:gd name="adj" fmla="val 4878"/>
            </a:avLst>
          </a:prstGeom>
          <a:solidFill>
            <a:srgbClr val="0B0A2A"/>
          </a:solidFill>
          <a:ln w="12700">
            <a:solidFill>
              <a:srgbClr val="0B0A2A"/>
            </a:solidFill>
            <a:prstDash val="solid"/>
          </a:ln>
        </p:spPr>
      </p:sp>
      <p:sp>
        <p:nvSpPr>
          <p:cNvPr id="17" name="Text 15"/>
          <p:cNvSpPr/>
          <p:nvPr/>
        </p:nvSpPr>
        <p:spPr>
          <a:xfrm>
            <a:off x="9692640" y="1353312"/>
            <a:ext cx="1636776" cy="603504"/>
          </a:xfrm>
          <a:prstGeom prst="rect">
            <a:avLst/>
          </a:prstGeom>
          <a:noFill/>
          <a:ln/>
        </p:spPr>
        <p:txBody>
          <a:bodyPr wrap="square" lIns="254" tIns="254" rIns="254" bIns="254" rtlCol="0" anchor="ctr">
            <a:normAutofit/>
          </a:bodyPr>
          <a:lstStyle/>
          <a:p>
            <a:pPr algn="ctr" indent="0" marL="0">
              <a:buNone/>
            </a:pPr>
            <a:r>
              <a:rPr lang="en-US" sz="780" b="1" dirty="0">
                <a:solidFill>
                  <a:srgbClr val="FFFFFF"/>
                </a:solidFill>
              </a:rPr>
              <a:t>DBT Integration</a:t>
            </a:r>
            <a:endParaRPr lang="en-US" sz="780" dirty="0"/>
          </a:p>
          <a:p>
            <a:pPr algn="ctr" indent="0" marL="0">
              <a:buNone/>
            </a:pPr>
            <a:r>
              <a:rPr lang="en-US" sz="780" b="1" dirty="0">
                <a:solidFill>
                  <a:srgbClr val="FFFFFF"/>
                </a:solidFill>
              </a:rPr>
              <a:t>Active/inactive payment status</a:t>
            </a:r>
            <a:endParaRPr lang="en-US" sz="780" dirty="0"/>
          </a:p>
        </p:txBody>
      </p:sp>
      <p:sp>
        <p:nvSpPr>
          <p:cNvPr id="18" name="Shape 16"/>
          <p:cNvSpPr/>
          <p:nvPr/>
        </p:nvSpPr>
        <p:spPr>
          <a:xfrm>
            <a:off x="777240" y="2743200"/>
            <a:ext cx="1463040" cy="594360"/>
          </a:xfrm>
          <a:prstGeom prst="roundRect">
            <a:avLst>
              <a:gd name="adj" fmla="val 6154"/>
            </a:avLst>
          </a:prstGeom>
          <a:solidFill>
            <a:srgbClr val="F8FAFC"/>
          </a:solidFill>
          <a:ln w="12700">
            <a:solidFill>
              <a:srgbClr val="D0D5DD"/>
            </a:solidFill>
            <a:prstDash val="solid"/>
          </a:ln>
        </p:spPr>
      </p:sp>
      <p:sp>
        <p:nvSpPr>
          <p:cNvPr id="19" name="Text 17"/>
          <p:cNvSpPr/>
          <p:nvPr/>
        </p:nvSpPr>
        <p:spPr>
          <a:xfrm>
            <a:off x="850392" y="2816352"/>
            <a:ext cx="1316736" cy="448056"/>
          </a:xfrm>
          <a:prstGeom prst="rect">
            <a:avLst/>
          </a:prstGeom>
          <a:noFill/>
          <a:ln/>
        </p:spPr>
        <p:txBody>
          <a:bodyPr wrap="square" lIns="254" tIns="254" rIns="254" bIns="254" rtlCol="0" anchor="ctr">
            <a:normAutofit/>
          </a:bodyPr>
          <a:lstStyle/>
          <a:p>
            <a:pPr algn="ctr" indent="0" marL="0">
              <a:buNone/>
            </a:pPr>
            <a:r>
              <a:rPr lang="en-US" sz="760" b="1" dirty="0">
                <a:solidFill>
                  <a:srgbClr val="101828"/>
                </a:solidFill>
              </a:rPr>
              <a:t>Beneficiary Registry</a:t>
            </a:r>
            <a:endParaRPr lang="en-US" sz="760" dirty="0"/>
          </a:p>
        </p:txBody>
      </p:sp>
      <p:sp>
        <p:nvSpPr>
          <p:cNvPr id="20" name="Shape 18"/>
          <p:cNvSpPr/>
          <p:nvPr/>
        </p:nvSpPr>
        <p:spPr>
          <a:xfrm>
            <a:off x="2697480" y="2743200"/>
            <a:ext cx="1463040" cy="594360"/>
          </a:xfrm>
          <a:prstGeom prst="roundRect">
            <a:avLst>
              <a:gd name="adj" fmla="val 6154"/>
            </a:avLst>
          </a:prstGeom>
          <a:solidFill>
            <a:srgbClr val="F8FAFC"/>
          </a:solidFill>
          <a:ln w="12700">
            <a:solidFill>
              <a:srgbClr val="D0D5DD"/>
            </a:solidFill>
            <a:prstDash val="solid"/>
          </a:ln>
        </p:spPr>
      </p:sp>
      <p:sp>
        <p:nvSpPr>
          <p:cNvPr id="21" name="Text 19"/>
          <p:cNvSpPr/>
          <p:nvPr/>
        </p:nvSpPr>
        <p:spPr>
          <a:xfrm>
            <a:off x="2770632" y="2816352"/>
            <a:ext cx="1316736" cy="448056"/>
          </a:xfrm>
          <a:prstGeom prst="rect">
            <a:avLst/>
          </a:prstGeom>
          <a:noFill/>
          <a:ln/>
        </p:spPr>
        <p:txBody>
          <a:bodyPr wrap="square" lIns="254" tIns="254" rIns="254" bIns="254" rtlCol="0" anchor="ctr">
            <a:normAutofit/>
          </a:bodyPr>
          <a:lstStyle/>
          <a:p>
            <a:pPr algn="ctr" indent="0" marL="0">
              <a:buNone/>
            </a:pPr>
            <a:r>
              <a:rPr lang="en-US" sz="760" b="1" dirty="0">
                <a:solidFill>
                  <a:srgbClr val="101828"/>
                </a:solidFill>
              </a:rPr>
              <a:t>Document Vault</a:t>
            </a:r>
            <a:endParaRPr lang="en-US" sz="760" dirty="0"/>
          </a:p>
        </p:txBody>
      </p:sp>
      <p:sp>
        <p:nvSpPr>
          <p:cNvPr id="22" name="Shape 20"/>
          <p:cNvSpPr/>
          <p:nvPr/>
        </p:nvSpPr>
        <p:spPr>
          <a:xfrm>
            <a:off x="4617720" y="2743200"/>
            <a:ext cx="1463040" cy="594360"/>
          </a:xfrm>
          <a:prstGeom prst="roundRect">
            <a:avLst>
              <a:gd name="adj" fmla="val 6154"/>
            </a:avLst>
          </a:prstGeom>
          <a:solidFill>
            <a:srgbClr val="F8FAFC"/>
          </a:solidFill>
          <a:ln w="12700">
            <a:solidFill>
              <a:srgbClr val="D0D5DD"/>
            </a:solidFill>
            <a:prstDash val="solid"/>
          </a:ln>
        </p:spPr>
      </p:sp>
      <p:sp>
        <p:nvSpPr>
          <p:cNvPr id="23" name="Text 21"/>
          <p:cNvSpPr/>
          <p:nvPr/>
        </p:nvSpPr>
        <p:spPr>
          <a:xfrm>
            <a:off x="4690872" y="2816352"/>
            <a:ext cx="1316736" cy="448056"/>
          </a:xfrm>
          <a:prstGeom prst="rect">
            <a:avLst/>
          </a:prstGeom>
          <a:noFill/>
          <a:ln/>
        </p:spPr>
        <p:txBody>
          <a:bodyPr wrap="square" lIns="254" tIns="254" rIns="254" bIns="254" rtlCol="0" anchor="ctr">
            <a:normAutofit/>
          </a:bodyPr>
          <a:lstStyle/>
          <a:p>
            <a:pPr algn="ctr" indent="0" marL="0">
              <a:buNone/>
            </a:pPr>
            <a:r>
              <a:rPr lang="en-US" sz="760" b="1" dirty="0">
                <a:solidFill>
                  <a:srgbClr val="101828"/>
                </a:solidFill>
              </a:rPr>
              <a:t>Address Match Engine</a:t>
            </a:r>
            <a:endParaRPr lang="en-US" sz="760" dirty="0"/>
          </a:p>
        </p:txBody>
      </p:sp>
      <p:sp>
        <p:nvSpPr>
          <p:cNvPr id="24" name="Shape 22"/>
          <p:cNvSpPr/>
          <p:nvPr/>
        </p:nvSpPr>
        <p:spPr>
          <a:xfrm>
            <a:off x="6537960" y="2743200"/>
            <a:ext cx="1463040" cy="594360"/>
          </a:xfrm>
          <a:prstGeom prst="roundRect">
            <a:avLst>
              <a:gd name="adj" fmla="val 6154"/>
            </a:avLst>
          </a:prstGeom>
          <a:solidFill>
            <a:srgbClr val="F8FAFC"/>
          </a:solidFill>
          <a:ln w="12700">
            <a:solidFill>
              <a:srgbClr val="D0D5DD"/>
            </a:solidFill>
            <a:prstDash val="solid"/>
          </a:ln>
        </p:spPr>
      </p:sp>
      <p:sp>
        <p:nvSpPr>
          <p:cNvPr id="25" name="Text 23"/>
          <p:cNvSpPr/>
          <p:nvPr/>
        </p:nvSpPr>
        <p:spPr>
          <a:xfrm>
            <a:off x="6611112" y="2816352"/>
            <a:ext cx="1316736" cy="448056"/>
          </a:xfrm>
          <a:prstGeom prst="rect">
            <a:avLst/>
          </a:prstGeom>
          <a:noFill/>
          <a:ln/>
        </p:spPr>
        <p:txBody>
          <a:bodyPr wrap="square" lIns="254" tIns="254" rIns="254" bIns="254" rtlCol="0" anchor="ctr">
            <a:normAutofit/>
          </a:bodyPr>
          <a:lstStyle/>
          <a:p>
            <a:pPr algn="ctr" indent="0" marL="0">
              <a:buNone/>
            </a:pPr>
            <a:r>
              <a:rPr lang="en-US" sz="760" b="1" dirty="0">
                <a:solidFill>
                  <a:srgbClr val="101828"/>
                </a:solidFill>
              </a:rPr>
              <a:t>Rule Engine</a:t>
            </a:r>
            <a:endParaRPr lang="en-US" sz="760" dirty="0"/>
          </a:p>
        </p:txBody>
      </p:sp>
      <p:sp>
        <p:nvSpPr>
          <p:cNvPr id="26" name="Shape 24"/>
          <p:cNvSpPr/>
          <p:nvPr/>
        </p:nvSpPr>
        <p:spPr>
          <a:xfrm>
            <a:off x="8458200" y="2743200"/>
            <a:ext cx="1463040" cy="594360"/>
          </a:xfrm>
          <a:prstGeom prst="roundRect">
            <a:avLst>
              <a:gd name="adj" fmla="val 6154"/>
            </a:avLst>
          </a:prstGeom>
          <a:solidFill>
            <a:srgbClr val="F8FAFC"/>
          </a:solidFill>
          <a:ln w="12700">
            <a:solidFill>
              <a:srgbClr val="D0D5DD"/>
            </a:solidFill>
            <a:prstDash val="solid"/>
          </a:ln>
        </p:spPr>
      </p:sp>
      <p:sp>
        <p:nvSpPr>
          <p:cNvPr id="27" name="Text 25"/>
          <p:cNvSpPr/>
          <p:nvPr/>
        </p:nvSpPr>
        <p:spPr>
          <a:xfrm>
            <a:off x="8531352" y="2816352"/>
            <a:ext cx="1316736" cy="448056"/>
          </a:xfrm>
          <a:prstGeom prst="rect">
            <a:avLst/>
          </a:prstGeom>
          <a:noFill/>
          <a:ln/>
        </p:spPr>
        <p:txBody>
          <a:bodyPr wrap="square" lIns="254" tIns="254" rIns="254" bIns="254" rtlCol="0" anchor="ctr">
            <a:normAutofit/>
          </a:bodyPr>
          <a:lstStyle/>
          <a:p>
            <a:pPr algn="ctr" indent="0" marL="0">
              <a:buNone/>
            </a:pPr>
            <a:r>
              <a:rPr lang="en-US" sz="760" b="1" dirty="0">
                <a:solidFill>
                  <a:srgbClr val="101828"/>
                </a:solidFill>
              </a:rPr>
              <a:t>Notification + Grievance</a:t>
            </a:r>
            <a:endParaRPr lang="en-US" sz="760" dirty="0"/>
          </a:p>
        </p:txBody>
      </p:sp>
      <p:sp>
        <p:nvSpPr>
          <p:cNvPr id="28" name="Shape 26"/>
          <p:cNvSpPr/>
          <p:nvPr/>
        </p:nvSpPr>
        <p:spPr>
          <a:xfrm>
            <a:off x="1280160" y="4434840"/>
            <a:ext cx="1920240" cy="530352"/>
          </a:xfrm>
          <a:prstGeom prst="roundRect">
            <a:avLst>
              <a:gd name="adj" fmla="val 6897"/>
            </a:avLst>
          </a:prstGeom>
          <a:solidFill>
            <a:srgbClr val="0B0A2A"/>
          </a:solidFill>
          <a:ln w="12700">
            <a:solidFill>
              <a:srgbClr val="0B0A2A"/>
            </a:solidFill>
            <a:prstDash val="solid"/>
          </a:ln>
        </p:spPr>
      </p:sp>
      <p:sp>
        <p:nvSpPr>
          <p:cNvPr id="29" name="Text 27"/>
          <p:cNvSpPr/>
          <p:nvPr/>
        </p:nvSpPr>
        <p:spPr>
          <a:xfrm>
            <a:off x="1353312" y="4507992"/>
            <a:ext cx="1773936" cy="384048"/>
          </a:xfrm>
          <a:prstGeom prst="rect">
            <a:avLst/>
          </a:prstGeom>
          <a:noFill/>
          <a:ln/>
        </p:spPr>
        <p:txBody>
          <a:bodyPr wrap="square" lIns="254" tIns="254" rIns="254" bIns="254" rtlCol="0" anchor="ctr">
            <a:normAutofit/>
          </a:bodyPr>
          <a:lstStyle/>
          <a:p>
            <a:pPr algn="ctr" indent="0" marL="0">
              <a:buNone/>
            </a:pPr>
            <a:r>
              <a:rPr lang="en-US" sz="840" b="1" dirty="0">
                <a:solidFill>
                  <a:srgbClr val="FFFFFF"/>
                </a:solidFill>
              </a:rPr>
              <a:t>Admin Console</a:t>
            </a:r>
            <a:endParaRPr lang="en-US" sz="840" dirty="0"/>
          </a:p>
        </p:txBody>
      </p:sp>
      <p:sp>
        <p:nvSpPr>
          <p:cNvPr id="30" name="Shape 28"/>
          <p:cNvSpPr/>
          <p:nvPr/>
        </p:nvSpPr>
        <p:spPr>
          <a:xfrm>
            <a:off x="3749040" y="4434840"/>
            <a:ext cx="1920240" cy="530352"/>
          </a:xfrm>
          <a:prstGeom prst="roundRect">
            <a:avLst>
              <a:gd name="adj" fmla="val 6897"/>
            </a:avLst>
          </a:prstGeom>
          <a:solidFill>
            <a:srgbClr val="0B0A2A"/>
          </a:solidFill>
          <a:ln w="12700">
            <a:solidFill>
              <a:srgbClr val="0B0A2A"/>
            </a:solidFill>
            <a:prstDash val="solid"/>
          </a:ln>
        </p:spPr>
      </p:sp>
      <p:sp>
        <p:nvSpPr>
          <p:cNvPr id="31" name="Text 29"/>
          <p:cNvSpPr/>
          <p:nvPr/>
        </p:nvSpPr>
        <p:spPr>
          <a:xfrm>
            <a:off x="3822192" y="4507992"/>
            <a:ext cx="1773936" cy="384048"/>
          </a:xfrm>
          <a:prstGeom prst="rect">
            <a:avLst/>
          </a:prstGeom>
          <a:noFill/>
          <a:ln/>
        </p:spPr>
        <p:txBody>
          <a:bodyPr wrap="square" lIns="254" tIns="254" rIns="254" bIns="254" rtlCol="0" anchor="ctr">
            <a:normAutofit/>
          </a:bodyPr>
          <a:lstStyle/>
          <a:p>
            <a:pPr algn="ctr" indent="0" marL="0">
              <a:buNone/>
            </a:pPr>
            <a:r>
              <a:rPr lang="en-US" sz="840" b="1" dirty="0">
                <a:solidFill>
                  <a:srgbClr val="FFFFFF"/>
                </a:solidFill>
              </a:rPr>
              <a:t>Call Centre CRM</a:t>
            </a:r>
            <a:endParaRPr lang="en-US" sz="840" dirty="0"/>
          </a:p>
        </p:txBody>
      </p:sp>
      <p:sp>
        <p:nvSpPr>
          <p:cNvPr id="32" name="Shape 30"/>
          <p:cNvSpPr/>
          <p:nvPr/>
        </p:nvSpPr>
        <p:spPr>
          <a:xfrm>
            <a:off x="6217920" y="4434840"/>
            <a:ext cx="1920240" cy="530352"/>
          </a:xfrm>
          <a:prstGeom prst="roundRect">
            <a:avLst>
              <a:gd name="adj" fmla="val 6897"/>
            </a:avLst>
          </a:prstGeom>
          <a:solidFill>
            <a:srgbClr val="0B0A2A"/>
          </a:solidFill>
          <a:ln w="12700">
            <a:solidFill>
              <a:srgbClr val="0B0A2A"/>
            </a:solidFill>
            <a:prstDash val="solid"/>
          </a:ln>
        </p:spPr>
      </p:sp>
      <p:sp>
        <p:nvSpPr>
          <p:cNvPr id="33" name="Text 31"/>
          <p:cNvSpPr/>
          <p:nvPr/>
        </p:nvSpPr>
        <p:spPr>
          <a:xfrm>
            <a:off x="6291072" y="4507992"/>
            <a:ext cx="1773936" cy="384048"/>
          </a:xfrm>
          <a:prstGeom prst="rect">
            <a:avLst/>
          </a:prstGeom>
          <a:noFill/>
          <a:ln/>
        </p:spPr>
        <p:txBody>
          <a:bodyPr wrap="square" lIns="254" tIns="254" rIns="254" bIns="254" rtlCol="0" anchor="ctr">
            <a:normAutofit/>
          </a:bodyPr>
          <a:lstStyle/>
          <a:p>
            <a:pPr algn="ctr" indent="0" marL="0">
              <a:buNone/>
            </a:pPr>
            <a:r>
              <a:rPr lang="en-US" sz="840" b="1" dirty="0">
                <a:solidFill>
                  <a:srgbClr val="FFFFFF"/>
                </a:solidFill>
              </a:rPr>
              <a:t>Analytics + Audit</a:t>
            </a:r>
            <a:endParaRPr lang="en-US" sz="840" dirty="0"/>
          </a:p>
        </p:txBody>
      </p:sp>
      <p:sp>
        <p:nvSpPr>
          <p:cNvPr id="34" name="Shape 32"/>
          <p:cNvSpPr/>
          <p:nvPr/>
        </p:nvSpPr>
        <p:spPr>
          <a:xfrm>
            <a:off x="8686800" y="4434840"/>
            <a:ext cx="1920240" cy="530352"/>
          </a:xfrm>
          <a:prstGeom prst="roundRect">
            <a:avLst>
              <a:gd name="adj" fmla="val 6897"/>
            </a:avLst>
          </a:prstGeom>
          <a:solidFill>
            <a:srgbClr val="0B0A2A"/>
          </a:solidFill>
          <a:ln w="12700">
            <a:solidFill>
              <a:srgbClr val="0B0A2A"/>
            </a:solidFill>
            <a:prstDash val="solid"/>
          </a:ln>
        </p:spPr>
      </p:sp>
      <p:sp>
        <p:nvSpPr>
          <p:cNvPr id="35" name="Text 33"/>
          <p:cNvSpPr/>
          <p:nvPr/>
        </p:nvSpPr>
        <p:spPr>
          <a:xfrm>
            <a:off x="8759952" y="4507992"/>
            <a:ext cx="1773936" cy="384048"/>
          </a:xfrm>
          <a:prstGeom prst="rect">
            <a:avLst/>
          </a:prstGeom>
          <a:noFill/>
          <a:ln/>
        </p:spPr>
        <p:txBody>
          <a:bodyPr wrap="square" lIns="254" tIns="254" rIns="254" bIns="254" rtlCol="0" anchor="ctr">
            <a:normAutofit/>
          </a:bodyPr>
          <a:lstStyle/>
          <a:p>
            <a:pPr algn="ctr" indent="0" marL="0">
              <a:buNone/>
            </a:pPr>
            <a:r>
              <a:rPr lang="en-US" sz="840" b="1" dirty="0">
                <a:solidFill>
                  <a:srgbClr val="FFFFFF"/>
                </a:solidFill>
              </a:rPr>
              <a:t>Security + Privacy</a:t>
            </a:r>
            <a:endParaRPr lang="en-US" sz="84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Privacy, security and inclusion controls</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Controls should be embedded into process and product design from day one.</a:t>
            </a:r>
            <a:endParaRPr lang="en-US" sz="950" dirty="0"/>
          </a:p>
        </p:txBody>
      </p:sp>
      <p:sp>
        <p:nvSpPr>
          <p:cNvPr id="4" name="Shape 2"/>
          <p:cNvSpPr/>
          <p:nvPr/>
        </p:nvSpPr>
        <p:spPr>
          <a:xfrm>
            <a:off x="777240" y="1325880"/>
            <a:ext cx="3154680" cy="1051560"/>
          </a:xfrm>
          <a:prstGeom prst="roundRect">
            <a:avLst>
              <a:gd name="adj" fmla="val 3478"/>
            </a:avLst>
          </a:prstGeom>
          <a:solidFill>
            <a:srgbClr val="E0F2FE"/>
          </a:solidFill>
          <a:ln w="12700">
            <a:solidFill>
              <a:srgbClr val="D0D5DD"/>
            </a:solidFill>
            <a:prstDash val="solid"/>
          </a:ln>
          <a:effectLst>
            <a:outerShdw sx="100000" sy="100000" kx="0" ky="0" algn="bl" rotWithShape="0" blurRad="25400" dist="12700" dir="2700000">
              <a:srgbClr val="000000">
                <a:alpha val="12000"/>
              </a:srgbClr>
            </a:outerShdw>
          </a:effectLst>
        </p:spPr>
      </p:sp>
      <p:sp>
        <p:nvSpPr>
          <p:cNvPr id="5" name="Text 3"/>
          <p:cNvSpPr/>
          <p:nvPr/>
        </p:nvSpPr>
        <p:spPr>
          <a:xfrm>
            <a:off x="850392" y="1399032"/>
            <a:ext cx="3008376" cy="90525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Consent first</a:t>
            </a:r>
            <a:endParaRPr lang="en-US" sz="900" dirty="0"/>
          </a:p>
          <a:p>
            <a:pPr algn="ctr" indent="0" marL="0">
              <a:buNone/>
            </a:pPr>
            <a:r>
              <a:rPr lang="en-US" sz="900" b="1" dirty="0">
                <a:solidFill>
                  <a:srgbClr val="101828"/>
                </a:solidFill>
              </a:rPr>
              <a:t>Clear purpose, data use and authentication consent.</a:t>
            </a:r>
            <a:endParaRPr lang="en-US" sz="900" dirty="0"/>
          </a:p>
        </p:txBody>
      </p:sp>
      <p:sp>
        <p:nvSpPr>
          <p:cNvPr id="6" name="Shape 4"/>
          <p:cNvSpPr/>
          <p:nvPr/>
        </p:nvSpPr>
        <p:spPr>
          <a:xfrm>
            <a:off x="4480560" y="1325880"/>
            <a:ext cx="3154680" cy="1051560"/>
          </a:xfrm>
          <a:prstGeom prst="roundRect">
            <a:avLst>
              <a:gd name="adj" fmla="val 3478"/>
            </a:avLst>
          </a:prstGeom>
          <a:solidFill>
            <a:srgbClr val="ECFDF3"/>
          </a:solidFill>
          <a:ln w="12700">
            <a:solidFill>
              <a:srgbClr val="D0D5DD"/>
            </a:solidFill>
            <a:prstDash val="solid"/>
          </a:ln>
          <a:effectLst>
            <a:outerShdw sx="100000" sy="100000" kx="0" ky="0" algn="bl" rotWithShape="0" blurRad="25400" dist="12700" dir="2700000">
              <a:srgbClr val="000000">
                <a:alpha val="12000"/>
              </a:srgbClr>
            </a:outerShdw>
          </a:effectLst>
        </p:spPr>
      </p:sp>
      <p:sp>
        <p:nvSpPr>
          <p:cNvPr id="7" name="Text 5"/>
          <p:cNvSpPr/>
          <p:nvPr/>
        </p:nvSpPr>
        <p:spPr>
          <a:xfrm>
            <a:off x="4553712" y="1399032"/>
            <a:ext cx="3008376" cy="90525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Minimum data</a:t>
            </a:r>
            <a:endParaRPr lang="en-US" sz="900" dirty="0"/>
          </a:p>
          <a:p>
            <a:pPr algn="ctr" indent="0" marL="0">
              <a:buNone/>
            </a:pPr>
            <a:r>
              <a:rPr lang="en-US" sz="900" b="1" dirty="0">
                <a:solidFill>
                  <a:srgbClr val="101828"/>
                </a:solidFill>
              </a:rPr>
              <a:t>No raw biometric storage; retain only required references.</a:t>
            </a:r>
            <a:endParaRPr lang="en-US" sz="900" dirty="0"/>
          </a:p>
        </p:txBody>
      </p:sp>
      <p:sp>
        <p:nvSpPr>
          <p:cNvPr id="8" name="Shape 6"/>
          <p:cNvSpPr/>
          <p:nvPr/>
        </p:nvSpPr>
        <p:spPr>
          <a:xfrm>
            <a:off x="8183880" y="1325880"/>
            <a:ext cx="3154680" cy="1051560"/>
          </a:xfrm>
          <a:prstGeom prst="roundRect">
            <a:avLst>
              <a:gd name="adj" fmla="val 3478"/>
            </a:avLst>
          </a:prstGeom>
          <a:solidFill>
            <a:srgbClr val="FFFAEB"/>
          </a:solidFill>
          <a:ln w="12700">
            <a:solidFill>
              <a:srgbClr val="D0D5DD"/>
            </a:solidFill>
            <a:prstDash val="solid"/>
          </a:ln>
          <a:effectLst>
            <a:outerShdw sx="100000" sy="100000" kx="0" ky="0" algn="bl" rotWithShape="0" blurRad="25400" dist="12700" dir="2700000">
              <a:srgbClr val="000000">
                <a:alpha val="12000"/>
              </a:srgbClr>
            </a:outerShdw>
          </a:effectLst>
        </p:spPr>
      </p:sp>
      <p:sp>
        <p:nvSpPr>
          <p:cNvPr id="9" name="Text 7"/>
          <p:cNvSpPr/>
          <p:nvPr/>
        </p:nvSpPr>
        <p:spPr>
          <a:xfrm>
            <a:off x="8257032" y="1399032"/>
            <a:ext cx="3008376" cy="90525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Role-based access</a:t>
            </a:r>
            <a:endParaRPr lang="en-US" sz="900" dirty="0"/>
          </a:p>
          <a:p>
            <a:pPr algn="ctr" indent="0" marL="0">
              <a:buNone/>
            </a:pPr>
            <a:r>
              <a:rPr lang="en-US" sz="900" b="1" dirty="0">
                <a:solidFill>
                  <a:srgbClr val="101828"/>
                </a:solidFill>
              </a:rPr>
              <a:t>Separate beneficiary, operator, call-centre and admin rights.</a:t>
            </a:r>
            <a:endParaRPr lang="en-US" sz="900" dirty="0"/>
          </a:p>
        </p:txBody>
      </p:sp>
      <p:sp>
        <p:nvSpPr>
          <p:cNvPr id="10" name="Shape 8"/>
          <p:cNvSpPr/>
          <p:nvPr/>
        </p:nvSpPr>
        <p:spPr>
          <a:xfrm>
            <a:off x="777240" y="3017520"/>
            <a:ext cx="3154680" cy="1051560"/>
          </a:xfrm>
          <a:prstGeom prst="roundRect">
            <a:avLst>
              <a:gd name="adj" fmla="val 3478"/>
            </a:avLst>
          </a:prstGeom>
          <a:solidFill>
            <a:srgbClr val="F9F5FF"/>
          </a:solidFill>
          <a:ln w="12700">
            <a:solidFill>
              <a:srgbClr val="D0D5DD"/>
            </a:solidFill>
            <a:prstDash val="solid"/>
          </a:ln>
          <a:effectLst>
            <a:outerShdw sx="100000" sy="100000" kx="0" ky="0" algn="bl" rotWithShape="0" blurRad="25400" dist="12700" dir="2700000">
              <a:srgbClr val="000000">
                <a:alpha val="12000"/>
              </a:srgbClr>
            </a:outerShdw>
          </a:effectLst>
        </p:spPr>
      </p:sp>
      <p:sp>
        <p:nvSpPr>
          <p:cNvPr id="11" name="Text 9"/>
          <p:cNvSpPr/>
          <p:nvPr/>
        </p:nvSpPr>
        <p:spPr>
          <a:xfrm>
            <a:off x="850392" y="3090672"/>
            <a:ext cx="3008376" cy="90525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Auditability</a:t>
            </a:r>
            <a:endParaRPr lang="en-US" sz="900" dirty="0"/>
          </a:p>
          <a:p>
            <a:pPr algn="ctr" indent="0" marL="0">
              <a:buNone/>
            </a:pPr>
            <a:r>
              <a:rPr lang="en-US" sz="900" b="1" dirty="0">
                <a:solidFill>
                  <a:srgbClr val="101828"/>
                </a:solidFill>
              </a:rPr>
              <a:t>Immutable logs for consent, decisions, overrides and DBT updates.</a:t>
            </a:r>
            <a:endParaRPr lang="en-US" sz="900" dirty="0"/>
          </a:p>
        </p:txBody>
      </p:sp>
      <p:sp>
        <p:nvSpPr>
          <p:cNvPr id="12" name="Shape 10"/>
          <p:cNvSpPr/>
          <p:nvPr/>
        </p:nvSpPr>
        <p:spPr>
          <a:xfrm>
            <a:off x="4480560" y="3017520"/>
            <a:ext cx="3154680" cy="1051560"/>
          </a:xfrm>
          <a:prstGeom prst="roundRect">
            <a:avLst>
              <a:gd name="adj" fmla="val 3478"/>
            </a:avLst>
          </a:prstGeom>
          <a:solidFill>
            <a:srgbClr val="FFF1F3"/>
          </a:solidFill>
          <a:ln w="12700">
            <a:solidFill>
              <a:srgbClr val="D0D5DD"/>
            </a:solidFill>
            <a:prstDash val="solid"/>
          </a:ln>
          <a:effectLst>
            <a:outerShdw sx="100000" sy="100000" kx="0" ky="0" algn="bl" rotWithShape="0" blurRad="25400" dist="12700" dir="2700000">
              <a:srgbClr val="000000">
                <a:alpha val="12000"/>
              </a:srgbClr>
            </a:outerShdw>
          </a:effectLst>
        </p:spPr>
      </p:sp>
      <p:sp>
        <p:nvSpPr>
          <p:cNvPr id="13" name="Text 11"/>
          <p:cNvSpPr/>
          <p:nvPr/>
        </p:nvSpPr>
        <p:spPr>
          <a:xfrm>
            <a:off x="4553712" y="3090672"/>
            <a:ext cx="3008376" cy="90525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Inclusion</a:t>
            </a:r>
            <a:endParaRPr lang="en-US" sz="900" dirty="0"/>
          </a:p>
          <a:p>
            <a:pPr algn="ctr" indent="0" marL="0">
              <a:buNone/>
            </a:pPr>
            <a:r>
              <a:rPr lang="en-US" sz="900" b="1" dirty="0">
                <a:solidFill>
                  <a:srgbClr val="101828"/>
                </a:solidFill>
              </a:rPr>
              <a:t>Assisted centre, alternative verification and appeal path.</a:t>
            </a:r>
            <a:endParaRPr lang="en-US" sz="900" dirty="0"/>
          </a:p>
        </p:txBody>
      </p:sp>
      <p:sp>
        <p:nvSpPr>
          <p:cNvPr id="14" name="Shape 12"/>
          <p:cNvSpPr/>
          <p:nvPr/>
        </p:nvSpPr>
        <p:spPr>
          <a:xfrm>
            <a:off x="8183880" y="3017520"/>
            <a:ext cx="3154680" cy="1051560"/>
          </a:xfrm>
          <a:prstGeom prst="roundRect">
            <a:avLst>
              <a:gd name="adj" fmla="val 3478"/>
            </a:avLst>
          </a:prstGeom>
          <a:solidFill>
            <a:srgbClr val="F2F4F7"/>
          </a:solidFill>
          <a:ln w="12700">
            <a:solidFill>
              <a:srgbClr val="D0D5DD"/>
            </a:solidFill>
            <a:prstDash val="solid"/>
          </a:ln>
          <a:effectLst>
            <a:outerShdw sx="100000" sy="100000" kx="0" ky="0" algn="bl" rotWithShape="0" blurRad="25400" dist="12700" dir="2700000">
              <a:srgbClr val="000000">
                <a:alpha val="12000"/>
              </a:srgbClr>
            </a:outerShdw>
          </a:effectLst>
        </p:spPr>
      </p:sp>
      <p:sp>
        <p:nvSpPr>
          <p:cNvPr id="15" name="Text 13"/>
          <p:cNvSpPr/>
          <p:nvPr/>
        </p:nvSpPr>
        <p:spPr>
          <a:xfrm>
            <a:off x="8257032" y="3090672"/>
            <a:ext cx="3008376" cy="90525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Accessibility</a:t>
            </a:r>
            <a:endParaRPr lang="en-US" sz="900" dirty="0"/>
          </a:p>
          <a:p>
            <a:pPr algn="ctr" indent="0" marL="0">
              <a:buNone/>
            </a:pPr>
            <a:r>
              <a:rPr lang="en-US" sz="900" b="1" dirty="0">
                <a:solidFill>
                  <a:srgbClr val="101828"/>
                </a:solidFill>
              </a:rPr>
              <a:t>High contrast, large fonts, Kannada/English and screen-reader labels.</a:t>
            </a:r>
            <a:endParaRPr lang="en-US" sz="900" dirty="0"/>
          </a:p>
        </p:txBody>
      </p:sp>
      <p:sp>
        <p:nvSpPr>
          <p:cNvPr id="16" name="Text 14"/>
          <p:cNvSpPr/>
          <p:nvPr/>
        </p:nvSpPr>
        <p:spPr>
          <a:xfrm>
            <a:off x="411480" y="6144768"/>
            <a:ext cx="11018520" cy="228600"/>
          </a:xfrm>
          <a:prstGeom prst="rect">
            <a:avLst/>
          </a:prstGeom>
          <a:noFill/>
          <a:ln/>
        </p:spPr>
        <p:txBody>
          <a:bodyPr wrap="square" lIns="0" tIns="0" rIns="0" bIns="0" rtlCol="0" anchor="ctr"/>
          <a:lstStyle/>
          <a:p>
            <a:pPr indent="0" marL="0">
              <a:buNone/>
            </a:pPr>
            <a:r>
              <a:rPr lang="en-US" sz="730" dirty="0">
                <a:solidFill>
                  <a:srgbClr val="667085"/>
                </a:solidFill>
              </a:rPr>
              <a:t>Based on UIDAI consent guidance and DPDP-aligned purpose limitation, notice, access control and grievance principles.</a:t>
            </a:r>
            <a:endParaRPr lang="en-US" sz="73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Implementation roadmap</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A phased rollout reduces operational risk and protects beneficiaries.</a:t>
            </a:r>
            <a:endParaRPr lang="en-US" sz="950" dirty="0"/>
          </a:p>
        </p:txBody>
      </p:sp>
      <p:sp>
        <p:nvSpPr>
          <p:cNvPr id="4" name="Shape 2"/>
          <p:cNvSpPr/>
          <p:nvPr/>
        </p:nvSpPr>
        <p:spPr>
          <a:xfrm>
            <a:off x="777240" y="1371600"/>
            <a:ext cx="530352" cy="530352"/>
          </a:xfrm>
          <a:prstGeom prst="ellipse">
            <a:avLst/>
          </a:prstGeom>
          <a:solidFill>
            <a:srgbClr val="0B0A2A"/>
          </a:solidFill>
          <a:ln w="12700">
            <a:solidFill>
              <a:srgbClr val="0B0A2A"/>
            </a:solidFill>
            <a:prstDash val="solid"/>
          </a:ln>
        </p:spPr>
      </p:sp>
      <p:sp>
        <p:nvSpPr>
          <p:cNvPr id="5" name="Text 3"/>
          <p:cNvSpPr/>
          <p:nvPr/>
        </p:nvSpPr>
        <p:spPr>
          <a:xfrm>
            <a:off x="777240" y="1517904"/>
            <a:ext cx="530352" cy="118872"/>
          </a:xfrm>
          <a:prstGeom prst="rect">
            <a:avLst/>
          </a:prstGeom>
          <a:noFill/>
          <a:ln/>
        </p:spPr>
        <p:txBody>
          <a:bodyPr wrap="square" lIns="0" tIns="0" rIns="0" bIns="0" rtlCol="0" anchor="ctr"/>
          <a:lstStyle/>
          <a:p>
            <a:pPr algn="ctr" indent="0" marL="0">
              <a:buNone/>
            </a:pPr>
            <a:r>
              <a:rPr lang="en-US" sz="900" b="1" dirty="0">
                <a:solidFill>
                  <a:srgbClr val="FFFFFF"/>
                </a:solidFill>
              </a:rPr>
              <a:t>0</a:t>
            </a:r>
            <a:endParaRPr lang="en-US" sz="900" dirty="0"/>
          </a:p>
        </p:txBody>
      </p:sp>
      <p:sp>
        <p:nvSpPr>
          <p:cNvPr id="6" name="Shape 4"/>
          <p:cNvSpPr/>
          <p:nvPr/>
        </p:nvSpPr>
        <p:spPr>
          <a:xfrm>
            <a:off x="1371600" y="1636776"/>
            <a:ext cx="1435608" cy="0"/>
          </a:xfrm>
          <a:prstGeom prst="line">
            <a:avLst/>
          </a:prstGeom>
          <a:noFill/>
          <a:ln w="15240">
            <a:solidFill>
              <a:srgbClr val="D0D5DD"/>
            </a:solidFill>
            <a:prstDash val="solid"/>
            <a:headEnd type="none"/>
            <a:tailEnd type="triangle"/>
          </a:ln>
        </p:spPr>
      </p:sp>
      <p:sp>
        <p:nvSpPr>
          <p:cNvPr id="7" name="Shape 5"/>
          <p:cNvSpPr/>
          <p:nvPr/>
        </p:nvSpPr>
        <p:spPr>
          <a:xfrm>
            <a:off x="548640" y="2240280"/>
            <a:ext cx="1737360" cy="1078992"/>
          </a:xfrm>
          <a:prstGeom prst="roundRect">
            <a:avLst>
              <a:gd name="adj" fmla="val 3390"/>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621792" y="2313432"/>
            <a:ext cx="1591056" cy="932688"/>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Policy + design</a:t>
            </a:r>
            <a:endParaRPr lang="en-US" sz="900" dirty="0"/>
          </a:p>
          <a:p>
            <a:pPr algn="ctr" indent="0" marL="0">
              <a:buNone/>
            </a:pPr>
            <a:r>
              <a:rPr lang="en-US" sz="900" b="1" dirty="0">
                <a:solidFill>
                  <a:srgbClr val="101828"/>
                </a:solidFill>
              </a:rPr>
              <a:t>2-3 weeks</a:t>
            </a:r>
            <a:endParaRPr lang="en-US" sz="900" dirty="0"/>
          </a:p>
        </p:txBody>
      </p:sp>
      <p:sp>
        <p:nvSpPr>
          <p:cNvPr id="9" name="Shape 7"/>
          <p:cNvSpPr/>
          <p:nvPr/>
        </p:nvSpPr>
        <p:spPr>
          <a:xfrm>
            <a:off x="3017520" y="1371600"/>
            <a:ext cx="530352" cy="530352"/>
          </a:xfrm>
          <a:prstGeom prst="ellipse">
            <a:avLst/>
          </a:prstGeom>
          <a:solidFill>
            <a:srgbClr val="155EEF"/>
          </a:solidFill>
          <a:ln w="12700">
            <a:solidFill>
              <a:srgbClr val="155EEF"/>
            </a:solidFill>
            <a:prstDash val="solid"/>
          </a:ln>
        </p:spPr>
      </p:sp>
      <p:sp>
        <p:nvSpPr>
          <p:cNvPr id="10" name="Text 8"/>
          <p:cNvSpPr/>
          <p:nvPr/>
        </p:nvSpPr>
        <p:spPr>
          <a:xfrm>
            <a:off x="3017520" y="1517904"/>
            <a:ext cx="530352" cy="11887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1" name="Shape 9"/>
          <p:cNvSpPr/>
          <p:nvPr/>
        </p:nvSpPr>
        <p:spPr>
          <a:xfrm>
            <a:off x="3611880" y="1636776"/>
            <a:ext cx="1435608" cy="0"/>
          </a:xfrm>
          <a:prstGeom prst="line">
            <a:avLst/>
          </a:prstGeom>
          <a:noFill/>
          <a:ln w="15240">
            <a:solidFill>
              <a:srgbClr val="D0D5DD"/>
            </a:solidFill>
            <a:prstDash val="solid"/>
            <a:headEnd type="none"/>
            <a:tailEnd type="triangle"/>
          </a:ln>
        </p:spPr>
      </p:sp>
      <p:sp>
        <p:nvSpPr>
          <p:cNvPr id="12" name="Shape 10"/>
          <p:cNvSpPr/>
          <p:nvPr/>
        </p:nvSpPr>
        <p:spPr>
          <a:xfrm>
            <a:off x="2788920" y="2240280"/>
            <a:ext cx="1737360" cy="1078992"/>
          </a:xfrm>
          <a:prstGeom prst="roundRect">
            <a:avLst>
              <a:gd name="adj" fmla="val 3390"/>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13" name="Text 11"/>
          <p:cNvSpPr/>
          <p:nvPr/>
        </p:nvSpPr>
        <p:spPr>
          <a:xfrm>
            <a:off x="2862072" y="2313432"/>
            <a:ext cx="1591056" cy="932688"/>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MVP build</a:t>
            </a:r>
            <a:endParaRPr lang="en-US" sz="900" dirty="0"/>
          </a:p>
          <a:p>
            <a:pPr algn="ctr" indent="0" marL="0">
              <a:buNone/>
            </a:pPr>
            <a:r>
              <a:rPr lang="en-US" sz="900" b="1" dirty="0">
                <a:solidFill>
                  <a:srgbClr val="101828"/>
                </a:solidFill>
              </a:rPr>
              <a:t>8-10 weeks</a:t>
            </a:r>
            <a:endParaRPr lang="en-US" sz="900" dirty="0"/>
          </a:p>
        </p:txBody>
      </p:sp>
      <p:sp>
        <p:nvSpPr>
          <p:cNvPr id="14" name="Shape 12"/>
          <p:cNvSpPr/>
          <p:nvPr/>
        </p:nvSpPr>
        <p:spPr>
          <a:xfrm>
            <a:off x="5257800" y="1371600"/>
            <a:ext cx="530352" cy="530352"/>
          </a:xfrm>
          <a:prstGeom prst="ellipse">
            <a:avLst/>
          </a:prstGeom>
          <a:solidFill>
            <a:srgbClr val="0E7C55"/>
          </a:solidFill>
          <a:ln w="12700">
            <a:solidFill>
              <a:srgbClr val="0E7C55"/>
            </a:solidFill>
            <a:prstDash val="solid"/>
          </a:ln>
        </p:spPr>
      </p:sp>
      <p:sp>
        <p:nvSpPr>
          <p:cNvPr id="15" name="Text 13"/>
          <p:cNvSpPr/>
          <p:nvPr/>
        </p:nvSpPr>
        <p:spPr>
          <a:xfrm>
            <a:off x="5257800" y="1517904"/>
            <a:ext cx="530352" cy="11887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6" name="Shape 14"/>
          <p:cNvSpPr/>
          <p:nvPr/>
        </p:nvSpPr>
        <p:spPr>
          <a:xfrm>
            <a:off x="5852160" y="1636776"/>
            <a:ext cx="1435608" cy="0"/>
          </a:xfrm>
          <a:prstGeom prst="line">
            <a:avLst/>
          </a:prstGeom>
          <a:noFill/>
          <a:ln w="15240">
            <a:solidFill>
              <a:srgbClr val="D0D5DD"/>
            </a:solidFill>
            <a:prstDash val="solid"/>
            <a:headEnd type="none"/>
            <a:tailEnd type="triangle"/>
          </a:ln>
        </p:spPr>
      </p:sp>
      <p:sp>
        <p:nvSpPr>
          <p:cNvPr id="17" name="Shape 15"/>
          <p:cNvSpPr/>
          <p:nvPr/>
        </p:nvSpPr>
        <p:spPr>
          <a:xfrm>
            <a:off x="5029200" y="2240280"/>
            <a:ext cx="1737360" cy="1078992"/>
          </a:xfrm>
          <a:prstGeom prst="roundRect">
            <a:avLst>
              <a:gd name="adj" fmla="val 3390"/>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18" name="Text 16"/>
          <p:cNvSpPr/>
          <p:nvPr/>
        </p:nvSpPr>
        <p:spPr>
          <a:xfrm>
            <a:off x="5102352" y="2313432"/>
            <a:ext cx="1591056" cy="932688"/>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Pilot rollout</a:t>
            </a:r>
            <a:endParaRPr lang="en-US" sz="900" dirty="0"/>
          </a:p>
          <a:p>
            <a:pPr algn="ctr" indent="0" marL="0">
              <a:buNone/>
            </a:pPr>
            <a:r>
              <a:rPr lang="en-US" sz="900" b="1" dirty="0">
                <a:solidFill>
                  <a:srgbClr val="101828"/>
                </a:solidFill>
              </a:rPr>
              <a:t>6-8 weeks</a:t>
            </a:r>
            <a:endParaRPr lang="en-US" sz="900" dirty="0"/>
          </a:p>
        </p:txBody>
      </p:sp>
      <p:sp>
        <p:nvSpPr>
          <p:cNvPr id="19" name="Shape 17"/>
          <p:cNvSpPr/>
          <p:nvPr/>
        </p:nvSpPr>
        <p:spPr>
          <a:xfrm>
            <a:off x="7498080" y="1371600"/>
            <a:ext cx="530352" cy="530352"/>
          </a:xfrm>
          <a:prstGeom prst="ellipse">
            <a:avLst/>
          </a:prstGeom>
          <a:solidFill>
            <a:srgbClr val="F5B301"/>
          </a:solidFill>
          <a:ln w="12700">
            <a:solidFill>
              <a:srgbClr val="F5B301"/>
            </a:solidFill>
            <a:prstDash val="solid"/>
          </a:ln>
        </p:spPr>
      </p:sp>
      <p:sp>
        <p:nvSpPr>
          <p:cNvPr id="20" name="Text 18"/>
          <p:cNvSpPr/>
          <p:nvPr/>
        </p:nvSpPr>
        <p:spPr>
          <a:xfrm>
            <a:off x="7498080" y="1517904"/>
            <a:ext cx="530352" cy="11887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21" name="Shape 19"/>
          <p:cNvSpPr/>
          <p:nvPr/>
        </p:nvSpPr>
        <p:spPr>
          <a:xfrm>
            <a:off x="8092440" y="1636776"/>
            <a:ext cx="1435608" cy="0"/>
          </a:xfrm>
          <a:prstGeom prst="line">
            <a:avLst/>
          </a:prstGeom>
          <a:noFill/>
          <a:ln w="15240">
            <a:solidFill>
              <a:srgbClr val="D0D5DD"/>
            </a:solidFill>
            <a:prstDash val="solid"/>
            <a:headEnd type="none"/>
            <a:tailEnd type="triangle"/>
          </a:ln>
        </p:spPr>
      </p:sp>
      <p:sp>
        <p:nvSpPr>
          <p:cNvPr id="22" name="Shape 20"/>
          <p:cNvSpPr/>
          <p:nvPr/>
        </p:nvSpPr>
        <p:spPr>
          <a:xfrm>
            <a:off x="7269480" y="2240280"/>
            <a:ext cx="1737360" cy="1078992"/>
          </a:xfrm>
          <a:prstGeom prst="roundRect">
            <a:avLst>
              <a:gd name="adj" fmla="val 3390"/>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23" name="Text 21"/>
          <p:cNvSpPr/>
          <p:nvPr/>
        </p:nvSpPr>
        <p:spPr>
          <a:xfrm>
            <a:off x="7342632" y="2313432"/>
            <a:ext cx="1591056" cy="932688"/>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State migration</a:t>
            </a:r>
            <a:endParaRPr lang="en-US" sz="900" dirty="0"/>
          </a:p>
          <a:p>
            <a:pPr algn="ctr" indent="0" marL="0">
              <a:buNone/>
            </a:pPr>
            <a:r>
              <a:rPr lang="en-US" sz="900" b="1" dirty="0">
                <a:solidFill>
                  <a:srgbClr val="101828"/>
                </a:solidFill>
              </a:rPr>
              <a:t>12-16 weeks</a:t>
            </a:r>
            <a:endParaRPr lang="en-US" sz="900" dirty="0"/>
          </a:p>
        </p:txBody>
      </p:sp>
      <p:sp>
        <p:nvSpPr>
          <p:cNvPr id="24" name="Shape 22"/>
          <p:cNvSpPr/>
          <p:nvPr/>
        </p:nvSpPr>
        <p:spPr>
          <a:xfrm>
            <a:off x="9738360" y="1371600"/>
            <a:ext cx="530352" cy="530352"/>
          </a:xfrm>
          <a:prstGeom prst="ellipse">
            <a:avLst/>
          </a:prstGeom>
          <a:solidFill>
            <a:srgbClr val="7A5AF8"/>
          </a:solidFill>
          <a:ln w="12700">
            <a:solidFill>
              <a:srgbClr val="7A5AF8"/>
            </a:solidFill>
            <a:prstDash val="solid"/>
          </a:ln>
        </p:spPr>
      </p:sp>
      <p:sp>
        <p:nvSpPr>
          <p:cNvPr id="25" name="Text 23"/>
          <p:cNvSpPr/>
          <p:nvPr/>
        </p:nvSpPr>
        <p:spPr>
          <a:xfrm>
            <a:off x="9738360" y="1517904"/>
            <a:ext cx="530352" cy="11887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6" name="Shape 24"/>
          <p:cNvSpPr/>
          <p:nvPr/>
        </p:nvSpPr>
        <p:spPr>
          <a:xfrm>
            <a:off x="9509760" y="2240280"/>
            <a:ext cx="1737360" cy="1078992"/>
          </a:xfrm>
          <a:prstGeom prst="roundRect">
            <a:avLst>
              <a:gd name="adj" fmla="val 3390"/>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27" name="Text 25"/>
          <p:cNvSpPr/>
          <p:nvPr/>
        </p:nvSpPr>
        <p:spPr>
          <a:xfrm>
            <a:off x="9582912" y="2313432"/>
            <a:ext cx="1591056" cy="932688"/>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Optimisation</a:t>
            </a:r>
            <a:endParaRPr lang="en-US" sz="900" dirty="0"/>
          </a:p>
          <a:p>
            <a:pPr algn="ctr" indent="0" marL="0">
              <a:buNone/>
            </a:pPr>
            <a:r>
              <a:rPr lang="en-US" sz="900" b="1" dirty="0">
                <a:solidFill>
                  <a:srgbClr val="101828"/>
                </a:solidFill>
              </a:rPr>
              <a:t>Ongoing</a:t>
            </a:r>
            <a:endParaRPr lang="en-US" sz="900" dirty="0"/>
          </a:p>
        </p:txBody>
      </p:sp>
      <p:sp>
        <p:nvSpPr>
          <p:cNvPr id="28" name="Text 26"/>
          <p:cNvSpPr/>
          <p:nvPr/>
        </p:nvSpPr>
        <p:spPr>
          <a:xfrm>
            <a:off x="868680" y="4343400"/>
            <a:ext cx="1691640" cy="246888"/>
          </a:xfrm>
          <a:prstGeom prst="rect">
            <a:avLst/>
          </a:prstGeom>
          <a:solidFill>
            <a:srgbClr val="0B0A2A"/>
          </a:solidFill>
          <a:ln>
            <a:solidFill>
              <a:srgbClr val="0B0A2A">
                <a:alpha val="0"/>
              </a:srgbClr>
            </a:solidFill>
          </a:ln>
        </p:spPr>
        <p:txBody>
          <a:bodyPr wrap="square" lIns="0" tIns="0" rIns="0" bIns="0" rtlCol="0" anchor="ctr"/>
          <a:lstStyle/>
          <a:p>
            <a:pPr algn="ctr" indent="0" marL="0">
              <a:buNone/>
            </a:pPr>
            <a:r>
              <a:rPr lang="en-US" sz="800" b="1" dirty="0">
                <a:solidFill>
                  <a:srgbClr val="FFFFFF"/>
                </a:solidFill>
              </a:rPr>
              <a:t>Approved rules and SOP</a:t>
            </a:r>
            <a:endParaRPr lang="en-US" sz="800" dirty="0"/>
          </a:p>
        </p:txBody>
      </p:sp>
      <p:sp>
        <p:nvSpPr>
          <p:cNvPr id="29" name="Text 27"/>
          <p:cNvSpPr/>
          <p:nvPr/>
        </p:nvSpPr>
        <p:spPr>
          <a:xfrm>
            <a:off x="3044952" y="4343400"/>
            <a:ext cx="1691640" cy="246888"/>
          </a:xfrm>
          <a:prstGeom prst="rect">
            <a:avLst/>
          </a:prstGeom>
          <a:solidFill>
            <a:srgbClr val="155EEF"/>
          </a:solidFill>
          <a:ln>
            <a:solidFill>
              <a:srgbClr val="155EEF">
                <a:alpha val="0"/>
              </a:srgbClr>
            </a:solidFill>
          </a:ln>
        </p:spPr>
        <p:txBody>
          <a:bodyPr wrap="square" lIns="0" tIns="0" rIns="0" bIns="0" rtlCol="0" anchor="ctr"/>
          <a:lstStyle/>
          <a:p>
            <a:pPr algn="ctr" indent="0" marL="0">
              <a:buNone/>
            </a:pPr>
            <a:r>
              <a:rPr lang="en-US" sz="800" b="1" dirty="0">
                <a:solidFill>
                  <a:srgbClr val="FFFFFF"/>
                </a:solidFill>
              </a:rPr>
              <a:t>Pilot-tested platform</a:t>
            </a:r>
            <a:endParaRPr lang="en-US" sz="800" dirty="0"/>
          </a:p>
        </p:txBody>
      </p:sp>
      <p:sp>
        <p:nvSpPr>
          <p:cNvPr id="30" name="Text 28"/>
          <p:cNvSpPr/>
          <p:nvPr/>
        </p:nvSpPr>
        <p:spPr>
          <a:xfrm>
            <a:off x="5221224" y="4343400"/>
            <a:ext cx="1691640" cy="246888"/>
          </a:xfrm>
          <a:prstGeom prst="rect">
            <a:avLst/>
          </a:prstGeom>
          <a:solidFill>
            <a:srgbClr val="0E7C55"/>
          </a:solidFill>
          <a:ln>
            <a:solidFill>
              <a:srgbClr val="0E7C55">
                <a:alpha val="0"/>
              </a:srgbClr>
            </a:solidFill>
          </a:ln>
        </p:spPr>
        <p:txBody>
          <a:bodyPr wrap="square" lIns="0" tIns="0" rIns="0" bIns="0" rtlCol="0" anchor="ctr"/>
          <a:lstStyle/>
          <a:p>
            <a:pPr algn="ctr" indent="0" marL="0">
              <a:buNone/>
            </a:pPr>
            <a:r>
              <a:rPr lang="en-US" sz="800" b="1" dirty="0">
                <a:solidFill>
                  <a:srgbClr val="FFFFFF"/>
                </a:solidFill>
              </a:rPr>
              <a:t>Validated DBT integration</a:t>
            </a:r>
            <a:endParaRPr lang="en-US" sz="800" dirty="0"/>
          </a:p>
        </p:txBody>
      </p:sp>
      <p:sp>
        <p:nvSpPr>
          <p:cNvPr id="31" name="Text 29"/>
          <p:cNvSpPr/>
          <p:nvPr/>
        </p:nvSpPr>
        <p:spPr>
          <a:xfrm>
            <a:off x="7397496" y="4343400"/>
            <a:ext cx="1691640" cy="246888"/>
          </a:xfrm>
          <a:prstGeom prst="rect">
            <a:avLst/>
          </a:prstGeom>
          <a:solidFill>
            <a:srgbClr val="F5B301"/>
          </a:solidFill>
          <a:ln>
            <a:solidFill>
              <a:srgbClr val="F5B301">
                <a:alpha val="0"/>
              </a:srgbClr>
            </a:solidFill>
          </a:ln>
        </p:spPr>
        <p:txBody>
          <a:bodyPr wrap="square" lIns="0" tIns="0" rIns="0" bIns="0" rtlCol="0" anchor="ctr"/>
          <a:lstStyle/>
          <a:p>
            <a:pPr algn="ctr" indent="0" marL="0">
              <a:buNone/>
            </a:pPr>
            <a:r>
              <a:rPr lang="en-US" sz="800" b="1" dirty="0">
                <a:solidFill>
                  <a:srgbClr val="FFFFFF"/>
                </a:solidFill>
              </a:rPr>
              <a:t>Statewide communications</a:t>
            </a:r>
            <a:endParaRPr lang="en-US" sz="800" dirty="0"/>
          </a:p>
        </p:txBody>
      </p:sp>
      <p:sp>
        <p:nvSpPr>
          <p:cNvPr id="32" name="Text 30"/>
          <p:cNvSpPr/>
          <p:nvPr/>
        </p:nvSpPr>
        <p:spPr>
          <a:xfrm>
            <a:off x="9573768" y="4343400"/>
            <a:ext cx="1691640" cy="246888"/>
          </a:xfrm>
          <a:prstGeom prst="rect">
            <a:avLst/>
          </a:prstGeom>
          <a:solidFill>
            <a:srgbClr val="7A5AF8"/>
          </a:solidFill>
          <a:ln>
            <a:solidFill>
              <a:srgbClr val="7A5AF8">
                <a:alpha val="0"/>
              </a:srgbClr>
            </a:solidFill>
          </a:ln>
        </p:spPr>
        <p:txBody>
          <a:bodyPr wrap="square" lIns="0" tIns="0" rIns="0" bIns="0" rtlCol="0" anchor="ctr"/>
          <a:lstStyle/>
          <a:p>
            <a:pPr algn="ctr" indent="0" marL="0">
              <a:buNone/>
            </a:pPr>
            <a:r>
              <a:rPr lang="en-US" sz="800" b="1" dirty="0">
                <a:solidFill>
                  <a:srgbClr val="FFFFFF"/>
                </a:solidFill>
              </a:rPr>
              <a:t>Monthly governance pack</a:t>
            </a:r>
            <a:endParaRPr lang="en-US" sz="8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Governance, MIS and success measures</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Dashboards should track both leakage reduction and beneficiary exclusion risk.</a:t>
            </a:r>
            <a:endParaRPr lang="en-US" sz="950" dirty="0"/>
          </a:p>
        </p:txBody>
      </p:sp>
      <p:sp>
        <p:nvSpPr>
          <p:cNvPr id="4" name="Shape 2"/>
          <p:cNvSpPr/>
          <p:nvPr/>
        </p:nvSpPr>
        <p:spPr>
          <a:xfrm>
            <a:off x="777240" y="1325880"/>
            <a:ext cx="1828800" cy="2468880"/>
          </a:xfrm>
          <a:prstGeom prst="roundRect">
            <a:avLst>
              <a:gd name="adj" fmla="val 2000"/>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5" name="Text 3"/>
          <p:cNvSpPr/>
          <p:nvPr/>
        </p:nvSpPr>
        <p:spPr>
          <a:xfrm>
            <a:off x="850392" y="1399032"/>
            <a:ext cx="1682496" cy="2322576"/>
          </a:xfrm>
          <a:prstGeom prst="rect">
            <a:avLst/>
          </a:prstGeom>
          <a:noFill/>
          <a:ln/>
        </p:spPr>
        <p:txBody>
          <a:bodyPr wrap="square" lIns="254" tIns="254" rIns="254" bIns="254" rtlCol="0" anchor="ctr">
            <a:normAutofit/>
          </a:bodyPr>
          <a:lstStyle/>
          <a:p>
            <a:pPr algn="ctr" indent="0" marL="0">
              <a:buNone/>
            </a:pPr>
            <a:r>
              <a:rPr lang="en-US" sz="850" b="1" dirty="0">
                <a:solidFill>
                  <a:srgbClr val="101828"/>
                </a:solidFill>
              </a:rPr>
              <a:t>Registration</a:t>
            </a:r>
            <a:endParaRPr lang="en-US" sz="850" dirty="0"/>
          </a:p>
          <a:p>
            <a:pPr algn="ctr" indent="0" marL="0">
              <a:buNone/>
            </a:pPr>
            <a:r>
              <a:rPr lang="en-US" sz="850" b="1" dirty="0">
                <a:solidFill>
                  <a:srgbClr val="101828"/>
                </a:solidFill>
              </a:rPr>
              <a:t>Applications completed, pending, channel mix, district split</a:t>
            </a:r>
            <a:endParaRPr lang="en-US" sz="850" dirty="0"/>
          </a:p>
        </p:txBody>
      </p:sp>
      <p:sp>
        <p:nvSpPr>
          <p:cNvPr id="6" name="Shape 4"/>
          <p:cNvSpPr/>
          <p:nvPr/>
        </p:nvSpPr>
        <p:spPr>
          <a:xfrm>
            <a:off x="3017520" y="1325880"/>
            <a:ext cx="1828800" cy="2468880"/>
          </a:xfrm>
          <a:prstGeom prst="roundRect">
            <a:avLst>
              <a:gd name="adj" fmla="val 2000"/>
            </a:avLst>
          </a:prstGeom>
          <a:solidFill>
            <a:srgbClr val="F8FAFC"/>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7" name="Text 5"/>
          <p:cNvSpPr/>
          <p:nvPr/>
        </p:nvSpPr>
        <p:spPr>
          <a:xfrm>
            <a:off x="3090672" y="1399032"/>
            <a:ext cx="1682496" cy="2322576"/>
          </a:xfrm>
          <a:prstGeom prst="rect">
            <a:avLst/>
          </a:prstGeom>
          <a:noFill/>
          <a:ln/>
        </p:spPr>
        <p:txBody>
          <a:bodyPr wrap="square" lIns="254" tIns="254" rIns="254" bIns="254" rtlCol="0" anchor="ctr">
            <a:normAutofit/>
          </a:bodyPr>
          <a:lstStyle/>
          <a:p>
            <a:pPr algn="ctr" indent="0" marL="0">
              <a:buNone/>
            </a:pPr>
            <a:r>
              <a:rPr lang="en-US" sz="850" b="1" dirty="0">
                <a:solidFill>
                  <a:srgbClr val="101828"/>
                </a:solidFill>
              </a:rPr>
              <a:t>Integrity</a:t>
            </a:r>
            <a:endParaRPr lang="en-US" sz="850" dirty="0"/>
          </a:p>
          <a:p>
            <a:pPr algn="ctr" indent="0" marL="0">
              <a:buNone/>
            </a:pPr>
            <a:r>
              <a:rPr lang="en-US" sz="850" b="1" dirty="0">
                <a:solidFill>
                  <a:srgbClr val="101828"/>
                </a:solidFill>
              </a:rPr>
              <a:t>Duplicate clusters, confidence scores, retained/deactivated count</a:t>
            </a:r>
            <a:endParaRPr lang="en-US" sz="850" dirty="0"/>
          </a:p>
        </p:txBody>
      </p:sp>
      <p:sp>
        <p:nvSpPr>
          <p:cNvPr id="8" name="Shape 6"/>
          <p:cNvSpPr/>
          <p:nvPr/>
        </p:nvSpPr>
        <p:spPr>
          <a:xfrm>
            <a:off x="5257800" y="1325880"/>
            <a:ext cx="1828800" cy="2468880"/>
          </a:xfrm>
          <a:prstGeom prst="roundRect">
            <a:avLst>
              <a:gd name="adj" fmla="val 2000"/>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9" name="Text 7"/>
          <p:cNvSpPr/>
          <p:nvPr/>
        </p:nvSpPr>
        <p:spPr>
          <a:xfrm>
            <a:off x="5330952" y="1399032"/>
            <a:ext cx="1682496" cy="2322576"/>
          </a:xfrm>
          <a:prstGeom prst="rect">
            <a:avLst/>
          </a:prstGeom>
          <a:noFill/>
          <a:ln/>
        </p:spPr>
        <p:txBody>
          <a:bodyPr wrap="square" lIns="254" tIns="254" rIns="254" bIns="254" rtlCol="0" anchor="ctr">
            <a:normAutofit/>
          </a:bodyPr>
          <a:lstStyle/>
          <a:p>
            <a:pPr algn="ctr" indent="0" marL="0">
              <a:buNone/>
            </a:pPr>
            <a:r>
              <a:rPr lang="en-US" sz="850" b="1" dirty="0">
                <a:solidFill>
                  <a:srgbClr val="101828"/>
                </a:solidFill>
              </a:rPr>
              <a:t>Life-proof</a:t>
            </a:r>
            <a:endParaRPr lang="en-US" sz="850" dirty="0"/>
          </a:p>
          <a:p>
            <a:pPr algn="ctr" indent="0" marL="0">
              <a:buNone/>
            </a:pPr>
            <a:r>
              <a:rPr lang="en-US" sz="850" b="1" dirty="0">
                <a:solidFill>
                  <a:srgbClr val="101828"/>
                </a:solidFill>
              </a:rPr>
              <a:t>Due, completed, grace, failed, inactive, appeal pending</a:t>
            </a:r>
            <a:endParaRPr lang="en-US" sz="850" dirty="0"/>
          </a:p>
        </p:txBody>
      </p:sp>
      <p:sp>
        <p:nvSpPr>
          <p:cNvPr id="10" name="Shape 8"/>
          <p:cNvSpPr/>
          <p:nvPr/>
        </p:nvSpPr>
        <p:spPr>
          <a:xfrm>
            <a:off x="7498080" y="1325880"/>
            <a:ext cx="1828800" cy="2468880"/>
          </a:xfrm>
          <a:prstGeom prst="roundRect">
            <a:avLst>
              <a:gd name="adj" fmla="val 2000"/>
            </a:avLst>
          </a:prstGeom>
          <a:solidFill>
            <a:srgbClr val="F8FAFC"/>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11" name="Text 9"/>
          <p:cNvSpPr/>
          <p:nvPr/>
        </p:nvSpPr>
        <p:spPr>
          <a:xfrm>
            <a:off x="7571232" y="1399032"/>
            <a:ext cx="1682496" cy="2322576"/>
          </a:xfrm>
          <a:prstGeom prst="rect">
            <a:avLst/>
          </a:prstGeom>
          <a:noFill/>
          <a:ln/>
        </p:spPr>
        <p:txBody>
          <a:bodyPr wrap="square" lIns="254" tIns="254" rIns="254" bIns="254" rtlCol="0" anchor="ctr">
            <a:normAutofit/>
          </a:bodyPr>
          <a:lstStyle/>
          <a:p>
            <a:pPr algn="ctr" indent="0" marL="0">
              <a:buNone/>
            </a:pPr>
            <a:r>
              <a:rPr lang="en-US" sz="850" b="1" dirty="0">
                <a:solidFill>
                  <a:srgbClr val="101828"/>
                </a:solidFill>
              </a:rPr>
              <a:t>Support</a:t>
            </a:r>
            <a:endParaRPr lang="en-US" sz="850" dirty="0"/>
          </a:p>
          <a:p>
            <a:pPr algn="ctr" indent="0" marL="0">
              <a:buNone/>
            </a:pPr>
            <a:r>
              <a:rPr lang="en-US" sz="850" b="1" dirty="0">
                <a:solidFill>
                  <a:srgbClr val="101828"/>
                </a:solidFill>
              </a:rPr>
              <a:t>Call volume, first-call resolution, complaint aging</a:t>
            </a:r>
            <a:endParaRPr lang="en-US" sz="850" dirty="0"/>
          </a:p>
        </p:txBody>
      </p:sp>
      <p:sp>
        <p:nvSpPr>
          <p:cNvPr id="12" name="Shape 10"/>
          <p:cNvSpPr/>
          <p:nvPr/>
        </p:nvSpPr>
        <p:spPr>
          <a:xfrm>
            <a:off x="9738360" y="1325880"/>
            <a:ext cx="1828800" cy="2468880"/>
          </a:xfrm>
          <a:prstGeom prst="roundRect">
            <a:avLst>
              <a:gd name="adj" fmla="val 2000"/>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13" name="Text 11"/>
          <p:cNvSpPr/>
          <p:nvPr/>
        </p:nvSpPr>
        <p:spPr>
          <a:xfrm>
            <a:off x="9811512" y="1399032"/>
            <a:ext cx="1682496" cy="2322576"/>
          </a:xfrm>
          <a:prstGeom prst="rect">
            <a:avLst/>
          </a:prstGeom>
          <a:noFill/>
          <a:ln/>
        </p:spPr>
        <p:txBody>
          <a:bodyPr wrap="square" lIns="254" tIns="254" rIns="254" bIns="254" rtlCol="0" anchor="ctr">
            <a:normAutofit/>
          </a:bodyPr>
          <a:lstStyle/>
          <a:p>
            <a:pPr algn="ctr" indent="0" marL="0">
              <a:buNone/>
            </a:pPr>
            <a:r>
              <a:rPr lang="en-US" sz="850" b="1" dirty="0">
                <a:solidFill>
                  <a:srgbClr val="101828"/>
                </a:solidFill>
              </a:rPr>
              <a:t>Audit</a:t>
            </a:r>
            <a:endParaRPr lang="en-US" sz="850" dirty="0"/>
          </a:p>
          <a:p>
            <a:pPr algn="ctr" indent="0" marL="0">
              <a:buNone/>
            </a:pPr>
            <a:r>
              <a:rPr lang="en-US" sz="850" b="1" dirty="0">
                <a:solidFill>
                  <a:srgbClr val="101828"/>
                </a:solidFill>
              </a:rPr>
              <a:t>Consent logs, admin overrides, DBT reconciliation exceptions</a:t>
            </a:r>
            <a:endParaRPr lang="en-US" sz="850" dirty="0"/>
          </a:p>
        </p:txBody>
      </p:sp>
      <p:sp>
        <p:nvSpPr>
          <p:cNvPr id="14" name="Shape 12"/>
          <p:cNvSpPr/>
          <p:nvPr/>
        </p:nvSpPr>
        <p:spPr>
          <a:xfrm>
            <a:off x="1280160" y="4434840"/>
            <a:ext cx="9601200" cy="621792"/>
          </a:xfrm>
          <a:prstGeom prst="roundRect">
            <a:avLst>
              <a:gd name="adj" fmla="val 5882"/>
            </a:avLst>
          </a:prstGeom>
          <a:solidFill>
            <a:srgbClr val="0B0A2A"/>
          </a:solidFill>
          <a:ln w="12700">
            <a:solidFill>
              <a:srgbClr val="0B0A2A"/>
            </a:solidFill>
            <a:prstDash val="solid"/>
          </a:ln>
        </p:spPr>
      </p:sp>
      <p:sp>
        <p:nvSpPr>
          <p:cNvPr id="15" name="Text 13"/>
          <p:cNvSpPr/>
          <p:nvPr/>
        </p:nvSpPr>
        <p:spPr>
          <a:xfrm>
            <a:off x="1353312" y="4507992"/>
            <a:ext cx="9454896" cy="475488"/>
          </a:xfrm>
          <a:prstGeom prst="rect">
            <a:avLst/>
          </a:prstGeom>
          <a:noFill/>
          <a:ln/>
        </p:spPr>
        <p:txBody>
          <a:bodyPr wrap="square" lIns="254" tIns="254" rIns="254" bIns="254" rtlCol="0" anchor="ctr">
            <a:normAutofit/>
          </a:bodyPr>
          <a:lstStyle/>
          <a:p>
            <a:pPr algn="ctr" indent="0" marL="0">
              <a:buNone/>
            </a:pPr>
            <a:r>
              <a:rPr lang="en-US" sz="1200" b="1" dirty="0">
                <a:solidFill>
                  <a:srgbClr val="FFFFFF"/>
                </a:solidFill>
              </a:rPr>
              <a:t>Leadership decision rhythm: daily rollout command centre, weekly district review, monthly policy and audit committee.</a:t>
            </a:r>
            <a:endParaRPr lang="en-US" sz="12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Application build prompt</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Use this as the development brief for a prototype or production-ready MVP.</a:t>
            </a:r>
            <a:endParaRPr lang="en-US" sz="950" dirty="0"/>
          </a:p>
        </p:txBody>
      </p:sp>
      <p:sp>
        <p:nvSpPr>
          <p:cNvPr id="4" name="Text 2"/>
          <p:cNvSpPr/>
          <p:nvPr/>
        </p:nvSpPr>
        <p:spPr>
          <a:xfrm>
            <a:off x="777240" y="1234440"/>
            <a:ext cx="10561320" cy="3931920"/>
          </a:xfrm>
          <a:prstGeom prst="rect">
            <a:avLst/>
          </a:prstGeom>
          <a:solidFill>
            <a:srgbClr val="F8FAFC"/>
          </a:solidFill>
          <a:ln>
            <a:solidFill>
              <a:srgbClr val="E4E7EC"/>
            </a:solidFill>
          </a:ln>
        </p:spPr>
        <p:txBody>
          <a:bodyPr wrap="square" lIns="1270" tIns="1270" rIns="1270" bIns="1270" rtlCol="0" anchor="ctr">
            <a:normAutofit/>
          </a:bodyPr>
          <a:lstStyle/>
          <a:p>
            <a:pPr indent="0" marL="0">
              <a:buNone/>
            </a:pPr>
            <a:r>
              <a:rPr lang="en-US" sz="1300" dirty="0">
                <a:solidFill>
                  <a:srgbClr val="101828"/>
                </a:solidFill>
              </a:rPr>
              <a:t>Build a production-grade web and mobile-ready Gruhalakshmi Beneficiary Integrity Platform with Beneficiary, Service Centre Operator, Call Centre Agent/Supervisor and Scheme Administrator roles. Beneficiaries log in with mobile OTP, select Kannada/English, register/renew using Aadhaar as ID/address proof, upload optional proofs, complete periodic life-proof and file appeals. Operators perform assisted registration, document scanning and verification capture. Call-centre users search records, register grievances and escalate cases. Admins configure retention rules, proof weights, life-proof intervals, grace periods, notice templates and district rollouts. Backend must include registry, address normalisation, household clustering, rule engine, workflow, notifications, DBT integration, dashboards, audit logs, RBAC, consent logs, encryption, no raw biometric storage and DPDP/Aadhaar safeguards.</a:t>
            </a:r>
            <a:endParaRPr lang="en-US" sz="1300" dirty="0"/>
          </a:p>
        </p:txBody>
      </p:sp>
      <p:sp>
        <p:nvSpPr>
          <p:cNvPr id="5" name="Shape 3"/>
          <p:cNvSpPr/>
          <p:nvPr/>
        </p:nvSpPr>
        <p:spPr>
          <a:xfrm>
            <a:off x="3017520" y="5532120"/>
            <a:ext cx="6172200" cy="457200"/>
          </a:xfrm>
          <a:prstGeom prst="roundRect">
            <a:avLst>
              <a:gd name="adj" fmla="val 8000"/>
            </a:avLst>
          </a:prstGeom>
          <a:solidFill>
            <a:srgbClr val="0E7C55"/>
          </a:solidFill>
          <a:ln w="12700">
            <a:solidFill>
              <a:srgbClr val="0E7C55"/>
            </a:solidFill>
            <a:prstDash val="solid"/>
          </a:ln>
        </p:spPr>
      </p:sp>
      <p:sp>
        <p:nvSpPr>
          <p:cNvPr id="6" name="Text 4"/>
          <p:cNvSpPr/>
          <p:nvPr/>
        </p:nvSpPr>
        <p:spPr>
          <a:xfrm>
            <a:off x="3090672" y="5605272"/>
            <a:ext cx="6025896" cy="310896"/>
          </a:xfrm>
          <a:prstGeom prst="rect">
            <a:avLst/>
          </a:prstGeom>
          <a:noFill/>
          <a:ln/>
        </p:spPr>
        <p:txBody>
          <a:bodyPr wrap="square" lIns="254" tIns="254" rIns="254" bIns="254" rtlCol="0" anchor="ctr">
            <a:normAutofit/>
          </a:bodyPr>
          <a:lstStyle/>
          <a:p>
            <a:pPr algn="ctr" indent="0" marL="0">
              <a:buNone/>
            </a:pPr>
            <a:r>
              <a:rPr lang="en-US" sz="950" b="1" dirty="0">
                <a:solidFill>
                  <a:srgbClr val="FFFFFF"/>
                </a:solidFill>
              </a:rPr>
              <a:t>Recommended MVP: registration + matching + rule engine + life-proof + admin + call-centre + DBT status integration</a:t>
            </a:r>
            <a:endParaRPr lang="en-US" sz="95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11480" y="320040"/>
            <a:ext cx="8046720" cy="411480"/>
          </a:xfrm>
          <a:prstGeom prst="rect">
            <a:avLst/>
          </a:prstGeom>
          <a:noFill/>
          <a:ln/>
        </p:spPr>
        <p:txBody>
          <a:bodyPr wrap="square" lIns="0" tIns="0" rIns="0" bIns="0" rtlCol="0" anchor="ctr"/>
          <a:lstStyle/>
          <a:p>
            <a:pPr indent="0" marL="0">
              <a:buNone/>
            </a:pPr>
            <a:r>
              <a:rPr lang="en-US" sz="2400" b="1" dirty="0">
                <a:solidFill>
                  <a:srgbClr val="0B0A2A"/>
                </a:solidFill>
                <a:latin typeface="Aptos Display" pitchFamily="34" charset="0"/>
                <a:ea typeface="Aptos Display" pitchFamily="34" charset="-122"/>
                <a:cs typeface="Aptos Display" pitchFamily="34" charset="-120"/>
              </a:rPr>
              <a:t>Decision asks and immediate next steps</a:t>
            </a:r>
            <a:endParaRPr lang="en-US" sz="2400" dirty="0"/>
          </a:p>
        </p:txBody>
      </p:sp>
      <p:sp>
        <p:nvSpPr>
          <p:cNvPr id="3" name="Text 1"/>
          <p:cNvSpPr/>
          <p:nvPr/>
        </p:nvSpPr>
        <p:spPr>
          <a:xfrm>
            <a:off x="438912" y="768096"/>
            <a:ext cx="9326880" cy="256032"/>
          </a:xfrm>
          <a:prstGeom prst="rect">
            <a:avLst/>
          </a:prstGeom>
          <a:noFill/>
          <a:ln/>
        </p:spPr>
        <p:txBody>
          <a:bodyPr wrap="square" lIns="0" tIns="0" rIns="0" bIns="0" rtlCol="0" anchor="ctr"/>
          <a:lstStyle/>
          <a:p>
            <a:pPr indent="0" marL="0">
              <a:buNone/>
            </a:pPr>
            <a:r>
              <a:rPr lang="en-US" sz="950" dirty="0">
                <a:solidFill>
                  <a:srgbClr val="667085"/>
                </a:solidFill>
              </a:rPr>
              <a:t>The next phase should validate policy, legal, integration and operating assumptions.</a:t>
            </a:r>
            <a:endParaRPr lang="en-US" sz="950" dirty="0"/>
          </a:p>
        </p:txBody>
      </p:sp>
      <p:sp>
        <p:nvSpPr>
          <p:cNvPr id="4" name="Shape 2"/>
          <p:cNvSpPr/>
          <p:nvPr/>
        </p:nvSpPr>
        <p:spPr>
          <a:xfrm>
            <a:off x="868680" y="1600200"/>
            <a:ext cx="1691640" cy="2148840"/>
          </a:xfrm>
          <a:prstGeom prst="roundRect">
            <a:avLst>
              <a:gd name="adj" fmla="val 2162"/>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5" name="Text 3"/>
          <p:cNvSpPr/>
          <p:nvPr/>
        </p:nvSpPr>
        <p:spPr>
          <a:xfrm>
            <a:off x="941832" y="1673352"/>
            <a:ext cx="1545336" cy="200253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Policy</a:t>
            </a:r>
            <a:endParaRPr lang="en-US" sz="900" dirty="0"/>
          </a:p>
          <a:p>
            <a:pPr algn="ctr" indent="0" marL="0">
              <a:buNone/>
            </a:pPr>
            <a:r>
              <a:rPr lang="en-US" sz="900" b="1" dirty="0">
                <a:solidFill>
                  <a:srgbClr val="101828"/>
                </a:solidFill>
              </a:rPr>
              <a:t>Approve default retention rule and appeal policy.</a:t>
            </a:r>
            <a:endParaRPr lang="en-US" sz="900" dirty="0"/>
          </a:p>
        </p:txBody>
      </p:sp>
      <p:sp>
        <p:nvSpPr>
          <p:cNvPr id="6" name="Shape 4"/>
          <p:cNvSpPr/>
          <p:nvPr/>
        </p:nvSpPr>
        <p:spPr>
          <a:xfrm>
            <a:off x="3044952" y="1600200"/>
            <a:ext cx="1691640" cy="2148840"/>
          </a:xfrm>
          <a:prstGeom prst="roundRect">
            <a:avLst>
              <a:gd name="adj" fmla="val 2162"/>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7" name="Text 5"/>
          <p:cNvSpPr/>
          <p:nvPr/>
        </p:nvSpPr>
        <p:spPr>
          <a:xfrm>
            <a:off x="3118104" y="1673352"/>
            <a:ext cx="1545336" cy="200253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Legal &amp; privacy</a:t>
            </a:r>
            <a:endParaRPr lang="en-US" sz="900" dirty="0"/>
          </a:p>
          <a:p>
            <a:pPr algn="ctr" indent="0" marL="0">
              <a:buNone/>
            </a:pPr>
            <a:r>
              <a:rPr lang="en-US" sz="900" b="1" dirty="0">
                <a:solidFill>
                  <a:srgbClr val="101828"/>
                </a:solidFill>
              </a:rPr>
              <a:t>Validate Aadhaar, DPDP, data retention and notice design.</a:t>
            </a:r>
            <a:endParaRPr lang="en-US" sz="900" dirty="0"/>
          </a:p>
        </p:txBody>
      </p:sp>
      <p:sp>
        <p:nvSpPr>
          <p:cNvPr id="8" name="Shape 6"/>
          <p:cNvSpPr/>
          <p:nvPr/>
        </p:nvSpPr>
        <p:spPr>
          <a:xfrm>
            <a:off x="5221224" y="1600200"/>
            <a:ext cx="1691640" cy="2148840"/>
          </a:xfrm>
          <a:prstGeom prst="roundRect">
            <a:avLst>
              <a:gd name="adj" fmla="val 2162"/>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9" name="Text 7"/>
          <p:cNvSpPr/>
          <p:nvPr/>
        </p:nvSpPr>
        <p:spPr>
          <a:xfrm>
            <a:off x="5294376" y="1673352"/>
            <a:ext cx="1545336" cy="200253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Integration</a:t>
            </a:r>
            <a:endParaRPr lang="en-US" sz="900" dirty="0"/>
          </a:p>
          <a:p>
            <a:pPr algn="ctr" indent="0" marL="0">
              <a:buNone/>
            </a:pPr>
            <a:r>
              <a:rPr lang="en-US" sz="900" b="1" dirty="0">
                <a:solidFill>
                  <a:srgbClr val="101828"/>
                </a:solidFill>
              </a:rPr>
              <a:t>Confirm UIDAI, DBT, ration card, e-Janma and SMS/IVR interfaces.</a:t>
            </a:r>
            <a:endParaRPr lang="en-US" sz="900" dirty="0"/>
          </a:p>
        </p:txBody>
      </p:sp>
      <p:sp>
        <p:nvSpPr>
          <p:cNvPr id="10" name="Shape 8"/>
          <p:cNvSpPr/>
          <p:nvPr/>
        </p:nvSpPr>
        <p:spPr>
          <a:xfrm>
            <a:off x="7397496" y="1600200"/>
            <a:ext cx="1691640" cy="2148840"/>
          </a:xfrm>
          <a:prstGeom prst="roundRect">
            <a:avLst>
              <a:gd name="adj" fmla="val 2162"/>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11" name="Text 9"/>
          <p:cNvSpPr/>
          <p:nvPr/>
        </p:nvSpPr>
        <p:spPr>
          <a:xfrm>
            <a:off x="7470648" y="1673352"/>
            <a:ext cx="1545336" cy="200253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Pilot</a:t>
            </a:r>
            <a:endParaRPr lang="en-US" sz="900" dirty="0"/>
          </a:p>
          <a:p>
            <a:pPr algn="ctr" indent="0" marL="0">
              <a:buNone/>
            </a:pPr>
            <a:r>
              <a:rPr lang="en-US" sz="900" b="1" dirty="0">
                <a:solidFill>
                  <a:srgbClr val="101828"/>
                </a:solidFill>
              </a:rPr>
              <a:t>Select urban and rural pilot districts and service-centre capacity.</a:t>
            </a:r>
            <a:endParaRPr lang="en-US" sz="900" dirty="0"/>
          </a:p>
        </p:txBody>
      </p:sp>
      <p:sp>
        <p:nvSpPr>
          <p:cNvPr id="12" name="Shape 10"/>
          <p:cNvSpPr/>
          <p:nvPr/>
        </p:nvSpPr>
        <p:spPr>
          <a:xfrm>
            <a:off x="9573768" y="1600200"/>
            <a:ext cx="1691640" cy="2148840"/>
          </a:xfrm>
          <a:prstGeom prst="roundRect">
            <a:avLst>
              <a:gd name="adj" fmla="val 2162"/>
            </a:avLst>
          </a:prstGeom>
          <a:solidFill>
            <a:srgbClr val="FFFFFF"/>
          </a:solidFill>
          <a:ln w="12700">
            <a:solidFill>
              <a:srgbClr val="E4E7EC"/>
            </a:solidFill>
            <a:prstDash val="solid"/>
          </a:ln>
          <a:effectLst>
            <a:outerShdw sx="100000" sy="100000" kx="0" ky="0" algn="bl" rotWithShape="0" blurRad="25400" dist="12700" dir="2700000">
              <a:srgbClr val="000000">
                <a:alpha val="12000"/>
              </a:srgbClr>
            </a:outerShdw>
          </a:effectLst>
        </p:spPr>
      </p:sp>
      <p:sp>
        <p:nvSpPr>
          <p:cNvPr id="13" name="Text 11"/>
          <p:cNvSpPr/>
          <p:nvPr/>
        </p:nvSpPr>
        <p:spPr>
          <a:xfrm>
            <a:off x="9646920" y="1673352"/>
            <a:ext cx="1545336" cy="2002536"/>
          </a:xfrm>
          <a:prstGeom prst="rect">
            <a:avLst/>
          </a:prstGeom>
          <a:noFill/>
          <a:ln/>
        </p:spPr>
        <p:txBody>
          <a:bodyPr wrap="square" lIns="254" tIns="254" rIns="254" bIns="254" rtlCol="0" anchor="ctr">
            <a:normAutofit/>
          </a:bodyPr>
          <a:lstStyle/>
          <a:p>
            <a:pPr algn="ctr" indent="0" marL="0">
              <a:buNone/>
            </a:pPr>
            <a:r>
              <a:rPr lang="en-US" sz="900" b="1" dirty="0">
                <a:solidFill>
                  <a:srgbClr val="101828"/>
                </a:solidFill>
              </a:rPr>
              <a:t>Delivery</a:t>
            </a:r>
            <a:endParaRPr lang="en-US" sz="900" dirty="0"/>
          </a:p>
          <a:p>
            <a:pPr algn="ctr" indent="0" marL="0">
              <a:buNone/>
            </a:pPr>
            <a:r>
              <a:rPr lang="en-US" sz="900" b="1" dirty="0">
                <a:solidFill>
                  <a:srgbClr val="101828"/>
                </a:solidFill>
              </a:rPr>
              <a:t>Approve MVP scope, sprint plan and governance cadence.</a:t>
            </a:r>
            <a:endParaRPr lang="en-US" sz="900" dirty="0"/>
          </a:p>
        </p:txBody>
      </p:sp>
      <p:sp>
        <p:nvSpPr>
          <p:cNvPr id="14" name="Text 12"/>
          <p:cNvSpPr/>
          <p:nvPr/>
        </p:nvSpPr>
        <p:spPr>
          <a:xfrm>
            <a:off x="960120" y="4754880"/>
            <a:ext cx="10058400" cy="502920"/>
          </a:xfrm>
          <a:prstGeom prst="rect">
            <a:avLst/>
          </a:prstGeom>
          <a:noFill/>
          <a:ln/>
        </p:spPr>
        <p:txBody>
          <a:bodyPr wrap="square" lIns="0" tIns="0" rIns="0" bIns="0" rtlCol="0" anchor="ctr">
            <a:normAutofit/>
          </a:bodyPr>
          <a:lstStyle/>
          <a:p>
            <a:pPr algn="ctr" indent="0" marL="0">
              <a:buNone/>
            </a:pPr>
            <a:r>
              <a:rPr lang="en-US" sz="1500" b="1" dirty="0">
                <a:solidFill>
                  <a:srgbClr val="0B0A2A"/>
                </a:solidFill>
              </a:rPr>
              <a:t>Outcome: a transparent, configurable and audit-ready beneficiary integrity system that protects public funds while protecting eligible beneficiaries from accidental exclusion.</a:t>
            </a:r>
            <a:endParaRPr lang="en-US" sz="15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val="0"/>
            </a:ext>
          </a:extLst>
        </p:spPr>
        <p:txBody>
          <a:bodyPr/>
          <a:lstStyle>
            <a:lvl1pPr>
              <a:defRPr sz="680">
                <a:solidFill>
                  <a:srgbClr val="667085"/>
                </a:solidFil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Truflux / Consulting Draft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Karnataka Gruhalakshmi Beneficiary Integrity Platform</dc:title>
  <dc:subject>Karnataka Gruhalakshmi Beneficiary Integrity and Life-Proof Platform</dc:subject>
  <dc:creator>OpenAI</dc:creator>
  <cp:lastModifiedBy>OpenAI</cp:lastModifiedBy>
  <cp:revision>1</cp:revision>
  <dcterms:created xsi:type="dcterms:W3CDTF">2026-06-15T14:18:12Z</dcterms:created>
  <dcterms:modified xsi:type="dcterms:W3CDTF">2026-06-15T14:18:12Z</dcterms:modified>
</cp:coreProperties>
</file>