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10"/>
  </p:normalViewPr>
  <p:slideViewPr>
    <p:cSldViewPr snapToGrid="0" snapToObjects="1">
      <p:cViewPr>
        <p:scale>
          <a:sx n="145" d="100"/>
          <a:sy n="14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227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SULT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0A2A"/>
          </a:solidFill>
          <a:ln w="12700">
            <a:solidFill>
              <a:srgbClr val="0B0A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67085"/>
                </a:solidFill>
              </a:rPr>
              <a:t>Karnataka Gruhalakshmi Beneficiary Integrity &amp; Life-Proof Platform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10378440" y="647395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67085"/>
                </a:solidFill>
              </a:rPr>
              <a:t>Draft | June 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" y="1403853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5EEF"/>
                </a:solidFill>
              </a:rPr>
              <a:t>Karnataka Gruhalakshmi Scheme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1683870"/>
            <a:ext cx="7818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0A2A"/>
                </a:solidFill>
              </a:rPr>
              <a:t>Beneficiary Integrity &amp; Life-Proof Platform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02700" y="2354580"/>
            <a:ext cx="570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Detailed project report presentation | Household de-duplication | Configurable retention | Periodic life-proof | DBT continuity controls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464040" y="502920"/>
            <a:ext cx="2331720" cy="2606040"/>
          </a:xfrm>
          <a:prstGeom prst="arc">
            <a:avLst/>
          </a:prstGeom>
          <a:noFill/>
          <a:ln w="139700">
            <a:solidFill>
              <a:srgbClr val="F5B30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802368" y="960120"/>
            <a:ext cx="1719072" cy="1920240"/>
          </a:xfrm>
          <a:prstGeom prst="arc">
            <a:avLst/>
          </a:prstGeom>
          <a:noFill/>
          <a:ln w="114300">
            <a:solidFill>
              <a:srgbClr val="155EE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104120" y="1298448"/>
            <a:ext cx="1097280" cy="1261872"/>
          </a:xfrm>
          <a:prstGeom prst="arc">
            <a:avLst/>
          </a:prstGeom>
          <a:noFill/>
          <a:ln w="88900">
            <a:solidFill>
              <a:srgbClr val="0E7C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24688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13232" y="3959352"/>
            <a:ext cx="232257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</a:rPr>
              <a:t>For review and scope 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</a:rPr>
              <a:t>Commercials excluded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3886200"/>
            <a:ext cx="24688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02152" y="3959352"/>
            <a:ext cx="232257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</a:rPr>
              <a:t>Service-centre + mobile/web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</a:rPr>
              <a:t>registration model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24688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91072" y="3959352"/>
            <a:ext cx="232257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</a:rPr>
              <a:t>Audit-ready decisioning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</a:rPr>
              <a:t>and grievance path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5715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</a:rPr>
              <a:t>15 June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5B6A57-6C0A-CC06-2A76-9E3040215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60" y="-136329"/>
            <a:ext cx="2140239" cy="2140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renewal platform is needed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The scheme is large enough that small data-quality gaps create material fiscal and trust risk.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55EEF"/>
                </a:solidFill>
              </a:rPr>
              <a:t>₹2,000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1828"/>
                </a:solidFill>
              </a:rPr>
              <a:t>Monthly assistance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685800" y="22037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667085"/>
                </a:solidFill>
              </a:rPr>
              <a:t>DBT to registered eligible beneficiary</a:t>
            </a:r>
            <a:endParaRPr lang="en-US" sz="660" dirty="0"/>
          </a:p>
        </p:txBody>
      </p:sp>
      <p:sp>
        <p:nvSpPr>
          <p:cNvPr id="8" name="Shape 6"/>
          <p:cNvSpPr/>
          <p:nvPr/>
        </p:nvSpPr>
        <p:spPr>
          <a:xfrm>
            <a:off x="3127248" y="132588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64408" y="1463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0A2A"/>
                </a:solidFill>
              </a:rPr>
              <a:t>₹28,608 cr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264408" y="18928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1828"/>
                </a:solidFill>
              </a:rPr>
              <a:t>2026-27 budget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3264408" y="22037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667085"/>
                </a:solidFill>
              </a:rPr>
              <a:t>Allocated towards Gruha Lakshmi</a:t>
            </a:r>
            <a:endParaRPr lang="en-US" sz="660" dirty="0"/>
          </a:p>
        </p:txBody>
      </p:sp>
      <p:sp>
        <p:nvSpPr>
          <p:cNvPr id="12" name="Shape 10"/>
          <p:cNvSpPr/>
          <p:nvPr/>
        </p:nvSpPr>
        <p:spPr>
          <a:xfrm>
            <a:off x="5705856" y="132588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43016" y="1463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7C55"/>
                </a:solidFill>
              </a:rPr>
              <a:t>~1.2 cr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843016" y="18928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1828"/>
                </a:solidFill>
              </a:rPr>
              <a:t>Current scale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5843016" y="22037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667085"/>
                </a:solidFill>
              </a:rPr>
              <a:t>Registered beneficiaries reported</a:t>
            </a:r>
            <a:endParaRPr lang="en-US" sz="660" dirty="0"/>
          </a:p>
        </p:txBody>
      </p:sp>
      <p:sp>
        <p:nvSpPr>
          <p:cNvPr id="16" name="Shape 14"/>
          <p:cNvSpPr/>
          <p:nvPr/>
        </p:nvSpPr>
        <p:spPr>
          <a:xfrm>
            <a:off x="8284464" y="132588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21624" y="1463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B42318"/>
                </a:solidFill>
              </a:rPr>
              <a:t>₹6.5 cr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421624" y="18928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1828"/>
                </a:solidFill>
              </a:rPr>
              <a:t>Integrity signal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8421624" y="22037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667085"/>
                </a:solidFill>
              </a:rPr>
              <a:t>Recovered from deceased cases in one district</a:t>
            </a:r>
            <a:endParaRPr lang="en-US" sz="660" dirty="0"/>
          </a:p>
        </p:txBody>
      </p:sp>
      <p:sp>
        <p:nvSpPr>
          <p:cNvPr id="20" name="Shape 18"/>
          <p:cNvSpPr/>
          <p:nvPr/>
        </p:nvSpPr>
        <p:spPr>
          <a:xfrm>
            <a:off x="914400" y="3246120"/>
            <a:ext cx="1024128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3232" y="3703320"/>
            <a:ext cx="2240280" cy="804672"/>
          </a:xfrm>
          <a:prstGeom prst="roundRect">
            <a:avLst>
              <a:gd name="adj" fmla="val 4545"/>
            </a:avLst>
          </a:prstGeom>
          <a:solidFill>
            <a:srgbClr val="FFF1F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86384" y="3776472"/>
            <a:ext cx="20939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</a:rPr>
              <a:t>Duplicate household claims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02152" y="3703320"/>
            <a:ext cx="2240280" cy="804672"/>
          </a:xfrm>
          <a:prstGeom prst="roundRect">
            <a:avLst>
              <a:gd name="adj" fmla="val 4545"/>
            </a:avLst>
          </a:prstGeom>
          <a:solidFill>
            <a:srgbClr val="FEE4E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575304" y="3776472"/>
            <a:ext cx="20939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</a:rPr>
              <a:t>Deceased / inactive beneficiaries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91072" y="3703320"/>
            <a:ext cx="2240280" cy="804672"/>
          </a:xfrm>
          <a:prstGeom prst="roundRect">
            <a:avLst>
              <a:gd name="adj" fmla="val 4545"/>
            </a:avLst>
          </a:prstGeom>
          <a:solidFill>
            <a:srgbClr val="FFFAE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3776472"/>
            <a:ext cx="20939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</a:rPr>
              <a:t>Address and identity mismatch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79992" y="3703320"/>
            <a:ext cx="2240280" cy="804672"/>
          </a:xfrm>
          <a:prstGeom prst="roundRect">
            <a:avLst>
              <a:gd name="adj" fmla="val 4545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153144" y="3776472"/>
            <a:ext cx="20939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</a:rPr>
              <a:t>Low visibility on appeals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6144768"/>
            <a:ext cx="11018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67085"/>
                </a:solidFill>
              </a:rPr>
              <a:t>Sources: GoK WCD scheme page; PRS Budget Analysis 2026-27; Indian Express and Times of India reporting, June 2026.</a:t>
            </a:r>
            <a:endParaRPr lang="en-US" sz="73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18B7AAF-5494-25CF-AB5D-296A77892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 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A transparent beneficiary integrity platform, not merely a deactivation engine.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475488" cy="475488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45389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43000" y="1563624"/>
            <a:ext cx="146304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29768" y="2011680"/>
            <a:ext cx="169164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154533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01828"/>
                </a:solidFill>
              </a:rPr>
              <a:t>Fresh registration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01828"/>
                </a:solidFill>
              </a:rPr>
              <a:t>Aadhaar as ID/address anchor, optional proofs, mobile OTP login.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852928" y="1325880"/>
            <a:ext cx="475488" cy="475488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52928" y="145389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01568" y="1563624"/>
            <a:ext cx="146304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688336" y="2011680"/>
            <a:ext cx="169164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61488" y="2084832"/>
            <a:ext cx="154533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01828"/>
                </a:solidFill>
              </a:rPr>
              <a:t>Household clustering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01828"/>
                </a:solidFill>
              </a:rPr>
              <a:t>Address normalisation, ration card linkage and confidence scoring.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111496" y="1325880"/>
            <a:ext cx="475488" cy="475488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11496" y="145389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0136" y="1563624"/>
            <a:ext cx="146304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946904" y="2011680"/>
            <a:ext cx="169164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0056" y="2084832"/>
            <a:ext cx="154533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01828"/>
                </a:solidFill>
              </a:rPr>
              <a:t>Retention decision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01828"/>
                </a:solidFill>
              </a:rPr>
              <a:t>Configurable criteria: oldest, youngest, ration-card head or exception.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370064" y="1325880"/>
            <a:ext cx="475488" cy="475488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70064" y="145389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18704" y="1563624"/>
            <a:ext cx="146304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205472" y="2011680"/>
            <a:ext cx="169164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278624" y="2084832"/>
            <a:ext cx="154533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01828"/>
                </a:solidFill>
              </a:rPr>
              <a:t>Life-proof cycle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01828"/>
                </a:solidFill>
              </a:rPr>
              <a:t>Periodic verification every 2 months or configurable interval.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9628632" y="1325880"/>
            <a:ext cx="475488" cy="475488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28632" y="145389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464040" y="2011680"/>
            <a:ext cx="169164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537192" y="2084832"/>
            <a:ext cx="154533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01828"/>
                </a:solidFill>
              </a:rPr>
              <a:t>DBT control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01828"/>
                </a:solidFill>
              </a:rPr>
              <a:t>Active / inactive status shared with DBT and audit dashboard.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777240" y="4343400"/>
            <a:ext cx="1600200" cy="246888"/>
          </a:xfrm>
          <a:prstGeom prst="rect">
            <a:avLst/>
          </a:prstGeom>
          <a:solidFill>
            <a:srgbClr val="0B0A2A"/>
          </a:solidFill>
          <a:ln>
            <a:solidFill>
              <a:srgbClr val="0B0A2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 silent cancellation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4343400"/>
            <a:ext cx="1600200" cy="246888"/>
          </a:xfrm>
          <a:prstGeom prst="rect">
            <a:avLst/>
          </a:prstGeom>
          <a:solidFill>
            <a:srgbClr val="0E7C55"/>
          </a:solidFill>
          <a:ln>
            <a:solidFill>
              <a:srgbClr val="0E7C5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Notice + appeal path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4920" y="4343400"/>
            <a:ext cx="1600200" cy="246888"/>
          </a:xfrm>
          <a:prstGeom prst="rect">
            <a:avLst/>
          </a:prstGeom>
          <a:solidFill>
            <a:srgbClr val="7A5AF8"/>
          </a:solidFill>
          <a:ln>
            <a:solidFill>
              <a:srgbClr val="7A5AF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Assisted channels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23760" y="4343400"/>
            <a:ext cx="1600200" cy="246888"/>
          </a:xfrm>
          <a:prstGeom prst="rect">
            <a:avLst/>
          </a:prstGeom>
          <a:solidFill>
            <a:srgbClr val="F5B301"/>
          </a:solidFill>
          <a:ln>
            <a:solidFill>
              <a:srgbClr val="F5B30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Audit-ready reasons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372600" y="4343400"/>
            <a:ext cx="1600200" cy="246888"/>
          </a:xfrm>
          <a:prstGeom prst="rect">
            <a:avLst/>
          </a:prstGeom>
          <a:solidFill>
            <a:srgbClr val="155EEF"/>
          </a:solidFill>
          <a:ln>
            <a:solidFill>
              <a:srgbClr val="155EE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Bilingual + accessible</a:t>
            </a:r>
            <a:endParaRPr lang="en-US" sz="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9E70B69-6747-19AB-E79F-333BFFD53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operating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Five operating layers convert policy into controlled, citizen-friendly execution.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38988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Beneficiary access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3429000" y="1216152"/>
            <a:ext cx="694944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502152" y="1289304"/>
            <a:ext cx="68031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</a:rPr>
              <a:t>OTP login, registration, life-proof, status, appeal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63240" y="1490472"/>
            <a:ext cx="36576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0E7C55"/>
          </a:solidFill>
          <a:ln w="12700">
            <a:solidFill>
              <a:srgbClr val="0E7C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221284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Assisted front office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3429000" y="2039112"/>
            <a:ext cx="694944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02152" y="2112264"/>
            <a:ext cx="68031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</a:rPr>
              <a:t>Service centre enrolment, scanning, biometric capture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63240" y="2313432"/>
            <a:ext cx="36576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303580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Decision workflow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3429000" y="2862072"/>
            <a:ext cx="694944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502152" y="2935224"/>
            <a:ext cx="68031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</a:rPr>
              <a:t>Address match, rule engine, notices, approvals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63240" y="3136392"/>
            <a:ext cx="36576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703320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F5B301"/>
          </a:solidFill>
          <a:ln w="12700">
            <a:solidFill>
              <a:srgbClr val="F5B3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8680" y="385876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Support operations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3429000" y="3685032"/>
            <a:ext cx="694944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02152" y="3758184"/>
            <a:ext cx="68031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</a:rPr>
              <a:t>Call centre, grievance, escalation and SLA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63240" y="3959352"/>
            <a:ext cx="36576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31520" y="4526280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0B0A2A"/>
          </a:solidFill>
          <a:ln w="12700">
            <a:solidFill>
              <a:srgbClr val="0B0A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8680" y="468172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Governance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3429000" y="4507992"/>
            <a:ext cx="694944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502152" y="4581144"/>
            <a:ext cx="68031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</a:rPr>
              <a:t>Dashboards, audit, DBT reconciliation, policy tuning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63240" y="4782312"/>
            <a:ext cx="36576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DCE4073-0AA1-7F35-A4E9-DC61AA44E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flow: registration and household consolidation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The process is designed to make a decision explainable, configurable and appealable.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38912" y="1508760"/>
            <a:ext cx="1243584" cy="713232"/>
          </a:xfrm>
          <a:prstGeom prst="roundRect">
            <a:avLst>
              <a:gd name="adj" fmla="val 5128"/>
            </a:avLst>
          </a:prstGeom>
          <a:solidFill>
            <a:srgbClr val="E0F2FE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12064" y="1581912"/>
            <a:ext cx="1097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Login /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assisted start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1682496" y="1865376"/>
            <a:ext cx="384048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103120" y="1508760"/>
            <a:ext cx="1243584" cy="713232"/>
          </a:xfrm>
          <a:prstGeom prst="roundRect">
            <a:avLst>
              <a:gd name="adj" fmla="val 5128"/>
            </a:avLst>
          </a:prstGeom>
          <a:solidFill>
            <a:srgbClr val="EEF4F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76272" y="1581912"/>
            <a:ext cx="1097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Consent +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Aadhaar auth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346704" y="1865376"/>
            <a:ext cx="384048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67328" y="1508760"/>
            <a:ext cx="1243584" cy="713232"/>
          </a:xfrm>
          <a:prstGeom prst="roundRect">
            <a:avLst>
              <a:gd name="adj" fmla="val 5128"/>
            </a:avLst>
          </a:prstGeom>
          <a:solidFill>
            <a:srgbClr val="ECFDF3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40480" y="1581912"/>
            <a:ext cx="1097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Proof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capture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010912" y="1865376"/>
            <a:ext cx="384048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31536" y="1508760"/>
            <a:ext cx="1243584" cy="713232"/>
          </a:xfrm>
          <a:prstGeom prst="roundRect">
            <a:avLst>
              <a:gd name="adj" fmla="val 5128"/>
            </a:avLst>
          </a:prstGeom>
          <a:solidFill>
            <a:srgbClr val="FFFAEB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04688" y="1581912"/>
            <a:ext cx="1097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Address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normalise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6675120" y="1865376"/>
            <a:ext cx="384048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095744" y="1508760"/>
            <a:ext cx="1243584" cy="713232"/>
          </a:xfrm>
          <a:prstGeom prst="roundRect">
            <a:avLst>
              <a:gd name="adj" fmla="val 5128"/>
            </a:avLst>
          </a:prstGeom>
          <a:solidFill>
            <a:srgbClr val="F9F5F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68896" y="1581912"/>
            <a:ext cx="1097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Household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cluster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8339328" y="1865376"/>
            <a:ext cx="384048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759952" y="1508760"/>
            <a:ext cx="1243584" cy="713232"/>
          </a:xfrm>
          <a:prstGeom prst="roundRect">
            <a:avLst>
              <a:gd name="adj" fmla="val 5128"/>
            </a:avLst>
          </a:prstGeom>
          <a:solidFill>
            <a:srgbClr val="FFF1F3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833104" y="1581912"/>
            <a:ext cx="1097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Retention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rule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10003536" y="1865376"/>
            <a:ext cx="384048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424160" y="1508760"/>
            <a:ext cx="1243584" cy="713232"/>
          </a:xfrm>
          <a:prstGeom prst="roundRect">
            <a:avLst>
              <a:gd name="adj" fmla="val 5128"/>
            </a:avLst>
          </a:prstGeom>
          <a:solidFill>
            <a:srgbClr val="EAF7F0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497312" y="1581912"/>
            <a:ext cx="1097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Notice +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status update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1005840" y="2999232"/>
            <a:ext cx="21945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78992" y="3072384"/>
            <a:ext cx="204825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01828"/>
                </a:solidFill>
              </a:rPr>
              <a:t>Self-service channels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101828"/>
                </a:solidFill>
              </a:rPr>
              <a:t>Mobile app + web portal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101828"/>
                </a:solidFill>
              </a:rPr>
              <a:t>Mobile OTP as password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3657600" y="2999232"/>
            <a:ext cx="21945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730752" y="3072384"/>
            <a:ext cx="204825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01828"/>
                </a:solidFill>
              </a:rPr>
              <a:t>Assisted channels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101828"/>
                </a:solidFill>
              </a:rPr>
              <a:t>Bangalore One, Karnataka One,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101828"/>
                </a:solidFill>
              </a:rPr>
              <a:t>Grama One, Panchayat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309360" y="2999232"/>
            <a:ext cx="21945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82512" y="3072384"/>
            <a:ext cx="204825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01828"/>
                </a:solidFill>
              </a:rPr>
              <a:t>Decision controls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101828"/>
                </a:solidFill>
              </a:rPr>
              <a:t>Confidence thresholds, reason codes,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101828"/>
                </a:solidFill>
              </a:rPr>
              <a:t>manual review queue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961120" y="2999232"/>
            <a:ext cx="21945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034272" y="3072384"/>
            <a:ext cx="204825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01828"/>
                </a:solidFill>
              </a:rPr>
              <a:t>Citizen safeguards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101828"/>
                </a:solidFill>
              </a:rPr>
              <a:t>Notice, grace, appeal,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101828"/>
                </a:solidFill>
              </a:rPr>
              <a:t>call centre support</a:t>
            </a:r>
            <a:endParaRPr lang="en-US" sz="9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BA78588-F830-BE20-7362-776006238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Address matching and configurable retention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Matching should use confidence scoring, not exact string matching alone.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07592"/>
            <a:ext cx="177393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Aadhaar address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177393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Ration card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658368" y="242316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496312"/>
            <a:ext cx="177393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Optional address proofs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658368" y="301752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090672"/>
            <a:ext cx="177393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Mobile number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58368" y="361188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3685032"/>
            <a:ext cx="177393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Service-centre metadata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3703320" y="1325880"/>
            <a:ext cx="2011680" cy="1005840"/>
          </a:xfrm>
          <a:prstGeom prst="roundRect">
            <a:avLst>
              <a:gd name="adj" fmla="val 3636"/>
            </a:avLst>
          </a:prstGeom>
          <a:solidFill>
            <a:srgbClr val="E0F2FE"/>
          </a:solidFill>
          <a:ln w="12700">
            <a:solidFill>
              <a:srgbClr val="155EE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76472" y="1399032"/>
            <a:ext cx="186537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8"/>
                </a:solidFill>
              </a:rPr>
              <a:t>Address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1828"/>
                </a:solidFill>
              </a:rPr>
              <a:t>standardisation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1828"/>
                </a:solidFill>
              </a:rPr>
              <a:t>engine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325880"/>
            <a:ext cx="2011680" cy="1005840"/>
          </a:xfrm>
          <a:prstGeom prst="roundRect">
            <a:avLst>
              <a:gd name="adj" fmla="val 3636"/>
            </a:avLst>
          </a:prstGeom>
          <a:solidFill>
            <a:srgbClr val="FFFAEB"/>
          </a:solidFill>
          <a:ln w="12700">
            <a:solidFill>
              <a:srgbClr val="F5B301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28232" y="1399032"/>
            <a:ext cx="186537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8"/>
                </a:solidFill>
              </a:rPr>
              <a:t>Household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1828"/>
                </a:solidFill>
              </a:rPr>
              <a:t>cluster &amp; 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06840" y="1325880"/>
            <a:ext cx="2011680" cy="1005840"/>
          </a:xfrm>
          <a:prstGeom prst="roundRect">
            <a:avLst>
              <a:gd name="adj" fmla="val 3636"/>
            </a:avLst>
          </a:prstGeom>
          <a:solidFill>
            <a:srgbClr val="ECFDF3"/>
          </a:solidFill>
          <a:ln w="12700">
            <a:solidFill>
              <a:srgbClr val="0E7C55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079992" y="1399032"/>
            <a:ext cx="186537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8"/>
                </a:solidFill>
              </a:rPr>
              <a:t>Policy rule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1828"/>
                </a:solidFill>
              </a:rPr>
              <a:t>engine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87752" y="1426464"/>
            <a:ext cx="1115568" cy="402336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587752" y="2020824"/>
            <a:ext cx="1115568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87752" y="2615184"/>
            <a:ext cx="1115568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587752" y="3209544"/>
            <a:ext cx="1115568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587752" y="3803904"/>
            <a:ext cx="1115568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715000" y="1828800"/>
            <a:ext cx="64008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366760" y="1828800"/>
            <a:ext cx="64008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14400" y="4297680"/>
            <a:ext cx="1600200" cy="246888"/>
          </a:xfrm>
          <a:prstGeom prst="rect">
            <a:avLst/>
          </a:prstGeom>
          <a:solidFill>
            <a:srgbClr val="155EEF"/>
          </a:solidFill>
          <a:ln>
            <a:solidFill>
              <a:srgbClr val="155EE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Oldest member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90672" y="4297680"/>
            <a:ext cx="1600200" cy="246888"/>
          </a:xfrm>
          <a:prstGeom prst="rect">
            <a:avLst/>
          </a:prstGeom>
          <a:solidFill>
            <a:srgbClr val="7A5AF8"/>
          </a:solidFill>
          <a:ln>
            <a:solidFill>
              <a:srgbClr val="7A5AF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Youngest member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66944" y="4297680"/>
            <a:ext cx="1600200" cy="246888"/>
          </a:xfrm>
          <a:prstGeom prst="rect">
            <a:avLst/>
          </a:prstGeom>
          <a:solidFill>
            <a:srgbClr val="0E7C55"/>
          </a:solidFill>
          <a:ln>
            <a:solidFill>
              <a:srgbClr val="0E7C5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Ration-card head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43216" y="4297680"/>
            <a:ext cx="1600200" cy="246888"/>
          </a:xfrm>
          <a:prstGeom prst="rect">
            <a:avLst/>
          </a:prstGeom>
          <a:solidFill>
            <a:srgbClr val="F5B301"/>
          </a:solidFill>
          <a:ln>
            <a:solidFill>
              <a:srgbClr val="F5B30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Senior-most living woman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19488" y="4297680"/>
            <a:ext cx="1600200" cy="246888"/>
          </a:xfrm>
          <a:prstGeom prst="rect">
            <a:avLst/>
          </a:prstGeom>
          <a:solidFill>
            <a:srgbClr val="B42318"/>
          </a:solidFill>
          <a:ln>
            <a:solidFill>
              <a:srgbClr val="B4231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Manual exception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1480" y="6144768"/>
            <a:ext cx="11018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67085"/>
                </a:solidFill>
              </a:rPr>
              <a:t>Recommended: automatic decisions only for high-confidence clusters; lower-confidence matches go to manual review before DBT impact.</a:t>
            </a:r>
            <a:endParaRPr lang="en-US" sz="73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809BBD8-EE4A-5165-B8E8-DE3248AB9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Life-proof cycle and DBT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Periodic re-verification confirms that the retained beneficiary remains alive and eligible.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43000" cy="777240"/>
          </a:xfrm>
          <a:prstGeom prst="roundRect">
            <a:avLst>
              <a:gd name="adj" fmla="val 4706"/>
            </a:avLst>
          </a:prstGeom>
          <a:solidFill>
            <a:srgbClr val="E0F2FE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76072" y="1673352"/>
            <a:ext cx="9966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Cycle starts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2 months / configurable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1645920" y="1993392"/>
            <a:ext cx="4114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103120" y="1600200"/>
            <a:ext cx="1143000" cy="777240"/>
          </a:xfrm>
          <a:prstGeom prst="roundRect">
            <a:avLst>
              <a:gd name="adj" fmla="val 4706"/>
            </a:avLst>
          </a:prstGeom>
          <a:solidFill>
            <a:srgbClr val="EEF4F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76272" y="1673352"/>
            <a:ext cx="9966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Reminder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SMS + IVR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246120" y="1993392"/>
            <a:ext cx="4114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03320" y="1600200"/>
            <a:ext cx="1143000" cy="777240"/>
          </a:xfrm>
          <a:prstGeom prst="roundRect">
            <a:avLst>
              <a:gd name="adj" fmla="val 4706"/>
            </a:avLst>
          </a:prstGeom>
          <a:solidFill>
            <a:srgbClr val="ECFDF3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76472" y="1673352"/>
            <a:ext cx="9966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Face / biometric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life-proof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846320" y="1993392"/>
            <a:ext cx="4114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303520" y="1600200"/>
            <a:ext cx="1143000" cy="777240"/>
          </a:xfrm>
          <a:prstGeom prst="roundRect">
            <a:avLst>
              <a:gd name="adj" fmla="val 4706"/>
            </a:avLst>
          </a:prstGeom>
          <a:solidFill>
            <a:srgbClr val="FFFAEB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76672" y="1673352"/>
            <a:ext cx="9966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Success?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446520" y="1993392"/>
            <a:ext cx="4114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903720" y="1600200"/>
            <a:ext cx="1143000" cy="777240"/>
          </a:xfrm>
          <a:prstGeom prst="roundRect">
            <a:avLst>
              <a:gd name="adj" fmla="val 4706"/>
            </a:avLst>
          </a:prstGeom>
          <a:solidFill>
            <a:srgbClr val="EAF7F0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76872" y="1673352"/>
            <a:ext cx="9966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Active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DBT continues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8046720" y="1993392"/>
            <a:ext cx="4114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503920" y="1600200"/>
            <a:ext cx="1143000" cy="777240"/>
          </a:xfrm>
          <a:prstGeom prst="roundRect">
            <a:avLst>
              <a:gd name="adj" fmla="val 4706"/>
            </a:avLst>
          </a:prstGeom>
          <a:solidFill>
            <a:srgbClr val="FFF1F3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577072" y="1673352"/>
            <a:ext cx="9966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Grace + support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call centre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9646920" y="1993392"/>
            <a:ext cx="4114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104120" y="1600200"/>
            <a:ext cx="1143000" cy="777240"/>
          </a:xfrm>
          <a:prstGeom prst="roundRect">
            <a:avLst>
              <a:gd name="adj" fmla="val 4706"/>
            </a:avLst>
          </a:prstGeom>
          <a:solidFill>
            <a:srgbClr val="FEE4E2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177272" y="1673352"/>
            <a:ext cx="9966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Inactive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DBT cancelled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8580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0A2A"/>
                </a:solidFill>
              </a:rPr>
              <a:t>Design safeguards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3703320"/>
            <a:ext cx="2286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50392" y="3776472"/>
            <a:ext cx="21396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1828"/>
                </a:solidFill>
              </a:rPr>
              <a:t>No raw biometric storage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520440" y="3703320"/>
            <a:ext cx="2286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593592" y="3776472"/>
            <a:ext cx="21396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1828"/>
                </a:solidFill>
              </a:rPr>
              <a:t>Grace period before inactive status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263640" y="3703320"/>
            <a:ext cx="2286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36792" y="3776472"/>
            <a:ext cx="21396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1828"/>
                </a:solidFill>
              </a:rPr>
              <a:t>Alternate route for biometric failure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06840" y="3703320"/>
            <a:ext cx="2286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079992" y="3776472"/>
            <a:ext cx="21396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1828"/>
                </a:solidFill>
              </a:rPr>
              <a:t>Reason codes and appeal path</a:t>
            </a:r>
            <a:endParaRPr lang="en-US" sz="9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9E6D483-552B-F2FB-71EA-100CF4BCC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Mock-up screens: beneficiary experience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Designed for mobile-first, Kannada/English, high-contrast and assisted self-service.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920240" cy="4206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344054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86384" y="1298448"/>
            <a:ext cx="1719072" cy="393192"/>
          </a:xfrm>
          <a:prstGeom prst="rect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32104" y="137160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Login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850392" y="1856232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41832" y="1924812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Mobile number</a:t>
            </a:r>
            <a:endParaRPr lang="en-US" sz="640" dirty="0"/>
          </a:p>
        </p:txBody>
      </p:sp>
      <p:sp>
        <p:nvSpPr>
          <p:cNvPr id="9" name="Shape 7"/>
          <p:cNvSpPr/>
          <p:nvPr/>
        </p:nvSpPr>
        <p:spPr>
          <a:xfrm>
            <a:off x="850392" y="2258568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41832" y="2327148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OTP password</a:t>
            </a:r>
            <a:endParaRPr lang="en-US" sz="640" dirty="0"/>
          </a:p>
        </p:txBody>
      </p:sp>
      <p:sp>
        <p:nvSpPr>
          <p:cNvPr id="11" name="Shape 9"/>
          <p:cNvSpPr/>
          <p:nvPr/>
        </p:nvSpPr>
        <p:spPr>
          <a:xfrm>
            <a:off x="850392" y="2660904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41832" y="2729484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Language: Kannada/English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850392" y="3063240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41832" y="3131820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Consent notice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1097280" y="4818888"/>
            <a:ext cx="1097280" cy="310896"/>
          </a:xfrm>
          <a:prstGeom prst="roundRect">
            <a:avLst>
              <a:gd name="adj" fmla="val 11765"/>
            </a:avLst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80" y="49011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Continue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017520" y="1143000"/>
            <a:ext cx="1920240" cy="4206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344054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118104" y="1298448"/>
            <a:ext cx="1719072" cy="393192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163824" y="137160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Register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3182112" y="1856232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73552" y="1924812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Aadhaar reference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3182112" y="2258568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73552" y="2327148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Ration card upload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3182112" y="2660904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73552" y="2729484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Optional proofs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3182112" y="3063240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73552" y="3131820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Submit</a:t>
            </a:r>
            <a:endParaRPr lang="en-US" sz="640" dirty="0"/>
          </a:p>
        </p:txBody>
      </p:sp>
      <p:sp>
        <p:nvSpPr>
          <p:cNvPr id="28" name="Shape 26"/>
          <p:cNvSpPr/>
          <p:nvPr/>
        </p:nvSpPr>
        <p:spPr>
          <a:xfrm>
            <a:off x="3429000" y="4818888"/>
            <a:ext cx="1097280" cy="310896"/>
          </a:xfrm>
          <a:prstGeom prst="roundRect">
            <a:avLst>
              <a:gd name="adj" fmla="val 11765"/>
            </a:avLst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29000" y="49011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Continue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349240" y="1143000"/>
            <a:ext cx="1920240" cy="4206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344054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449824" y="1298448"/>
            <a:ext cx="1719072" cy="393192"/>
          </a:xfrm>
          <a:prstGeom prst="rect">
            <a:avLst/>
          </a:prstGeom>
          <a:solidFill>
            <a:srgbClr val="0E7C55"/>
          </a:solidFill>
          <a:ln w="12700">
            <a:solidFill>
              <a:srgbClr val="0E7C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95544" y="137160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Life Proof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513832" y="1856232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605272" y="1924812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Due date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5513832" y="2258568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605272" y="2327148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Face/biometric check</a:t>
            </a:r>
            <a:endParaRPr lang="en-US" sz="640" dirty="0"/>
          </a:p>
        </p:txBody>
      </p:sp>
      <p:sp>
        <p:nvSpPr>
          <p:cNvPr id="37" name="Shape 35"/>
          <p:cNvSpPr/>
          <p:nvPr/>
        </p:nvSpPr>
        <p:spPr>
          <a:xfrm>
            <a:off x="5513832" y="2660904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605272" y="2729484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Liveness result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5513832" y="3063240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605272" y="3131820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Success message</a:t>
            </a:r>
            <a:endParaRPr lang="en-US" sz="640" dirty="0"/>
          </a:p>
        </p:txBody>
      </p:sp>
      <p:sp>
        <p:nvSpPr>
          <p:cNvPr id="41" name="Shape 39"/>
          <p:cNvSpPr/>
          <p:nvPr/>
        </p:nvSpPr>
        <p:spPr>
          <a:xfrm>
            <a:off x="5760720" y="4818888"/>
            <a:ext cx="1097280" cy="310896"/>
          </a:xfrm>
          <a:prstGeom prst="roundRect">
            <a:avLst>
              <a:gd name="adj" fmla="val 11765"/>
            </a:avLst>
          </a:prstGeom>
          <a:solidFill>
            <a:srgbClr val="0E7C55"/>
          </a:solidFill>
          <a:ln w="12700">
            <a:solidFill>
              <a:srgbClr val="0E7C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760720" y="49011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Continue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680960" y="1143000"/>
            <a:ext cx="1920240" cy="4206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344054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781544" y="1298448"/>
            <a:ext cx="1719072" cy="393192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827264" y="137160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Status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7845552" y="1856232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936992" y="1924812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Active / Pending / Inactive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7845552" y="2258568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936992" y="2327148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Reason code</a:t>
            </a:r>
            <a:endParaRPr lang="en-US" sz="640" dirty="0"/>
          </a:p>
        </p:txBody>
      </p:sp>
      <p:sp>
        <p:nvSpPr>
          <p:cNvPr id="50" name="Shape 48"/>
          <p:cNvSpPr/>
          <p:nvPr/>
        </p:nvSpPr>
        <p:spPr>
          <a:xfrm>
            <a:off x="7845552" y="2660904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936992" y="2729484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Appeal button</a:t>
            </a:r>
            <a:endParaRPr lang="en-US" sz="640" dirty="0"/>
          </a:p>
        </p:txBody>
      </p:sp>
      <p:sp>
        <p:nvSpPr>
          <p:cNvPr id="52" name="Shape 50"/>
          <p:cNvSpPr/>
          <p:nvPr/>
        </p:nvSpPr>
        <p:spPr>
          <a:xfrm>
            <a:off x="7845552" y="3063240"/>
            <a:ext cx="159105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936992" y="3131820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Call centre help</a:t>
            </a:r>
            <a:endParaRPr lang="en-US" sz="640" dirty="0"/>
          </a:p>
        </p:txBody>
      </p:sp>
      <p:sp>
        <p:nvSpPr>
          <p:cNvPr id="54" name="Shape 52"/>
          <p:cNvSpPr/>
          <p:nvPr/>
        </p:nvSpPr>
        <p:spPr>
          <a:xfrm>
            <a:off x="8092440" y="4818888"/>
            <a:ext cx="1097280" cy="310896"/>
          </a:xfrm>
          <a:prstGeom prst="roundRect">
            <a:avLst>
              <a:gd name="adj" fmla="val 11765"/>
            </a:avLst>
          </a:prstGeom>
          <a:solidFill>
            <a:srgbClr val="F5B301"/>
          </a:solidFill>
          <a:ln w="12700">
            <a:solidFill>
              <a:srgbClr val="F5B3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092440" y="49011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Continue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0012680" y="1143000"/>
            <a:ext cx="1600200" cy="420624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3970">
            <a:solidFill>
              <a:srgbClr val="344054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10113264" y="1298448"/>
            <a:ext cx="1399032" cy="39319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10158984" y="137160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Appeal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10177272" y="1856232"/>
            <a:ext cx="127101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10268712" y="192481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Issue type</a:t>
            </a:r>
            <a:endParaRPr lang="en-US" sz="640" dirty="0"/>
          </a:p>
        </p:txBody>
      </p:sp>
      <p:sp>
        <p:nvSpPr>
          <p:cNvPr id="61" name="Shape 59"/>
          <p:cNvSpPr/>
          <p:nvPr/>
        </p:nvSpPr>
        <p:spPr>
          <a:xfrm>
            <a:off x="10177272" y="2258568"/>
            <a:ext cx="127101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10268712" y="2327148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Upload proof</a:t>
            </a:r>
            <a:endParaRPr lang="en-US" sz="640" dirty="0"/>
          </a:p>
        </p:txBody>
      </p:sp>
      <p:sp>
        <p:nvSpPr>
          <p:cNvPr id="63" name="Shape 61"/>
          <p:cNvSpPr/>
          <p:nvPr/>
        </p:nvSpPr>
        <p:spPr>
          <a:xfrm>
            <a:off x="10177272" y="2660904"/>
            <a:ext cx="127101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10268712" y="27294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Track SLA</a:t>
            </a:r>
            <a:endParaRPr lang="en-US" sz="640" dirty="0"/>
          </a:p>
        </p:txBody>
      </p:sp>
      <p:sp>
        <p:nvSpPr>
          <p:cNvPr id="65" name="Shape 63"/>
          <p:cNvSpPr/>
          <p:nvPr/>
        </p:nvSpPr>
        <p:spPr>
          <a:xfrm>
            <a:off x="10424160" y="4818888"/>
            <a:ext cx="777240" cy="310896"/>
          </a:xfrm>
          <a:prstGeom prst="roundRect">
            <a:avLst>
              <a:gd name="adj" fmla="val 11765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10424160" y="490118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Continue</a:t>
            </a:r>
            <a:endParaRPr lang="en-US" sz="70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866C52AB-0472-1005-232A-28107C335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Mock-up screens: service centre assisted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Operators need speed, clarity and low-error capture.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2011680" cy="4251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344054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86384" y="1298448"/>
            <a:ext cx="1810512" cy="393192"/>
          </a:xfrm>
          <a:prstGeom prst="rect">
            <a:avLst/>
          </a:prstGeom>
          <a:solidFill>
            <a:srgbClr val="0B0A2A"/>
          </a:solidFill>
          <a:ln w="12700">
            <a:solidFill>
              <a:srgbClr val="0B0A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32104" y="13716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Operator Home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850392" y="1856232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41832" y="192481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Search beneficiary</a:t>
            </a:r>
            <a:endParaRPr lang="en-US" sz="640" dirty="0"/>
          </a:p>
        </p:txBody>
      </p:sp>
      <p:sp>
        <p:nvSpPr>
          <p:cNvPr id="9" name="Shape 7"/>
          <p:cNvSpPr/>
          <p:nvPr/>
        </p:nvSpPr>
        <p:spPr>
          <a:xfrm>
            <a:off x="850392" y="2258568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41832" y="2327148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New registration</a:t>
            </a:r>
            <a:endParaRPr lang="en-US" sz="640" dirty="0"/>
          </a:p>
        </p:txBody>
      </p:sp>
      <p:sp>
        <p:nvSpPr>
          <p:cNvPr id="11" name="Shape 9"/>
          <p:cNvSpPr/>
          <p:nvPr/>
        </p:nvSpPr>
        <p:spPr>
          <a:xfrm>
            <a:off x="850392" y="2660904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41832" y="272948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Life-proof due list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850392" y="3063240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41832" y="313182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Print acknowledgement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1097280" y="4864608"/>
            <a:ext cx="1188720" cy="310896"/>
          </a:xfrm>
          <a:prstGeom prst="roundRect">
            <a:avLst>
              <a:gd name="adj" fmla="val 11765"/>
            </a:avLst>
          </a:prstGeom>
          <a:solidFill>
            <a:srgbClr val="0B0A2A"/>
          </a:solidFill>
          <a:ln w="12700">
            <a:solidFill>
              <a:srgbClr val="0B0A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80" y="494690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Continue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063240" y="1143000"/>
            <a:ext cx="2011680" cy="4251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344054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163824" y="1298448"/>
            <a:ext cx="1810512" cy="393192"/>
          </a:xfrm>
          <a:prstGeom prst="rect">
            <a:avLst/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9544" y="13716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Document Capture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3227832" y="1856232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19272" y="192481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Scan Aadhaar consent slip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3227832" y="2258568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19272" y="2327148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Ration card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3227832" y="2660904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19272" y="272948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Address proof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3227832" y="3063240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19272" y="313182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Photo quality check</a:t>
            </a:r>
            <a:endParaRPr lang="en-US" sz="640" dirty="0"/>
          </a:p>
        </p:txBody>
      </p:sp>
      <p:sp>
        <p:nvSpPr>
          <p:cNvPr id="28" name="Shape 26"/>
          <p:cNvSpPr/>
          <p:nvPr/>
        </p:nvSpPr>
        <p:spPr>
          <a:xfrm>
            <a:off x="3474720" y="4864608"/>
            <a:ext cx="1188720" cy="310896"/>
          </a:xfrm>
          <a:prstGeom prst="roundRect">
            <a:avLst>
              <a:gd name="adj" fmla="val 11765"/>
            </a:avLst>
          </a:prstGeom>
          <a:solidFill>
            <a:srgbClr val="155EEF"/>
          </a:solidFill>
          <a:ln w="12700">
            <a:solidFill>
              <a:srgbClr val="155E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74720" y="494690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Continue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440680" y="1143000"/>
            <a:ext cx="2011680" cy="4251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344054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541264" y="1298448"/>
            <a:ext cx="1810512" cy="393192"/>
          </a:xfrm>
          <a:prstGeom prst="rect">
            <a:avLst/>
          </a:prstGeom>
          <a:solidFill>
            <a:srgbClr val="0E7C55"/>
          </a:solidFill>
          <a:ln w="12700">
            <a:solidFill>
              <a:srgbClr val="0E7C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586984" y="13716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Verification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605272" y="1856232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696712" y="192481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Aadhaar auth result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5605272" y="2258568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696712" y="2327148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Face/biometric result</a:t>
            </a:r>
            <a:endParaRPr lang="en-US" sz="640" dirty="0"/>
          </a:p>
        </p:txBody>
      </p:sp>
      <p:sp>
        <p:nvSpPr>
          <p:cNvPr id="37" name="Shape 35"/>
          <p:cNvSpPr/>
          <p:nvPr/>
        </p:nvSpPr>
        <p:spPr>
          <a:xfrm>
            <a:off x="5605272" y="2660904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696712" y="272948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Exception reason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5605272" y="3063240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696712" y="313182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Operator remarks</a:t>
            </a:r>
            <a:endParaRPr lang="en-US" sz="640" dirty="0"/>
          </a:p>
        </p:txBody>
      </p:sp>
      <p:sp>
        <p:nvSpPr>
          <p:cNvPr id="41" name="Shape 39"/>
          <p:cNvSpPr/>
          <p:nvPr/>
        </p:nvSpPr>
        <p:spPr>
          <a:xfrm>
            <a:off x="5852160" y="4864608"/>
            <a:ext cx="1188720" cy="310896"/>
          </a:xfrm>
          <a:prstGeom prst="roundRect">
            <a:avLst>
              <a:gd name="adj" fmla="val 11765"/>
            </a:avLst>
          </a:prstGeom>
          <a:solidFill>
            <a:srgbClr val="0E7C55"/>
          </a:solidFill>
          <a:ln w="12700">
            <a:solidFill>
              <a:srgbClr val="0E7C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852160" y="494690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Continue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818120" y="1143000"/>
            <a:ext cx="2011680" cy="4251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344054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918704" y="1298448"/>
            <a:ext cx="1810512" cy="393192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964424" y="13716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Submission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7982712" y="1856232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074152" y="192481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Application summary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7982712" y="2258568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074152" y="2327148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Household match score</a:t>
            </a:r>
            <a:endParaRPr lang="en-US" sz="640" dirty="0"/>
          </a:p>
        </p:txBody>
      </p:sp>
      <p:sp>
        <p:nvSpPr>
          <p:cNvPr id="50" name="Shape 48"/>
          <p:cNvSpPr/>
          <p:nvPr/>
        </p:nvSpPr>
        <p:spPr>
          <a:xfrm>
            <a:off x="7982712" y="2660904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074152" y="272948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Beneficiary notice</a:t>
            </a:r>
            <a:endParaRPr lang="en-US" sz="640" dirty="0"/>
          </a:p>
        </p:txBody>
      </p:sp>
      <p:sp>
        <p:nvSpPr>
          <p:cNvPr id="52" name="Shape 50"/>
          <p:cNvSpPr/>
          <p:nvPr/>
        </p:nvSpPr>
        <p:spPr>
          <a:xfrm>
            <a:off x="7982712" y="3063240"/>
            <a:ext cx="1682496" cy="292608"/>
          </a:xfrm>
          <a:prstGeom prst="roundRect">
            <a:avLst>
              <a:gd name="adj" fmla="val 9375"/>
            </a:avLst>
          </a:prstGeom>
          <a:solidFill>
            <a:srgbClr val="F2F4F7"/>
          </a:solidFill>
          <a:ln w="762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074152" y="313182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101828"/>
                </a:solidFill>
              </a:rPr>
              <a:t>Receipt print</a:t>
            </a:r>
            <a:endParaRPr lang="en-US" sz="640" dirty="0"/>
          </a:p>
        </p:txBody>
      </p:sp>
      <p:sp>
        <p:nvSpPr>
          <p:cNvPr id="54" name="Shape 52"/>
          <p:cNvSpPr/>
          <p:nvPr/>
        </p:nvSpPr>
        <p:spPr>
          <a:xfrm>
            <a:off x="8229600" y="4864608"/>
            <a:ext cx="1188720" cy="310896"/>
          </a:xfrm>
          <a:prstGeom prst="roundRect">
            <a:avLst>
              <a:gd name="adj" fmla="val 11765"/>
            </a:avLst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229600" y="494690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Continue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22960" y="580644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No decision should depend only on operator judgement; the operator captures evidence and the platform records the decision reason.</a:t>
            </a:r>
            <a:endParaRPr lang="en-US" sz="85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EB357C6F-FBEF-F44A-0AA5-AD163385E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Mock-up screens: admin and call-centre workbench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Operational teams manage rules, exceptions, appeals and beneficiary communications.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120640" cy="438912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8952" y="1216152"/>
            <a:ext cx="4974336" cy="4242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96112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0A2A"/>
                </a:solidFill>
              </a:rPr>
              <a:t>Scheme Admin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87552" y="1901952"/>
            <a:ext cx="18653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01828"/>
                </a:solidFill>
              </a:rPr>
              <a:t>Retention rule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063240" y="182880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136392" y="1901952"/>
            <a:ext cx="20025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1828"/>
                </a:solidFill>
              </a:rPr>
              <a:t>Oldest member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14400" y="2359152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87552" y="2432304"/>
            <a:ext cx="18653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01828"/>
                </a:solidFill>
              </a:rPr>
              <a:t>Life-proof interval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063240" y="235915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136392" y="2432304"/>
            <a:ext cx="20025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1828"/>
                </a:solidFill>
              </a:rPr>
              <a:t>Every 2 months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14400" y="2889504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87552" y="2962656"/>
            <a:ext cx="18653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01828"/>
                </a:solidFill>
              </a:rPr>
              <a:t>Grace period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063240" y="2889504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136392" y="2962656"/>
            <a:ext cx="20025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1828"/>
                </a:solidFill>
              </a:rPr>
              <a:t>15 days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14400" y="3419856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87552" y="3493008"/>
            <a:ext cx="18653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01828"/>
                </a:solidFill>
              </a:rPr>
              <a:t>Notice template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063240" y="3419856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136392" y="3493008"/>
            <a:ext cx="20025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1828"/>
                </a:solidFill>
              </a:rPr>
              <a:t>Kannada + English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4297680" cy="475488"/>
          </a:xfrm>
          <a:prstGeom prst="roundRect">
            <a:avLst>
              <a:gd name="adj" fmla="val 7692"/>
            </a:avLst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87552" y="4416552"/>
            <a:ext cx="41513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Approve policy configuration / Publish to districts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09360" y="1143000"/>
            <a:ext cx="5120640" cy="438912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82512" y="1216152"/>
            <a:ext cx="4974336" cy="4242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19672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0A2A"/>
                </a:solidFill>
              </a:rPr>
              <a:t>Call Centre Case View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37960" y="1828800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611112" y="1901952"/>
            <a:ext cx="1682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01828"/>
                </a:solidFill>
              </a:rPr>
              <a:t>Beneficiary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503920" y="182880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577072" y="1901952"/>
            <a:ext cx="20025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1828"/>
                </a:solidFill>
              </a:rPr>
              <a:t>Lakshmi R.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37960" y="2359152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611112" y="2432304"/>
            <a:ext cx="1682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01828"/>
                </a:solidFill>
              </a:rPr>
              <a:t>Status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503920" y="235915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577072" y="2432304"/>
            <a:ext cx="20025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1828"/>
                </a:solidFill>
              </a:rPr>
              <a:t>Inactive - life-proof pending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537960" y="2889504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611112" y="2962656"/>
            <a:ext cx="1682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01828"/>
                </a:solidFill>
              </a:rPr>
              <a:t>Next action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503920" y="2889504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577072" y="2962656"/>
            <a:ext cx="20025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1828"/>
                </a:solidFill>
              </a:rPr>
              <a:t>Book service-centre visit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537960" y="3419856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611112" y="3493008"/>
            <a:ext cx="1682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01828"/>
                </a:solidFill>
              </a:rPr>
              <a:t>SLA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503920" y="3419856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577072" y="3493008"/>
            <a:ext cx="20025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1828"/>
                </a:solidFill>
              </a:rPr>
              <a:t>2 days remaining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537960" y="4343400"/>
            <a:ext cx="4297680" cy="475488"/>
          </a:xfrm>
          <a:prstGeom prst="roundRect">
            <a:avLst>
              <a:gd name="adj" fmla="val 7692"/>
            </a:avLst>
          </a:prstGeom>
          <a:solidFill>
            <a:srgbClr val="0E7C55"/>
          </a:solidFill>
          <a:ln w="12700">
            <a:solidFill>
              <a:srgbClr val="0E7C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611112" y="4416552"/>
            <a:ext cx="41513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Create appeal / Send SMS / Escalate to district officer</a:t>
            </a:r>
            <a:endParaRPr lang="en-US" sz="82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F303FE1-DB57-9439-B5D2-B23388BC4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A modular architecture separates citizen channels, decisioning, DBT and audit.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7830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16367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Channels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Mobile, Web, Service Centres, Panchayat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2331720" y="1664208"/>
            <a:ext cx="438912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816352" y="1280160"/>
            <a:ext cx="17830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7A5A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889504" y="1353312"/>
            <a:ext cx="16367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API Gateway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Consent, rate limits, security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4599432" y="1664208"/>
            <a:ext cx="438912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84064" y="1280160"/>
            <a:ext cx="17830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0E7C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57216" y="1353312"/>
            <a:ext cx="16367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Identity Services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Aadhaar / OTP / biometric result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867144" y="1664208"/>
            <a:ext cx="438912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351776" y="1280160"/>
            <a:ext cx="17830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5B30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24928" y="1353312"/>
            <a:ext cx="16367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Workflow Engine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</a:rPr>
              <a:t>Registration + life-proof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9134856" y="1664208"/>
            <a:ext cx="438912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619488" y="1280160"/>
            <a:ext cx="1783080" cy="749808"/>
          </a:xfrm>
          <a:prstGeom prst="roundRect">
            <a:avLst>
              <a:gd name="adj" fmla="val 4878"/>
            </a:avLst>
          </a:prstGeom>
          <a:solidFill>
            <a:srgbClr val="0B0A2A"/>
          </a:solidFill>
          <a:ln w="12700">
            <a:solidFill>
              <a:srgbClr val="0B0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92640" y="1353312"/>
            <a:ext cx="16367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DBT Integration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Active/inactive payment status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777240" y="2743200"/>
            <a:ext cx="1463040" cy="59436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50392" y="2816352"/>
            <a:ext cx="13167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01828"/>
                </a:solidFill>
              </a:rPr>
              <a:t>Beneficiary Registry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2697480" y="2743200"/>
            <a:ext cx="1463040" cy="59436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70632" y="2816352"/>
            <a:ext cx="13167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01828"/>
                </a:solidFill>
              </a:rPr>
              <a:t>Document Vault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4617720" y="2743200"/>
            <a:ext cx="1463040" cy="59436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90872" y="2816352"/>
            <a:ext cx="13167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01828"/>
                </a:solidFill>
              </a:rPr>
              <a:t>Address Match Engine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537960" y="2743200"/>
            <a:ext cx="1463040" cy="59436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11112" y="2816352"/>
            <a:ext cx="13167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01828"/>
                </a:solidFill>
              </a:rPr>
              <a:t>Rule Engine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8458200" y="2743200"/>
            <a:ext cx="1463040" cy="59436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531352" y="2816352"/>
            <a:ext cx="13167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01828"/>
                </a:solidFill>
              </a:rPr>
              <a:t>Notification + Grievance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1280160" y="4434840"/>
            <a:ext cx="1920240" cy="530352"/>
          </a:xfrm>
          <a:prstGeom prst="roundRect">
            <a:avLst>
              <a:gd name="adj" fmla="val 6897"/>
            </a:avLst>
          </a:prstGeom>
          <a:solidFill>
            <a:srgbClr val="0B0A2A"/>
          </a:solidFill>
          <a:ln w="12700">
            <a:solidFill>
              <a:srgbClr val="0B0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353312" y="4507992"/>
            <a:ext cx="1773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Admin Console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3749040" y="4434840"/>
            <a:ext cx="1920240" cy="530352"/>
          </a:xfrm>
          <a:prstGeom prst="roundRect">
            <a:avLst>
              <a:gd name="adj" fmla="val 6897"/>
            </a:avLst>
          </a:prstGeom>
          <a:solidFill>
            <a:srgbClr val="0B0A2A"/>
          </a:solidFill>
          <a:ln w="12700">
            <a:solidFill>
              <a:srgbClr val="0B0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822192" y="4507992"/>
            <a:ext cx="1773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Call Centre CRM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6217920" y="4434840"/>
            <a:ext cx="1920240" cy="530352"/>
          </a:xfrm>
          <a:prstGeom prst="roundRect">
            <a:avLst>
              <a:gd name="adj" fmla="val 6897"/>
            </a:avLst>
          </a:prstGeom>
          <a:solidFill>
            <a:srgbClr val="0B0A2A"/>
          </a:solidFill>
          <a:ln w="12700">
            <a:solidFill>
              <a:srgbClr val="0B0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91072" y="4507992"/>
            <a:ext cx="1773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Analytics + Audit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8686800" y="4434840"/>
            <a:ext cx="1920240" cy="530352"/>
          </a:xfrm>
          <a:prstGeom prst="roundRect">
            <a:avLst>
              <a:gd name="adj" fmla="val 6897"/>
            </a:avLst>
          </a:prstGeom>
          <a:solidFill>
            <a:srgbClr val="0B0A2A"/>
          </a:solidFill>
          <a:ln w="12700">
            <a:solidFill>
              <a:srgbClr val="0B0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59952" y="4507992"/>
            <a:ext cx="1773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Security + Privacy</a:t>
            </a:r>
            <a:endParaRPr lang="en-US" sz="84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A7ABF7B-5127-F775-0C6D-2397BB431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Privacy, security and inclusion controls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Controls should be embedded into process and product design from day one.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154680" cy="1051560"/>
          </a:xfrm>
          <a:prstGeom prst="roundRect">
            <a:avLst>
              <a:gd name="adj" fmla="val 3478"/>
            </a:avLst>
          </a:prstGeom>
          <a:solidFill>
            <a:srgbClr val="E0F2FE"/>
          </a:solidFill>
          <a:ln w="12700">
            <a:solidFill>
              <a:srgbClr val="D0D5D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0392" y="1399032"/>
            <a:ext cx="30083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Consent first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Clear purpose, data use and authentication consent.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480560" y="1325880"/>
            <a:ext cx="3154680" cy="1051560"/>
          </a:xfrm>
          <a:prstGeom prst="roundRect">
            <a:avLst>
              <a:gd name="adj" fmla="val 3478"/>
            </a:avLst>
          </a:prstGeom>
          <a:solidFill>
            <a:srgbClr val="ECFDF3"/>
          </a:solidFill>
          <a:ln w="12700">
            <a:solidFill>
              <a:srgbClr val="D0D5D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53712" y="1399032"/>
            <a:ext cx="30083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Minimum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No raw biometric storage; retain only required references.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183880" y="1325880"/>
            <a:ext cx="3154680" cy="1051560"/>
          </a:xfrm>
          <a:prstGeom prst="roundRect">
            <a:avLst>
              <a:gd name="adj" fmla="val 3478"/>
            </a:avLst>
          </a:prstGeom>
          <a:solidFill>
            <a:srgbClr val="FFFAEB"/>
          </a:solidFill>
          <a:ln w="12700">
            <a:solidFill>
              <a:srgbClr val="D0D5D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57032" y="1399032"/>
            <a:ext cx="30083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Role-based access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Separate beneficiary, operator, call-centre and admin rights.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3017520"/>
            <a:ext cx="3154680" cy="1051560"/>
          </a:xfrm>
          <a:prstGeom prst="roundRect">
            <a:avLst>
              <a:gd name="adj" fmla="val 3478"/>
            </a:avLst>
          </a:prstGeom>
          <a:solidFill>
            <a:srgbClr val="F9F5FF"/>
          </a:solidFill>
          <a:ln w="12700">
            <a:solidFill>
              <a:srgbClr val="D0D5D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50392" y="3090672"/>
            <a:ext cx="30083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Auditability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Immutable logs for consent, decisions, overrides and DBT updates.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3017520"/>
            <a:ext cx="3154680" cy="1051560"/>
          </a:xfrm>
          <a:prstGeom prst="roundRect">
            <a:avLst>
              <a:gd name="adj" fmla="val 3478"/>
            </a:avLst>
          </a:prstGeom>
          <a:solidFill>
            <a:srgbClr val="FFF1F3"/>
          </a:solidFill>
          <a:ln w="12700">
            <a:solidFill>
              <a:srgbClr val="D0D5D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53712" y="3090672"/>
            <a:ext cx="30083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Inclusion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Assisted centre, alternative verification and appeal path.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83880" y="3017520"/>
            <a:ext cx="3154680" cy="1051560"/>
          </a:xfrm>
          <a:prstGeom prst="roundRect">
            <a:avLst>
              <a:gd name="adj" fmla="val 3478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57032" y="3090672"/>
            <a:ext cx="30083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Accessibility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High contrast, large fonts, Kannada/English and screen-reader labels.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6144768"/>
            <a:ext cx="11018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67085"/>
                </a:solidFill>
              </a:rPr>
              <a:t>Based on UIDAI consent guidance and DPDP-aligned purpose limitation, notice, access control and grievance principles.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3A5009-001F-9FCF-5DC1-D64C3DDEC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A phased rollout reduces operational risk and protects beneficiaries.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0B0A2A"/>
          </a:solidFill>
          <a:ln w="12700">
            <a:solidFill>
              <a:srgbClr val="0B0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517904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636776"/>
            <a:ext cx="1435608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737360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" y="2313432"/>
            <a:ext cx="159105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Policy + design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2-3 weeks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371600"/>
            <a:ext cx="530352" cy="530352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017520" y="1517904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11880" y="1636776"/>
            <a:ext cx="1435608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88920" y="2240280"/>
            <a:ext cx="1737360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62072" y="2313432"/>
            <a:ext cx="159105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MVP build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8-10 weeks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57800" y="1371600"/>
            <a:ext cx="530352" cy="530352"/>
          </a:xfrm>
          <a:prstGeom prst="ellipse">
            <a:avLst/>
          </a:prstGeom>
          <a:solidFill>
            <a:srgbClr val="0E7C55"/>
          </a:solidFill>
          <a:ln w="12700">
            <a:solidFill>
              <a:srgbClr val="0E7C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257800" y="1517904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1636776"/>
            <a:ext cx="1435608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0" y="2240280"/>
            <a:ext cx="1737360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02352" y="2313432"/>
            <a:ext cx="159105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Pilot rollout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6-8 weeks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98080" y="1371600"/>
            <a:ext cx="530352" cy="530352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498080" y="1517904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92440" y="1636776"/>
            <a:ext cx="1435608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269480" y="2240280"/>
            <a:ext cx="1737360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42632" y="2313432"/>
            <a:ext cx="159105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State migration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12-16 weeks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738360" y="1371600"/>
            <a:ext cx="530352" cy="530352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738360" y="1517904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509760" y="2240280"/>
            <a:ext cx="1737360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582912" y="2313432"/>
            <a:ext cx="159105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Optimisation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Ongoing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4343400"/>
            <a:ext cx="1691640" cy="246888"/>
          </a:xfrm>
          <a:prstGeom prst="rect">
            <a:avLst/>
          </a:prstGeom>
          <a:solidFill>
            <a:srgbClr val="0B0A2A"/>
          </a:solidFill>
          <a:ln>
            <a:solidFill>
              <a:srgbClr val="0B0A2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Approved rules and SOP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044952" y="4343400"/>
            <a:ext cx="1691640" cy="246888"/>
          </a:xfrm>
          <a:prstGeom prst="rect">
            <a:avLst/>
          </a:prstGeom>
          <a:solidFill>
            <a:srgbClr val="155EEF"/>
          </a:solidFill>
          <a:ln>
            <a:solidFill>
              <a:srgbClr val="155EE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Pilot-tested platform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21224" y="4343400"/>
            <a:ext cx="1691640" cy="246888"/>
          </a:xfrm>
          <a:prstGeom prst="rect">
            <a:avLst/>
          </a:prstGeom>
          <a:solidFill>
            <a:srgbClr val="0E7C55"/>
          </a:solidFill>
          <a:ln>
            <a:solidFill>
              <a:srgbClr val="0E7C5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Validated DBT integration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97496" y="4343400"/>
            <a:ext cx="1691640" cy="246888"/>
          </a:xfrm>
          <a:prstGeom prst="rect">
            <a:avLst/>
          </a:prstGeom>
          <a:solidFill>
            <a:srgbClr val="F5B301"/>
          </a:solidFill>
          <a:ln>
            <a:solidFill>
              <a:srgbClr val="F5B30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Statewide communications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573768" y="4343400"/>
            <a:ext cx="1691640" cy="246888"/>
          </a:xfrm>
          <a:prstGeom prst="rect">
            <a:avLst/>
          </a:prstGeom>
          <a:solidFill>
            <a:srgbClr val="7A5AF8"/>
          </a:solidFill>
          <a:ln>
            <a:solidFill>
              <a:srgbClr val="7A5AF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Monthly governance pack</a:t>
            </a:r>
            <a:endParaRPr lang="en-US" sz="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F0B9D73-2164-63FC-EE29-1FC354B16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Governance, MIS and success measures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Dashboards should track both leakage reduction and beneficiary exclusion risk.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82880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0392" y="1399032"/>
            <a:ext cx="1682496" cy="2322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</a:rPr>
              <a:t>Registration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</a:rPr>
              <a:t>Applications completed, pending, channel mix, district split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017520" y="1325880"/>
            <a:ext cx="1828800" cy="24688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090672" y="1399032"/>
            <a:ext cx="1682496" cy="2322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</a:rPr>
              <a:t>Integrity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</a:rPr>
              <a:t>Duplicate clusters, confidence scores, retained/deactivated count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257800" y="1325880"/>
            <a:ext cx="182880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30952" y="1399032"/>
            <a:ext cx="1682496" cy="2322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</a:rPr>
              <a:t>Life-proof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</a:rPr>
              <a:t>Due, completed, grace, failed, inactive, appeal pending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0" y="1325880"/>
            <a:ext cx="1828800" cy="24688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571232" y="1399032"/>
            <a:ext cx="1682496" cy="2322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</a:rPr>
              <a:t>Support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</a:rPr>
              <a:t>Call volume, first-call resolution, complaint aging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738360" y="1325880"/>
            <a:ext cx="182880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811512" y="1399032"/>
            <a:ext cx="1682496" cy="2322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</a:rPr>
              <a:t>Audit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</a:rPr>
              <a:t>Consent logs, admin overrides, DBT reconciliation exceptions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280160" y="4434840"/>
            <a:ext cx="9601200" cy="621792"/>
          </a:xfrm>
          <a:prstGeom prst="roundRect">
            <a:avLst>
              <a:gd name="adj" fmla="val 5882"/>
            </a:avLst>
          </a:prstGeom>
          <a:solidFill>
            <a:srgbClr val="0B0A2A"/>
          </a:solidFill>
          <a:ln w="12700">
            <a:solidFill>
              <a:srgbClr val="0B0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53312" y="4507992"/>
            <a:ext cx="945489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Leadership decision rhythm: daily rollout command centre, weekly district review, monthly policy and audit committee.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C590355-F11A-4A1E-2A6A-757326798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0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asks and immediate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76809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The next phase should validate policy, legal, integration and operating assumptions.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1691640" cy="21488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41832" y="1673352"/>
            <a:ext cx="1545336" cy="2002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Policy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Approve default retention rule and appeal policy.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4952" y="1600200"/>
            <a:ext cx="1691640" cy="21488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118104" y="1673352"/>
            <a:ext cx="1545336" cy="2002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Legal &amp; privacy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Validate Aadhaar, DPDP, data retention and notice design.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21224" y="1600200"/>
            <a:ext cx="1691640" cy="21488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94376" y="1673352"/>
            <a:ext cx="1545336" cy="2002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Integration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Confirm UIDAI, DBT, ration card, e-Janma and SMS/IVR interfaces.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97496" y="1600200"/>
            <a:ext cx="1691640" cy="21488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70648" y="1673352"/>
            <a:ext cx="1545336" cy="2002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Pilot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Select urban and rural pilot districts and service-centre capacity.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573768" y="1600200"/>
            <a:ext cx="1691640" cy="21488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46920" y="1673352"/>
            <a:ext cx="1545336" cy="2002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Delivery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</a:rPr>
              <a:t>Approve MVP scope, sprint plan and governance cadence.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4754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A2A"/>
                </a:solidFill>
              </a:rPr>
              <a:t>Outcome: a transparent, configurable and audit-ready beneficiary integrity system that protects public funds while protecting eligible beneficiaries from accidental exclusion.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D43355-DAB2-E2CA-0BCC-94D0DFEA2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097" y="0"/>
            <a:ext cx="975903" cy="9759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1234</Words>
  <Application>Microsoft Office PowerPoint</Application>
  <PresentationFormat>Widescreen</PresentationFormat>
  <Paragraphs>325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Truflux / Consulting Draft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Karnataka Gruhalakshmi Beneficiary Integrity Platform</dc:title>
  <dc:subject>Karnataka Gruhalakshmi Beneficiary Integrity and Life-Proof Platform</dc:subject>
  <dc:creator>OpenAI</dc:creator>
  <cp:lastModifiedBy>Satya Srinivasan</cp:lastModifiedBy>
  <cp:revision>2</cp:revision>
  <dcterms:created xsi:type="dcterms:W3CDTF">2026-06-15T14:18:12Z</dcterms:created>
  <dcterms:modified xsi:type="dcterms:W3CDTF">2026-06-15T20:24:08Z</dcterms:modified>
</cp:coreProperties>
</file>